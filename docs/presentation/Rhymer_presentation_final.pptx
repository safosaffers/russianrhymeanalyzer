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26.png" ContentType="image/png"/>
  <Override PartName="/ppt/media/image18.png" ContentType="image/png"/>
  <Override PartName="/ppt/media/image9.png" ContentType="image/png"/>
  <Override PartName="/ppt/media/image8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9.jpeg" ContentType="image/jpe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jpeg" ContentType="image/jpe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7.png" ContentType="image/png"/>
  <Override PartName="/ppt/media/image20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09F45D-5DE9-41A0-97F8-82EDB261CE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43E0E8-6872-49EF-838F-4F971CB711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C6018E0-61A4-4374-9240-8BA50000BB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16F07FF-89DF-4F17-BC7D-87701D1D59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A349C2-5863-49C7-9C16-1CDB3E875D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1E0C151-F671-4E41-AD2F-9FCF665F0C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A765707-751E-49A2-BB2F-981E3F4D50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3835FA4-1E15-495A-B4B0-D1B73A5C50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71638C7-BA0E-4CC5-B186-7676FD09E1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5554C6B-9803-473B-9825-AE1A60AA09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D01F016-03AB-413C-8393-8268FAB95A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FA042C-63C9-4C79-A6EB-0873B2E2F7D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462036-4AFD-471A-83D0-0AA48CB9C77C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D39DC1-738D-415A-8483-9049EB88E48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BB446A-DF87-4DD9-92FE-1667BC2AC37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A66B59-D69B-487C-8276-ED700A32DA3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1E32CB-928D-4B0A-A3B2-29206E2C404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D14A5C-53DB-44E2-9AE2-BA607F3909E3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440DF8-B4C0-4239-A1DE-591DD9C7CF5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D0FFAE-283C-4849-BD54-1AE61B439A6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8E0DA6-A6A4-48E0-ABF3-C6F90FD68239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6178E9-5361-4F20-AD7E-0EFC25F41259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8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6.png"/><Relationship Id="rId3" Type="http://schemas.openxmlformats.org/officeDocument/2006/relationships/image" Target="../media/image19.jpeg"/><Relationship Id="rId4" Type="http://schemas.openxmlformats.org/officeDocument/2006/relationships/image" Target="../media/image20.jpe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png"/><Relationship Id="rId3" Type="http://schemas.openxmlformats.org/officeDocument/2006/relationships/image" Target="../media/image34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38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84;p13"/>
          <p:cNvSpPr/>
          <p:nvPr/>
        </p:nvSpPr>
        <p:spPr>
          <a:xfrm>
            <a:off x="12987720" y="4260240"/>
            <a:ext cx="4112280" cy="4112280"/>
          </a:xfrm>
          <a:custGeom>
            <a:avLst/>
            <a:gdLst>
              <a:gd name="textAreaLeft" fmla="*/ 0 w 4112280"/>
              <a:gd name="textAreaRight" fmla="*/ 4114800 w 4112280"/>
              <a:gd name="textAreaTop" fmla="*/ 0 h 4112280"/>
              <a:gd name="textAreaBottom" fmla="*/ 4114800 h 4112280"/>
            </a:gdLst>
            <a:ahLst/>
            <a:rect l="textAreaLeft" t="textAreaTop" r="textAreaRight" b="textAreaBottom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85;p13"/>
          <p:cNvSpPr/>
          <p:nvPr/>
        </p:nvSpPr>
        <p:spPr>
          <a:xfrm>
            <a:off x="-353880" y="3066840"/>
            <a:ext cx="4280760" cy="4280760"/>
          </a:xfrm>
          <a:custGeom>
            <a:avLst/>
            <a:gdLst>
              <a:gd name="textAreaLeft" fmla="*/ 0 w 4280760"/>
              <a:gd name="textAreaRight" fmla="*/ 4283280 w 4280760"/>
              <a:gd name="textAreaTop" fmla="*/ 0 h 4280760"/>
              <a:gd name="textAreaBottom" fmla="*/ 4283280 h 4280760"/>
            </a:gdLst>
            <a:ahLst/>
            <a:rect l="textAreaLeft" t="textAreaTop" r="textAreaRight" b="textAreaBottom"/>
            <a:pathLst>
              <a:path w="4283248" h="4283248">
                <a:moveTo>
                  <a:pt x="0" y="0"/>
                </a:moveTo>
                <a:lnTo>
                  <a:pt x="4283248" y="0"/>
                </a:lnTo>
                <a:lnTo>
                  <a:pt x="4283248" y="4283249"/>
                </a:lnTo>
                <a:lnTo>
                  <a:pt x="0" y="42832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2" name="Google Shape;86;p13"/>
          <p:cNvGrpSpPr/>
          <p:nvPr/>
        </p:nvGrpSpPr>
        <p:grpSpPr>
          <a:xfrm>
            <a:off x="-49680" y="442800"/>
            <a:ext cx="18285480" cy="10465200"/>
            <a:chOff x="-49680" y="442800"/>
            <a:chExt cx="18285480" cy="10465200"/>
          </a:xfrm>
        </p:grpSpPr>
        <p:sp>
          <p:nvSpPr>
            <p:cNvPr id="53" name="Google Shape;87;p13"/>
            <p:cNvSpPr/>
            <p:nvPr/>
          </p:nvSpPr>
          <p:spPr>
            <a:xfrm>
              <a:off x="-49680" y="623520"/>
              <a:ext cx="18285480" cy="10284480"/>
            </a:xfrm>
            <a:custGeom>
              <a:avLst/>
              <a:gdLst>
                <a:gd name="textAreaLeft" fmla="*/ 0 w 18285480"/>
                <a:gd name="textAreaRight" fmla="*/ 18288000 w 18285480"/>
                <a:gd name="textAreaTop" fmla="*/ 0 h 10284480"/>
                <a:gd name="textAreaBottom" fmla="*/ 10287000 h 10284480"/>
              </a:gdLst>
              <a:ahLst/>
              <a:rect l="textAreaLeft" t="textAreaTop" r="textAreaRight" b="textAreaBottom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4" name="Google Shape;88;p13"/>
            <p:cNvSpPr/>
            <p:nvPr/>
          </p:nvSpPr>
          <p:spPr>
            <a:xfrm>
              <a:off x="-49680" y="442800"/>
              <a:ext cx="18285480" cy="1046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" name="Google Shape;89;p13"/>
          <p:cNvGrpSpPr/>
          <p:nvPr/>
        </p:nvGrpSpPr>
        <p:grpSpPr>
          <a:xfrm>
            <a:off x="7350120" y="3359160"/>
            <a:ext cx="877680" cy="4868640"/>
            <a:chOff x="7350120" y="3359160"/>
            <a:chExt cx="877680" cy="4868640"/>
          </a:xfrm>
        </p:grpSpPr>
        <p:sp>
          <p:nvSpPr>
            <p:cNvPr id="56" name="Google Shape;90;p13"/>
            <p:cNvSpPr/>
            <p:nvPr/>
          </p:nvSpPr>
          <p:spPr>
            <a:xfrm>
              <a:off x="7350120" y="3539880"/>
              <a:ext cx="877680" cy="4687920"/>
            </a:xfrm>
            <a:custGeom>
              <a:avLst/>
              <a:gdLst>
                <a:gd name="textAreaLeft" fmla="*/ 0 w 877680"/>
                <a:gd name="textAreaRight" fmla="*/ 880200 w 877680"/>
                <a:gd name="textAreaTop" fmla="*/ 0 h 4687920"/>
                <a:gd name="textAreaBottom" fmla="*/ 4690440 h 4687920"/>
              </a:gdLst>
              <a:ahLst/>
              <a:rect l="textAreaLeft" t="textAreaTop" r="textAreaRight" b="textAreaBottom"/>
              <a:pathLst>
                <a:path w="231777" h="1235343">
                  <a:moveTo>
                    <a:pt x="0" y="0"/>
                  </a:moveTo>
                  <a:lnTo>
                    <a:pt x="231777" y="0"/>
                  </a:lnTo>
                  <a:lnTo>
                    <a:pt x="231777" y="1235343"/>
                  </a:lnTo>
                  <a:lnTo>
                    <a:pt x="0" y="1235343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Google Shape;91;p13"/>
            <p:cNvSpPr/>
            <p:nvPr/>
          </p:nvSpPr>
          <p:spPr>
            <a:xfrm>
              <a:off x="7350120" y="3359160"/>
              <a:ext cx="877680" cy="486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" name="Google Shape;92;p13"/>
          <p:cNvSpPr/>
          <p:nvPr/>
        </p:nvSpPr>
        <p:spPr>
          <a:xfrm rot="16200000">
            <a:off x="1318320" y="130680"/>
            <a:ext cx="6072120" cy="6832440"/>
          </a:xfrm>
          <a:custGeom>
            <a:avLst/>
            <a:gdLst>
              <a:gd name="textAreaLeft" fmla="*/ 0 w 6072120"/>
              <a:gd name="textAreaRight" fmla="*/ 6074640 w 6072120"/>
              <a:gd name="textAreaTop" fmla="*/ 0 h 6832440"/>
              <a:gd name="textAreaBottom" fmla="*/ 6834960 h 6832440"/>
            </a:gdLst>
            <a:ahLst/>
            <a:rect l="textAreaLeft" t="textAreaTop" r="textAreaRight" b="textAreaBottom"/>
            <a:pathLst>
              <a:path w="6074727" h="6835135">
                <a:moveTo>
                  <a:pt x="0" y="0"/>
                </a:moveTo>
                <a:lnTo>
                  <a:pt x="6074726" y="0"/>
                </a:lnTo>
                <a:lnTo>
                  <a:pt x="6074726" y="6835136"/>
                </a:lnTo>
                <a:lnTo>
                  <a:pt x="0" y="683513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Google Shape;93;p13"/>
          <p:cNvSpPr/>
          <p:nvPr/>
        </p:nvSpPr>
        <p:spPr>
          <a:xfrm>
            <a:off x="8746560" y="-437760"/>
            <a:ext cx="9082440" cy="6379560"/>
          </a:xfrm>
          <a:custGeom>
            <a:avLst/>
            <a:gdLst>
              <a:gd name="textAreaLeft" fmla="*/ 0 w 9082440"/>
              <a:gd name="textAreaRight" fmla="*/ 9084960 w 9082440"/>
              <a:gd name="textAreaTop" fmla="*/ 0 h 6379560"/>
              <a:gd name="textAreaBottom" fmla="*/ 6382080 h 6379560"/>
            </a:gdLst>
            <a:ahLst/>
            <a:rect l="textAreaLeft" t="textAreaTop" r="textAreaRight" b="textAreaBottom"/>
            <a:pathLst>
              <a:path w="9084999" h="6382212">
                <a:moveTo>
                  <a:pt x="0" y="0"/>
                </a:moveTo>
                <a:lnTo>
                  <a:pt x="9084999" y="0"/>
                </a:lnTo>
                <a:lnTo>
                  <a:pt x="9084999" y="6382212"/>
                </a:lnTo>
                <a:lnTo>
                  <a:pt x="0" y="63822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94;p13"/>
          <p:cNvSpPr/>
          <p:nvPr/>
        </p:nvSpPr>
        <p:spPr>
          <a:xfrm>
            <a:off x="1763640" y="3550680"/>
            <a:ext cx="3568320" cy="3578760"/>
          </a:xfrm>
          <a:custGeom>
            <a:avLst/>
            <a:gdLst>
              <a:gd name="textAreaLeft" fmla="*/ 0 w 3568320"/>
              <a:gd name="textAreaRight" fmla="*/ 3570840 w 3568320"/>
              <a:gd name="textAreaTop" fmla="*/ 0 h 3578760"/>
              <a:gd name="textAreaBottom" fmla="*/ 3581280 h 35787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1" name="Google Shape;95;p13"/>
          <p:cNvGrpSpPr/>
          <p:nvPr/>
        </p:nvGrpSpPr>
        <p:grpSpPr>
          <a:xfrm>
            <a:off x="1663560" y="3886560"/>
            <a:ext cx="14606640" cy="3110400"/>
            <a:chOff x="1663560" y="3886560"/>
            <a:chExt cx="14606640" cy="3110400"/>
          </a:xfrm>
        </p:grpSpPr>
        <p:sp>
          <p:nvSpPr>
            <p:cNvPr id="62" name="Google Shape;96;p13"/>
            <p:cNvSpPr/>
            <p:nvPr/>
          </p:nvSpPr>
          <p:spPr>
            <a:xfrm>
              <a:off x="1663560" y="4169520"/>
              <a:ext cx="14606640" cy="2827440"/>
            </a:xfrm>
            <a:custGeom>
              <a:avLst/>
              <a:gdLst>
                <a:gd name="textAreaLeft" fmla="*/ 0 w 14606640"/>
                <a:gd name="textAreaRight" fmla="*/ 14609160 w 14606640"/>
                <a:gd name="textAreaTop" fmla="*/ 0 h 2827440"/>
                <a:gd name="textAreaBottom" fmla="*/ 2829960 h 2827440"/>
              </a:gdLst>
              <a:ahLst/>
              <a:rect l="textAreaLeft" t="textAreaTop" r="textAreaRight" b="textAreaBottom"/>
              <a:pathLst>
                <a:path w="3847667" h="476303">
                  <a:moveTo>
                    <a:pt x="0" y="0"/>
                  </a:moveTo>
                  <a:lnTo>
                    <a:pt x="3847667" y="0"/>
                  </a:lnTo>
                  <a:lnTo>
                    <a:pt x="3847667" y="476303"/>
                  </a:lnTo>
                  <a:lnTo>
                    <a:pt x="0" y="476303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63" name="Google Shape;97;p13"/>
            <p:cNvSpPr/>
            <p:nvPr/>
          </p:nvSpPr>
          <p:spPr>
            <a:xfrm>
              <a:off x="1663560" y="3886560"/>
              <a:ext cx="14606640" cy="311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4" name="Google Shape;98;p13"/>
          <p:cNvSpPr/>
          <p:nvPr/>
        </p:nvSpPr>
        <p:spPr>
          <a:xfrm>
            <a:off x="1787760" y="6237360"/>
            <a:ext cx="1614240" cy="3213720"/>
          </a:xfrm>
          <a:custGeom>
            <a:avLst/>
            <a:gdLst>
              <a:gd name="textAreaLeft" fmla="*/ 0 w 1614240"/>
              <a:gd name="textAreaRight" fmla="*/ 1616760 w 1614240"/>
              <a:gd name="textAreaTop" fmla="*/ 0 h 3213720"/>
              <a:gd name="textAreaBottom" fmla="*/ 3216240 h 3213720"/>
            </a:gdLst>
            <a:ahLst/>
            <a:rect l="textAreaLeft" t="textAreaTop" r="textAreaRight" b="textAreaBottom"/>
            <a:pathLst>
              <a:path w="1616734" h="3216153">
                <a:moveTo>
                  <a:pt x="0" y="0"/>
                </a:moveTo>
                <a:lnTo>
                  <a:pt x="1616734" y="0"/>
                </a:lnTo>
                <a:lnTo>
                  <a:pt x="1616734" y="3216153"/>
                </a:lnTo>
                <a:lnTo>
                  <a:pt x="0" y="32161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100;p13"/>
          <p:cNvSpPr/>
          <p:nvPr/>
        </p:nvSpPr>
        <p:spPr>
          <a:xfrm>
            <a:off x="1905120" y="7072200"/>
            <a:ext cx="4345560" cy="827640"/>
          </a:xfrm>
          <a:custGeom>
            <a:avLst/>
            <a:gdLst>
              <a:gd name="textAreaLeft" fmla="*/ 0 w 4345560"/>
              <a:gd name="textAreaRight" fmla="*/ 4348080 w 4345560"/>
              <a:gd name="textAreaTop" fmla="*/ 0 h 827640"/>
              <a:gd name="textAreaBottom" fmla="*/ 830160 h 82764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4"/>
                </a:lnTo>
                <a:lnTo>
                  <a:pt x="0" y="8300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" name="Google Shape;101;p13"/>
          <p:cNvGrpSpPr/>
          <p:nvPr/>
        </p:nvGrpSpPr>
        <p:grpSpPr>
          <a:xfrm>
            <a:off x="15045120" y="7421400"/>
            <a:ext cx="1897920" cy="2009160"/>
            <a:chOff x="15045120" y="7421400"/>
            <a:chExt cx="1897920" cy="2009160"/>
          </a:xfrm>
        </p:grpSpPr>
        <p:sp>
          <p:nvSpPr>
            <p:cNvPr id="67" name="Google Shape;102;p13"/>
            <p:cNvSpPr/>
            <p:nvPr/>
          </p:nvSpPr>
          <p:spPr>
            <a:xfrm>
              <a:off x="15045120" y="7532640"/>
              <a:ext cx="1897920" cy="1897920"/>
            </a:xfrm>
            <a:custGeom>
              <a:avLst/>
              <a:gdLst>
                <a:gd name="textAreaLeft" fmla="*/ 0 w 1897920"/>
                <a:gd name="textAreaRight" fmla="*/ 1900440 w 1897920"/>
                <a:gd name="textAreaTop" fmla="*/ 0 h 1897920"/>
                <a:gd name="textAreaBottom" fmla="*/ 1900440 h 18979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Google Shape;103;p13"/>
            <p:cNvSpPr/>
            <p:nvPr/>
          </p:nvSpPr>
          <p:spPr>
            <a:xfrm>
              <a:off x="15045120" y="7421400"/>
              <a:ext cx="1897920" cy="200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" name="Google Shape;104;p13"/>
          <p:cNvSpPr/>
          <p:nvPr/>
        </p:nvSpPr>
        <p:spPr>
          <a:xfrm>
            <a:off x="15995520" y="6681600"/>
            <a:ext cx="3050280" cy="3050280"/>
          </a:xfrm>
          <a:custGeom>
            <a:avLst/>
            <a:gdLst>
              <a:gd name="textAreaLeft" fmla="*/ 0 w 3050280"/>
              <a:gd name="textAreaRight" fmla="*/ 3052800 w 3050280"/>
              <a:gd name="textAreaTop" fmla="*/ 0 h 3050280"/>
              <a:gd name="textAreaBottom" fmla="*/ 3052800 h 3050280"/>
            </a:gdLst>
            <a:ahLst/>
            <a:rect l="textAreaLeft" t="textAreaTop" r="textAreaRight" b="textAreaBottom"/>
            <a:pathLst>
              <a:path w="3052749" h="3052749">
                <a:moveTo>
                  <a:pt x="0" y="0"/>
                </a:moveTo>
                <a:lnTo>
                  <a:pt x="3052749" y="0"/>
                </a:lnTo>
                <a:lnTo>
                  <a:pt x="3052749" y="3052749"/>
                </a:lnTo>
                <a:lnTo>
                  <a:pt x="0" y="30527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" name="Google Shape;108;p13"/>
          <p:cNvGrpSpPr/>
          <p:nvPr/>
        </p:nvGrpSpPr>
        <p:grpSpPr>
          <a:xfrm>
            <a:off x="685800" y="3429000"/>
            <a:ext cx="2163960" cy="807120"/>
            <a:chOff x="685800" y="3429000"/>
            <a:chExt cx="2163960" cy="807120"/>
          </a:xfrm>
        </p:grpSpPr>
        <p:sp>
          <p:nvSpPr>
            <p:cNvPr id="71" name="Google Shape;109;p13"/>
            <p:cNvSpPr/>
            <p:nvPr/>
          </p:nvSpPr>
          <p:spPr>
            <a:xfrm>
              <a:off x="685800" y="3458880"/>
              <a:ext cx="2163960" cy="777240"/>
            </a:xfrm>
            <a:custGeom>
              <a:avLst/>
              <a:gdLst>
                <a:gd name="textAreaLeft" fmla="*/ 0 w 2163960"/>
                <a:gd name="textAreaRight" fmla="*/ 2166480 w 2163960"/>
                <a:gd name="textAreaTop" fmla="*/ 0 h 777240"/>
                <a:gd name="textAreaBottom" fmla="*/ 779760 h 777240"/>
              </a:gdLst>
              <a:ahLst/>
              <a:rect l="textAreaLeft" t="textAreaTop" r="textAreaRight" b="textAreaBottom"/>
              <a:pathLst>
                <a:path w="3458111" h="1244736">
                  <a:moveTo>
                    <a:pt x="0" y="0"/>
                  </a:moveTo>
                  <a:lnTo>
                    <a:pt x="3458111" y="0"/>
                  </a:lnTo>
                  <a:lnTo>
                    <a:pt x="3458111" y="1244736"/>
                  </a:lnTo>
                  <a:lnTo>
                    <a:pt x="0" y="1244736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Google Shape;110;p13"/>
            <p:cNvSpPr/>
            <p:nvPr/>
          </p:nvSpPr>
          <p:spPr>
            <a:xfrm>
              <a:off x="685800" y="3429000"/>
              <a:ext cx="2163960" cy="80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" name="Google Shape;111;p13"/>
          <p:cNvSpPr/>
          <p:nvPr/>
        </p:nvSpPr>
        <p:spPr>
          <a:xfrm>
            <a:off x="2286000" y="4343400"/>
            <a:ext cx="135572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5400" spc="-1" strike="noStrike">
                <a:solidFill>
                  <a:schemeClr val="dk1"/>
                </a:solidFill>
                <a:latin typeface="Calibri"/>
                <a:ea typeface="Bungee"/>
              </a:rPr>
              <a:t>Rhymer — ИИ-генерация и автоматическая оценка рифмованной русской поэзии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112;p13"/>
          <p:cNvSpPr/>
          <p:nvPr/>
        </p:nvSpPr>
        <p:spPr>
          <a:xfrm>
            <a:off x="3404160" y="8229600"/>
            <a:ext cx="12138480" cy="15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Учебная практика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Подготовил к защите: Каримов Сафо, гр. 5095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Google Shape;113;p13"/>
          <p:cNvGrpSpPr/>
          <p:nvPr/>
        </p:nvGrpSpPr>
        <p:grpSpPr>
          <a:xfrm>
            <a:off x="13148640" y="2438280"/>
            <a:ext cx="3282840" cy="1374120"/>
            <a:chOff x="13148640" y="2438280"/>
            <a:chExt cx="3282840" cy="1374120"/>
          </a:xfrm>
        </p:grpSpPr>
        <p:sp>
          <p:nvSpPr>
            <p:cNvPr id="76" name="Google Shape;114;p13"/>
            <p:cNvSpPr/>
            <p:nvPr/>
          </p:nvSpPr>
          <p:spPr>
            <a:xfrm>
              <a:off x="13148640" y="34002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Google Shape;115;p13"/>
            <p:cNvSpPr/>
            <p:nvPr/>
          </p:nvSpPr>
          <p:spPr>
            <a:xfrm>
              <a:off x="13148640" y="29192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Google Shape;116;p13"/>
            <p:cNvSpPr/>
            <p:nvPr/>
          </p:nvSpPr>
          <p:spPr>
            <a:xfrm>
              <a:off x="13148640" y="24382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" name="Google Shape;117;p13"/>
          <p:cNvGrpSpPr/>
          <p:nvPr/>
        </p:nvGrpSpPr>
        <p:grpSpPr>
          <a:xfrm>
            <a:off x="12947040" y="6651720"/>
            <a:ext cx="505080" cy="534960"/>
            <a:chOff x="12947040" y="6651720"/>
            <a:chExt cx="505080" cy="534960"/>
          </a:xfrm>
        </p:grpSpPr>
        <p:sp>
          <p:nvSpPr>
            <p:cNvPr id="80" name="Google Shape;118;p13"/>
            <p:cNvSpPr/>
            <p:nvPr/>
          </p:nvSpPr>
          <p:spPr>
            <a:xfrm>
              <a:off x="1294704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Google Shape;119;p13"/>
            <p:cNvSpPr/>
            <p:nvPr/>
          </p:nvSpPr>
          <p:spPr>
            <a:xfrm>
              <a:off x="1294704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" name="Google Shape;120;p13"/>
          <p:cNvGrpSpPr/>
          <p:nvPr/>
        </p:nvGrpSpPr>
        <p:grpSpPr>
          <a:xfrm>
            <a:off x="13869000" y="6651720"/>
            <a:ext cx="505080" cy="534960"/>
            <a:chOff x="13869000" y="6651720"/>
            <a:chExt cx="505080" cy="534960"/>
          </a:xfrm>
        </p:grpSpPr>
        <p:sp>
          <p:nvSpPr>
            <p:cNvPr id="83" name="Google Shape;121;p13"/>
            <p:cNvSpPr/>
            <p:nvPr/>
          </p:nvSpPr>
          <p:spPr>
            <a:xfrm>
              <a:off x="1386900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Google Shape;122;p13"/>
            <p:cNvSpPr/>
            <p:nvPr/>
          </p:nvSpPr>
          <p:spPr>
            <a:xfrm>
              <a:off x="1386900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" name="Google Shape;123;p13"/>
          <p:cNvGrpSpPr/>
          <p:nvPr/>
        </p:nvGrpSpPr>
        <p:grpSpPr>
          <a:xfrm>
            <a:off x="14791320" y="6651720"/>
            <a:ext cx="505080" cy="534960"/>
            <a:chOff x="14791320" y="6651720"/>
            <a:chExt cx="505080" cy="534960"/>
          </a:xfrm>
        </p:grpSpPr>
        <p:sp>
          <p:nvSpPr>
            <p:cNvPr id="86" name="Google Shape;124;p13"/>
            <p:cNvSpPr/>
            <p:nvPr/>
          </p:nvSpPr>
          <p:spPr>
            <a:xfrm>
              <a:off x="1479132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Google Shape;125;p13"/>
            <p:cNvSpPr/>
            <p:nvPr/>
          </p:nvSpPr>
          <p:spPr>
            <a:xfrm>
              <a:off x="1479132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147;p15"/>
          <p:cNvSpPr/>
          <p:nvPr/>
        </p:nvSpPr>
        <p:spPr>
          <a:xfrm>
            <a:off x="-2954520" y="-2872800"/>
            <a:ext cx="10817640" cy="10848960"/>
          </a:xfrm>
          <a:custGeom>
            <a:avLst/>
            <a:gdLst>
              <a:gd name="textAreaLeft" fmla="*/ 0 w 10817640"/>
              <a:gd name="textAreaRight" fmla="*/ 10820160 w 10817640"/>
              <a:gd name="textAreaTop" fmla="*/ 0 h 10848960"/>
              <a:gd name="textAreaBottom" fmla="*/ 10851480 h 108489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7536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148;p15"/>
          <p:cNvSpPr/>
          <p:nvPr/>
        </p:nvSpPr>
        <p:spPr>
          <a:xfrm flipH="1" rot="10800000">
            <a:off x="13061520" y="2292480"/>
            <a:ext cx="10450800" cy="10450800"/>
          </a:xfrm>
          <a:custGeom>
            <a:avLst/>
            <a:gdLst>
              <a:gd name="textAreaLeft" fmla="*/ 1440 w 10450800"/>
              <a:gd name="textAreaRight" fmla="*/ 1045476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0" name="Google Shape;149;p15"/>
          <p:cNvGraphicFramePr/>
          <p:nvPr/>
        </p:nvGraphicFramePr>
        <p:xfrm>
          <a:off x="1228680" y="872640"/>
          <a:ext cx="15830280" cy="8540640"/>
        </p:xfrm>
        <a:graphic>
          <a:graphicData uri="http://schemas.openxmlformats.org/drawingml/2006/table">
            <a:tbl>
              <a:tblPr/>
              <a:tblGrid>
                <a:gridCol w="8797680"/>
                <a:gridCol w="7032960"/>
              </a:tblGrid>
              <a:tr h="2846880">
                <a:tc rowSpan="3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</a:tbl>
          </a:graphicData>
        </a:graphic>
      </p:graphicFrame>
      <p:grpSp>
        <p:nvGrpSpPr>
          <p:cNvPr id="91" name="Google Shape;150;p15"/>
          <p:cNvGrpSpPr/>
          <p:nvPr/>
        </p:nvGrpSpPr>
        <p:grpSpPr>
          <a:xfrm>
            <a:off x="1490040" y="6401520"/>
            <a:ext cx="8155800" cy="1302120"/>
            <a:chOff x="1490040" y="6401520"/>
            <a:chExt cx="8155800" cy="1302120"/>
          </a:xfrm>
        </p:grpSpPr>
        <p:sp>
          <p:nvSpPr>
            <p:cNvPr id="92" name="Google Shape;151;p15"/>
            <p:cNvSpPr/>
            <p:nvPr/>
          </p:nvSpPr>
          <p:spPr>
            <a:xfrm>
              <a:off x="1490040" y="6513120"/>
              <a:ext cx="8155800" cy="1190520"/>
            </a:xfrm>
            <a:custGeom>
              <a:avLst/>
              <a:gdLst>
                <a:gd name="textAreaLeft" fmla="*/ 0 w 8155800"/>
                <a:gd name="textAreaRight" fmla="*/ 8158320 w 815580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Google Shape;152;p15"/>
            <p:cNvSpPr/>
            <p:nvPr/>
          </p:nvSpPr>
          <p:spPr>
            <a:xfrm>
              <a:off x="1490040" y="6401520"/>
              <a:ext cx="815580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" name="Google Shape;153;p15"/>
          <p:cNvSpPr/>
          <p:nvPr/>
        </p:nvSpPr>
        <p:spPr>
          <a:xfrm>
            <a:off x="11658600" y="4114800"/>
            <a:ext cx="4156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 это работает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154;p15"/>
          <p:cNvSpPr/>
          <p:nvPr/>
        </p:nvSpPr>
        <p:spPr>
          <a:xfrm>
            <a:off x="12115800" y="4800600"/>
            <a:ext cx="330372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RPST, авторский алгоритм, сравнение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155;p15"/>
          <p:cNvSpPr/>
          <p:nvPr/>
        </p:nvSpPr>
        <p:spPr>
          <a:xfrm>
            <a:off x="11848320" y="1394640"/>
            <a:ext cx="3303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56;p15"/>
          <p:cNvSpPr/>
          <p:nvPr/>
        </p:nvSpPr>
        <p:spPr>
          <a:xfrm>
            <a:off x="11658600" y="2290680"/>
            <a:ext cx="388440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ценность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157;p15"/>
          <p:cNvSpPr/>
          <p:nvPr/>
        </p:nvSpPr>
        <p:spPr>
          <a:xfrm>
            <a:off x="11751120" y="6958800"/>
            <a:ext cx="37918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158;p15"/>
          <p:cNvSpPr/>
          <p:nvPr/>
        </p:nvSpPr>
        <p:spPr>
          <a:xfrm>
            <a:off x="12115800" y="7772400"/>
            <a:ext cx="330372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159;p15"/>
          <p:cNvSpPr/>
          <p:nvPr/>
        </p:nvSpPr>
        <p:spPr>
          <a:xfrm>
            <a:off x="1490040" y="5605920"/>
            <a:ext cx="7866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Содержание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1" name="Google Shape;160;p15"/>
          <p:cNvGrpSpPr/>
          <p:nvPr/>
        </p:nvGrpSpPr>
        <p:grpSpPr>
          <a:xfrm>
            <a:off x="1490040" y="4368960"/>
            <a:ext cx="729000" cy="772200"/>
            <a:chOff x="1490040" y="4368960"/>
            <a:chExt cx="729000" cy="772200"/>
          </a:xfrm>
        </p:grpSpPr>
        <p:sp>
          <p:nvSpPr>
            <p:cNvPr id="102" name="Google Shape;161;p15"/>
            <p:cNvSpPr/>
            <p:nvPr/>
          </p:nvSpPr>
          <p:spPr>
            <a:xfrm>
              <a:off x="149004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3" name="Google Shape;162;p15"/>
            <p:cNvSpPr/>
            <p:nvPr/>
          </p:nvSpPr>
          <p:spPr>
            <a:xfrm>
              <a:off x="149004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4" name="Google Shape;163;p15"/>
          <p:cNvGrpSpPr/>
          <p:nvPr/>
        </p:nvGrpSpPr>
        <p:grpSpPr>
          <a:xfrm>
            <a:off x="2698200" y="4368960"/>
            <a:ext cx="729000" cy="772200"/>
            <a:chOff x="2698200" y="4368960"/>
            <a:chExt cx="729000" cy="772200"/>
          </a:xfrm>
        </p:grpSpPr>
        <p:sp>
          <p:nvSpPr>
            <p:cNvPr id="105" name="Google Shape;164;p15"/>
            <p:cNvSpPr/>
            <p:nvPr/>
          </p:nvSpPr>
          <p:spPr>
            <a:xfrm>
              <a:off x="269820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6" name="Google Shape;165;p15"/>
            <p:cNvSpPr/>
            <p:nvPr/>
          </p:nvSpPr>
          <p:spPr>
            <a:xfrm>
              <a:off x="269820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7" name="Google Shape;166;p15"/>
          <p:cNvGrpSpPr/>
          <p:nvPr/>
        </p:nvGrpSpPr>
        <p:grpSpPr>
          <a:xfrm>
            <a:off x="3906000" y="4368960"/>
            <a:ext cx="729000" cy="772200"/>
            <a:chOff x="3906000" y="4368960"/>
            <a:chExt cx="729000" cy="772200"/>
          </a:xfrm>
        </p:grpSpPr>
        <p:sp>
          <p:nvSpPr>
            <p:cNvPr id="108" name="Google Shape;167;p15"/>
            <p:cNvSpPr/>
            <p:nvPr/>
          </p:nvSpPr>
          <p:spPr>
            <a:xfrm>
              <a:off x="390600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Google Shape;168;p15"/>
            <p:cNvSpPr/>
            <p:nvPr/>
          </p:nvSpPr>
          <p:spPr>
            <a:xfrm>
              <a:off x="390600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0" name="Google Shape;169;p15"/>
          <p:cNvGrpSpPr/>
          <p:nvPr/>
        </p:nvGrpSpPr>
        <p:grpSpPr>
          <a:xfrm>
            <a:off x="9144000" y="1369080"/>
            <a:ext cx="1646280" cy="1742760"/>
            <a:chOff x="9144000" y="1369080"/>
            <a:chExt cx="1646280" cy="1742760"/>
          </a:xfrm>
        </p:grpSpPr>
        <p:sp>
          <p:nvSpPr>
            <p:cNvPr id="111" name="Google Shape;170;p15"/>
            <p:cNvSpPr/>
            <p:nvPr/>
          </p:nvSpPr>
          <p:spPr>
            <a:xfrm>
              <a:off x="9144000" y="146556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2" name="Google Shape;171;p15"/>
            <p:cNvSpPr/>
            <p:nvPr/>
          </p:nvSpPr>
          <p:spPr>
            <a:xfrm>
              <a:off x="9144000" y="136908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3" name="Google Shape;172;p15"/>
          <p:cNvGrpSpPr/>
          <p:nvPr/>
        </p:nvGrpSpPr>
        <p:grpSpPr>
          <a:xfrm>
            <a:off x="9144000" y="4222440"/>
            <a:ext cx="1646280" cy="1742760"/>
            <a:chOff x="9144000" y="4222440"/>
            <a:chExt cx="1646280" cy="1742760"/>
          </a:xfrm>
        </p:grpSpPr>
        <p:sp>
          <p:nvSpPr>
            <p:cNvPr id="114" name="Google Shape;173;p15"/>
            <p:cNvSpPr/>
            <p:nvPr/>
          </p:nvSpPr>
          <p:spPr>
            <a:xfrm>
              <a:off x="9144000" y="431892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5" name="Google Shape;174;p15"/>
            <p:cNvSpPr/>
            <p:nvPr/>
          </p:nvSpPr>
          <p:spPr>
            <a:xfrm>
              <a:off x="9144000" y="422244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6" name="Google Shape;175;p15"/>
          <p:cNvGrpSpPr/>
          <p:nvPr/>
        </p:nvGrpSpPr>
        <p:grpSpPr>
          <a:xfrm>
            <a:off x="9144000" y="7123680"/>
            <a:ext cx="1646280" cy="1742760"/>
            <a:chOff x="9144000" y="7123680"/>
            <a:chExt cx="1646280" cy="1742760"/>
          </a:xfrm>
        </p:grpSpPr>
        <p:sp>
          <p:nvSpPr>
            <p:cNvPr id="117" name="Google Shape;176;p15"/>
            <p:cNvSpPr/>
            <p:nvPr/>
          </p:nvSpPr>
          <p:spPr>
            <a:xfrm>
              <a:off x="9144000" y="722016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Google Shape;177;p15"/>
            <p:cNvSpPr/>
            <p:nvPr/>
          </p:nvSpPr>
          <p:spPr>
            <a:xfrm>
              <a:off x="9144000" y="712368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19" name="Google Shape;178;p15"/>
          <p:cNvSpPr/>
          <p:nvPr/>
        </p:nvSpPr>
        <p:spPr>
          <a:xfrm>
            <a:off x="9090720" y="1828080"/>
            <a:ext cx="1753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01.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79;p15"/>
          <p:cNvSpPr/>
          <p:nvPr/>
        </p:nvSpPr>
        <p:spPr>
          <a:xfrm>
            <a:off x="9144000" y="4618800"/>
            <a:ext cx="1646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02.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80;p15"/>
          <p:cNvSpPr/>
          <p:nvPr/>
        </p:nvSpPr>
        <p:spPr>
          <a:xfrm>
            <a:off x="9039240" y="7496280"/>
            <a:ext cx="1855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03.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81;p15"/>
          <p:cNvSpPr/>
          <p:nvPr/>
        </p:nvSpPr>
        <p:spPr>
          <a:xfrm flipH="1" rot="10800000">
            <a:off x="-819000" y="-650520"/>
            <a:ext cx="4722120" cy="4112280"/>
          </a:xfrm>
          <a:custGeom>
            <a:avLst/>
            <a:gdLst>
              <a:gd name="textAreaLeft" fmla="*/ -1440 w 4722120"/>
              <a:gd name="textAreaRight" fmla="*/ 4723200 w 4722120"/>
              <a:gd name="textAreaTop" fmla="*/ 0 h 4112280"/>
              <a:gd name="textAreaBottom" fmla="*/ 4114800 h 4112280"/>
            </a:gdLst>
            <a:ahLst/>
            <a:rect l="textAreaLeft" t="textAreaTop" r="textAreaRight" b="textAreaBottom"/>
            <a:pathLst>
              <a:path w="4724718" h="4114800">
                <a:moveTo>
                  <a:pt x="0" y="4114800"/>
                </a:moveTo>
                <a:lnTo>
                  <a:pt x="4724718" y="4114800"/>
                </a:lnTo>
                <a:lnTo>
                  <a:pt x="47247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6;p16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87;p16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88;p16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89;p16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0e8c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90;p16"/>
          <p:cNvSpPr/>
          <p:nvPr/>
        </p:nvSpPr>
        <p:spPr>
          <a:xfrm rot="16200000">
            <a:off x="1001052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8" name="Google Shape;191;p16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129" name="Google Shape;192;p16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" name="Google Shape;193;p16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1" name="Google Shape;194;p16"/>
          <p:cNvGrpSpPr/>
          <p:nvPr/>
        </p:nvGrpSpPr>
        <p:grpSpPr>
          <a:xfrm>
            <a:off x="5257800" y="2486160"/>
            <a:ext cx="8073360" cy="3962520"/>
            <a:chOff x="5257800" y="2486160"/>
            <a:chExt cx="8073360" cy="3962520"/>
          </a:xfrm>
        </p:grpSpPr>
        <p:sp>
          <p:nvSpPr>
            <p:cNvPr id="132" name="Google Shape;195;p16"/>
            <p:cNvSpPr/>
            <p:nvPr/>
          </p:nvSpPr>
          <p:spPr>
            <a:xfrm>
              <a:off x="5257800" y="2486160"/>
              <a:ext cx="8073360" cy="3962520"/>
            </a:xfrm>
            <a:custGeom>
              <a:avLst/>
              <a:gdLst>
                <a:gd name="textAreaLeft" fmla="*/ 0 w 8073360"/>
                <a:gd name="textAreaRight" fmla="*/ 8075880 w 80733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3" name="Google Shape;196;p16"/>
            <p:cNvSpPr/>
            <p:nvPr/>
          </p:nvSpPr>
          <p:spPr>
            <a:xfrm>
              <a:off x="6015240" y="2514240"/>
              <a:ext cx="655920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01. Зачем: 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134" name="Google Shape;197;p1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135" name="Google Shape;198;p16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136" name="Google Shape;199;p16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Google Shape;200;p16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38" name="Google Shape;201;p16"/>
          <p:cNvSpPr/>
          <p:nvPr/>
        </p:nvSpPr>
        <p:spPr>
          <a:xfrm>
            <a:off x="3825360" y="4800600"/>
            <a:ext cx="10803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задача и ценность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202;p16"/>
          <p:cNvSpPr/>
          <p:nvPr/>
        </p:nvSpPr>
        <p:spPr>
          <a:xfrm>
            <a:off x="4343400" y="6858000"/>
            <a:ext cx="98683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применимость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203;p16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Google Shape;204;p16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Google Shape;205;p16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3" name="Google Shape;206;p16"/>
          <p:cNvGrpSpPr/>
          <p:nvPr/>
        </p:nvGrpSpPr>
        <p:grpSpPr>
          <a:xfrm>
            <a:off x="8709840" y="2486160"/>
            <a:ext cx="865800" cy="865800"/>
            <a:chOff x="8709840" y="2486160"/>
            <a:chExt cx="865800" cy="865800"/>
          </a:xfrm>
        </p:grpSpPr>
        <p:sp>
          <p:nvSpPr>
            <p:cNvPr id="144" name="Google Shape;207;p16"/>
            <p:cNvSpPr/>
            <p:nvPr/>
          </p:nvSpPr>
          <p:spPr>
            <a:xfrm>
              <a:off x="87098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5" name="Google Shape;208;p16"/>
            <p:cNvSpPr/>
            <p:nvPr/>
          </p:nvSpPr>
          <p:spPr>
            <a:xfrm>
              <a:off x="87912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6" name="Google Shape;209;p16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147" name="Google Shape;210;p16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8" name="Google Shape;211;p16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9" name="Google Shape;212;p16"/>
          <p:cNvGrpSpPr/>
          <p:nvPr/>
        </p:nvGrpSpPr>
        <p:grpSpPr>
          <a:xfrm>
            <a:off x="2098440" y="3766680"/>
            <a:ext cx="3282840" cy="1374120"/>
            <a:chOff x="2098440" y="3766680"/>
            <a:chExt cx="3282840" cy="1374120"/>
          </a:xfrm>
        </p:grpSpPr>
        <p:sp>
          <p:nvSpPr>
            <p:cNvPr id="150" name="Google Shape;213;p16"/>
            <p:cNvSpPr/>
            <p:nvPr/>
          </p:nvSpPr>
          <p:spPr>
            <a:xfrm>
              <a:off x="2098440" y="47286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" name="Google Shape;214;p16"/>
            <p:cNvSpPr/>
            <p:nvPr/>
          </p:nvSpPr>
          <p:spPr>
            <a:xfrm>
              <a:off x="2098440" y="42476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" name="Google Shape;215;p16"/>
            <p:cNvSpPr/>
            <p:nvPr/>
          </p:nvSpPr>
          <p:spPr>
            <a:xfrm>
              <a:off x="2098440" y="37666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242;p18"/>
          <p:cNvGrpSpPr/>
          <p:nvPr/>
        </p:nvGrpSpPr>
        <p:grpSpPr>
          <a:xfrm>
            <a:off x="9516960" y="4271760"/>
            <a:ext cx="8155800" cy="1302120"/>
            <a:chOff x="9516960" y="4271760"/>
            <a:chExt cx="8155800" cy="1302120"/>
          </a:xfrm>
        </p:grpSpPr>
        <p:sp>
          <p:nvSpPr>
            <p:cNvPr id="154" name="Google Shape;243;p18"/>
            <p:cNvSpPr/>
            <p:nvPr/>
          </p:nvSpPr>
          <p:spPr>
            <a:xfrm>
              <a:off x="9516960" y="4383000"/>
              <a:ext cx="8155800" cy="1190520"/>
            </a:xfrm>
            <a:custGeom>
              <a:avLst/>
              <a:gdLst>
                <a:gd name="textAreaLeft" fmla="*/ 0 w 8155800"/>
                <a:gd name="textAreaRight" fmla="*/ 8158320 w 815580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Google Shape;244;p18"/>
            <p:cNvSpPr/>
            <p:nvPr/>
          </p:nvSpPr>
          <p:spPr>
            <a:xfrm>
              <a:off x="9516960" y="4271760"/>
              <a:ext cx="815580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6" name="Google Shape;245;p18"/>
          <p:cNvSpPr/>
          <p:nvPr/>
        </p:nvSpPr>
        <p:spPr>
          <a:xfrm>
            <a:off x="9804600" y="3538800"/>
            <a:ext cx="68817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Проблема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246;p18"/>
          <p:cNvSpPr/>
          <p:nvPr/>
        </p:nvSpPr>
        <p:spPr>
          <a:xfrm rot="10800000">
            <a:off x="-4579920" y="3075840"/>
            <a:ext cx="9185040" cy="9185040"/>
          </a:xfrm>
          <a:custGeom>
            <a:avLst/>
            <a:gdLst>
              <a:gd name="textAreaLeft" fmla="*/ 0 w 9185040"/>
              <a:gd name="textAreaRight" fmla="*/ 918756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9187489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9" y="0"/>
                </a:lnTo>
                <a:lnTo>
                  <a:pt x="9187489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8" name="Google Shape;247;p18"/>
          <p:cNvGrpSpPr/>
          <p:nvPr/>
        </p:nvGrpSpPr>
        <p:grpSpPr>
          <a:xfrm>
            <a:off x="-1355400" y="1175040"/>
            <a:ext cx="10143720" cy="3300120"/>
            <a:chOff x="-1355400" y="1175040"/>
            <a:chExt cx="10143720" cy="3300120"/>
          </a:xfrm>
        </p:grpSpPr>
        <p:sp>
          <p:nvSpPr>
            <p:cNvPr id="159" name="Google Shape;248;p18"/>
            <p:cNvSpPr/>
            <p:nvPr/>
          </p:nvSpPr>
          <p:spPr>
            <a:xfrm>
              <a:off x="-1355400" y="1511640"/>
              <a:ext cx="10143720" cy="2963520"/>
            </a:xfrm>
            <a:custGeom>
              <a:avLst/>
              <a:gdLst>
                <a:gd name="textAreaLeft" fmla="*/ 0 w 10143720"/>
                <a:gd name="textAreaRight" fmla="*/ 10146240 w 10143720"/>
                <a:gd name="textAreaTop" fmla="*/ 0 h 2963520"/>
                <a:gd name="textAreaBottom" fmla="*/ 2966040 h 296352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0e8cfe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0" name="Google Shape;249;p18"/>
            <p:cNvSpPr/>
            <p:nvPr/>
          </p:nvSpPr>
          <p:spPr>
            <a:xfrm>
              <a:off x="-1355400" y="1175040"/>
              <a:ext cx="10143720" cy="330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Google Shape;250;p18"/>
          <p:cNvSpPr/>
          <p:nvPr/>
        </p:nvSpPr>
        <p:spPr>
          <a:xfrm>
            <a:off x="11262960" y="7234560"/>
            <a:ext cx="4984920" cy="9919080"/>
          </a:xfrm>
          <a:custGeom>
            <a:avLst/>
            <a:gdLst>
              <a:gd name="textAreaLeft" fmla="*/ 0 w 4984920"/>
              <a:gd name="textAreaRight" fmla="*/ 4987440 w 4984920"/>
              <a:gd name="textAreaTop" fmla="*/ 0 h 9919080"/>
              <a:gd name="textAreaBottom" fmla="*/ 9921600 h 9919080"/>
            </a:gdLst>
            <a:ahLst/>
            <a:rect l="textAreaLeft" t="textAreaTop" r="textAreaRight" b="textAreaBottom"/>
            <a:pathLst>
              <a:path w="4987476" h="9921538">
                <a:moveTo>
                  <a:pt x="0" y="0"/>
                </a:moveTo>
                <a:lnTo>
                  <a:pt x="4987476" y="0"/>
                </a:lnTo>
                <a:lnTo>
                  <a:pt x="4987476" y="9921538"/>
                </a:lnTo>
                <a:lnTo>
                  <a:pt x="0" y="99215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oogle Shape;251;p18"/>
          <p:cNvGrpSpPr/>
          <p:nvPr/>
        </p:nvGrpSpPr>
        <p:grpSpPr>
          <a:xfrm>
            <a:off x="-1355400" y="5284800"/>
            <a:ext cx="10143720" cy="3300120"/>
            <a:chOff x="-1355400" y="5284800"/>
            <a:chExt cx="10143720" cy="3300120"/>
          </a:xfrm>
        </p:grpSpPr>
        <p:sp>
          <p:nvSpPr>
            <p:cNvPr id="163" name="Google Shape;252;p18"/>
            <p:cNvSpPr/>
            <p:nvPr/>
          </p:nvSpPr>
          <p:spPr>
            <a:xfrm>
              <a:off x="-1355400" y="5621400"/>
              <a:ext cx="10143720" cy="2963520"/>
            </a:xfrm>
            <a:custGeom>
              <a:avLst/>
              <a:gdLst>
                <a:gd name="textAreaLeft" fmla="*/ 0 w 10143720"/>
                <a:gd name="textAreaRight" fmla="*/ 10146240 w 10143720"/>
                <a:gd name="textAreaTop" fmla="*/ 0 h 2963520"/>
                <a:gd name="textAreaBottom" fmla="*/ 2966040 h 296352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4" name="Google Shape;253;p18"/>
            <p:cNvSpPr/>
            <p:nvPr/>
          </p:nvSpPr>
          <p:spPr>
            <a:xfrm>
              <a:off x="-1355400" y="5284800"/>
              <a:ext cx="10143720" cy="330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" name="Google Shape;254;p18"/>
          <p:cNvGrpSpPr/>
          <p:nvPr/>
        </p:nvGrpSpPr>
        <p:grpSpPr>
          <a:xfrm>
            <a:off x="10926720" y="-2028600"/>
            <a:ext cx="3459600" cy="3459600"/>
            <a:chOff x="10926720" y="-2028600"/>
            <a:chExt cx="3459600" cy="3459600"/>
          </a:xfrm>
        </p:grpSpPr>
        <p:sp>
          <p:nvSpPr>
            <p:cNvPr id="166" name="Google Shape;255;p18"/>
            <p:cNvSpPr/>
            <p:nvPr/>
          </p:nvSpPr>
          <p:spPr>
            <a:xfrm>
              <a:off x="10926720" y="-2028600"/>
              <a:ext cx="3459600" cy="3459600"/>
            </a:xfrm>
            <a:custGeom>
              <a:avLst/>
              <a:gdLst>
                <a:gd name="textAreaLeft" fmla="*/ 0 w 3459600"/>
                <a:gd name="textAreaRight" fmla="*/ 3462120 w 3459600"/>
                <a:gd name="textAreaTop" fmla="*/ 0 h 3459600"/>
                <a:gd name="textAreaBottom" fmla="*/ 3462120 h 34596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7" name="Google Shape;256;p18"/>
            <p:cNvSpPr/>
            <p:nvPr/>
          </p:nvSpPr>
          <p:spPr>
            <a:xfrm>
              <a:off x="11251440" y="-1906920"/>
              <a:ext cx="2810520" cy="3013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8" name="Google Shape;257;p18"/>
          <p:cNvSpPr/>
          <p:nvPr/>
        </p:nvSpPr>
        <p:spPr>
          <a:xfrm flipH="1" rot="10800000">
            <a:off x="13081680" y="-5407200"/>
            <a:ext cx="9185040" cy="9185040"/>
          </a:xfrm>
          <a:custGeom>
            <a:avLst/>
            <a:gdLst>
              <a:gd name="textAreaLeft" fmla="*/ 1440 w 9185040"/>
              <a:gd name="textAreaRight" fmla="*/ 918900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0" y="9187488"/>
                </a:moveTo>
                <a:lnTo>
                  <a:pt x="9187488" y="9187488"/>
                </a:lnTo>
                <a:lnTo>
                  <a:pt x="9187488" y="0"/>
                </a:lnTo>
                <a:lnTo>
                  <a:pt x="0" y="0"/>
                </a:lnTo>
                <a:lnTo>
                  <a:pt x="0" y="9187488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58;p18"/>
          <p:cNvSpPr/>
          <p:nvPr/>
        </p:nvSpPr>
        <p:spPr>
          <a:xfrm>
            <a:off x="8309880" y="9058680"/>
            <a:ext cx="4345560" cy="827640"/>
          </a:xfrm>
          <a:custGeom>
            <a:avLst/>
            <a:gdLst>
              <a:gd name="textAreaLeft" fmla="*/ 0 w 4345560"/>
              <a:gd name="textAreaRight" fmla="*/ 4348080 w 4345560"/>
              <a:gd name="textAreaTop" fmla="*/ 0 h 827640"/>
              <a:gd name="textAreaBottom" fmla="*/ 830160 h 82764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3"/>
                </a:lnTo>
                <a:lnTo>
                  <a:pt x="0" y="8300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0" name="Google Shape;259;p18"/>
          <p:cNvGrpSpPr/>
          <p:nvPr/>
        </p:nvGrpSpPr>
        <p:grpSpPr>
          <a:xfrm>
            <a:off x="1028880" y="1198440"/>
            <a:ext cx="558000" cy="590760"/>
            <a:chOff x="1028880" y="1198440"/>
            <a:chExt cx="558000" cy="590760"/>
          </a:xfrm>
        </p:grpSpPr>
        <p:sp>
          <p:nvSpPr>
            <p:cNvPr id="171" name="Google Shape;260;p18"/>
            <p:cNvSpPr/>
            <p:nvPr/>
          </p:nvSpPr>
          <p:spPr>
            <a:xfrm>
              <a:off x="10288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2" name="Google Shape;261;p18"/>
            <p:cNvSpPr/>
            <p:nvPr/>
          </p:nvSpPr>
          <p:spPr>
            <a:xfrm>
              <a:off x="10288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" name="Google Shape;262;p18"/>
          <p:cNvGrpSpPr/>
          <p:nvPr/>
        </p:nvGrpSpPr>
        <p:grpSpPr>
          <a:xfrm>
            <a:off x="1752480" y="1198440"/>
            <a:ext cx="558000" cy="590760"/>
            <a:chOff x="1752480" y="1198440"/>
            <a:chExt cx="558000" cy="590760"/>
          </a:xfrm>
        </p:grpSpPr>
        <p:sp>
          <p:nvSpPr>
            <p:cNvPr id="174" name="Google Shape;263;p18"/>
            <p:cNvSpPr/>
            <p:nvPr/>
          </p:nvSpPr>
          <p:spPr>
            <a:xfrm>
              <a:off x="17524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5" name="Google Shape;264;p18"/>
            <p:cNvSpPr/>
            <p:nvPr/>
          </p:nvSpPr>
          <p:spPr>
            <a:xfrm>
              <a:off x="17524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oogle Shape;265;p18"/>
          <p:cNvGrpSpPr/>
          <p:nvPr/>
        </p:nvGrpSpPr>
        <p:grpSpPr>
          <a:xfrm>
            <a:off x="2476080" y="1198440"/>
            <a:ext cx="558000" cy="590760"/>
            <a:chOff x="2476080" y="1198440"/>
            <a:chExt cx="558000" cy="590760"/>
          </a:xfrm>
        </p:grpSpPr>
        <p:sp>
          <p:nvSpPr>
            <p:cNvPr id="177" name="Google Shape;266;p18"/>
            <p:cNvSpPr/>
            <p:nvPr/>
          </p:nvSpPr>
          <p:spPr>
            <a:xfrm>
              <a:off x="24760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8" name="Google Shape;267;p18"/>
            <p:cNvSpPr/>
            <p:nvPr/>
          </p:nvSpPr>
          <p:spPr>
            <a:xfrm>
              <a:off x="24760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9" name="Google Shape;268;p18"/>
          <p:cNvSpPr/>
          <p:nvPr/>
        </p:nvSpPr>
        <p:spPr>
          <a:xfrm>
            <a:off x="2313000" y="5916240"/>
            <a:ext cx="4581720" cy="11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 — вручную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69;p18"/>
          <p:cNvSpPr/>
          <p:nvPr/>
        </p:nvSpPr>
        <p:spPr>
          <a:xfrm>
            <a:off x="2313000" y="2057400"/>
            <a:ext cx="4581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ИИ хромает в стихах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70;p18"/>
          <p:cNvSpPr/>
          <p:nvPr/>
        </p:nvSpPr>
        <p:spPr>
          <a:xfrm>
            <a:off x="1828800" y="2743200"/>
            <a:ext cx="50659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Созвучие оценивают «на слух»; объективно и масштабно — трудно.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71;p18"/>
          <p:cNvSpPr/>
          <p:nvPr/>
        </p:nvSpPr>
        <p:spPr>
          <a:xfrm>
            <a:off x="1371600" y="7086600"/>
            <a:ext cx="55231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Модели сильны в прозе, но в русском стихе плывут размер и рифма.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588;p29"/>
          <p:cNvSpPr/>
          <p:nvPr/>
        </p:nvSpPr>
        <p:spPr>
          <a:xfrm>
            <a:off x="9144000" y="3427560"/>
            <a:ext cx="15690600" cy="11022120"/>
          </a:xfrm>
          <a:custGeom>
            <a:avLst/>
            <a:gdLst>
              <a:gd name="textAreaLeft" fmla="*/ 0 w 15690600"/>
              <a:gd name="textAreaRight" fmla="*/ 15693120 w 15690600"/>
              <a:gd name="textAreaTop" fmla="*/ 0 h 11022120"/>
              <a:gd name="textAreaBottom" fmla="*/ 11024640 h 11022120"/>
            </a:gdLst>
            <a:ahLst/>
            <a:rect l="textAreaLeft" t="textAreaTop" r="textAreaRight" b="textAreaBottom"/>
            <a:pathLst>
              <a:path w="15693206" h="11024477">
                <a:moveTo>
                  <a:pt x="0" y="0"/>
                </a:moveTo>
                <a:lnTo>
                  <a:pt x="15693206" y="0"/>
                </a:lnTo>
                <a:lnTo>
                  <a:pt x="15693206" y="11024477"/>
                </a:lnTo>
                <a:lnTo>
                  <a:pt x="0" y="1102447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589;p29"/>
          <p:cNvSpPr/>
          <p:nvPr/>
        </p:nvSpPr>
        <p:spPr>
          <a:xfrm>
            <a:off x="-1197720" y="-2233800"/>
            <a:ext cx="4092120" cy="8142840"/>
          </a:xfrm>
          <a:custGeom>
            <a:avLst/>
            <a:gdLst>
              <a:gd name="textAreaLeft" fmla="*/ 0 w 4092120"/>
              <a:gd name="textAreaRight" fmla="*/ 4094640 w 4092120"/>
              <a:gd name="textAreaTop" fmla="*/ 0 h 8142840"/>
              <a:gd name="textAreaBottom" fmla="*/ 8145360 h 8142840"/>
            </a:gdLst>
            <a:ahLst/>
            <a:rect l="textAreaLeft" t="textAreaTop" r="textAreaRight" b="textAreaBottom"/>
            <a:pathLst>
              <a:path w="4094599" h="8145347">
                <a:moveTo>
                  <a:pt x="0" y="0"/>
                </a:moveTo>
                <a:lnTo>
                  <a:pt x="4094599" y="0"/>
                </a:lnTo>
                <a:lnTo>
                  <a:pt x="4094599" y="8145347"/>
                </a:lnTo>
                <a:lnTo>
                  <a:pt x="0" y="814534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5" name="Google Shape;590;p29"/>
          <p:cNvGrpSpPr/>
          <p:nvPr/>
        </p:nvGrpSpPr>
        <p:grpSpPr>
          <a:xfrm>
            <a:off x="927000" y="2412720"/>
            <a:ext cx="7808760" cy="1302120"/>
            <a:chOff x="927000" y="2412720"/>
            <a:chExt cx="7808760" cy="1302120"/>
          </a:xfrm>
        </p:grpSpPr>
        <p:sp>
          <p:nvSpPr>
            <p:cNvPr id="186" name="Google Shape;591;p29"/>
            <p:cNvSpPr/>
            <p:nvPr/>
          </p:nvSpPr>
          <p:spPr>
            <a:xfrm>
              <a:off x="927000" y="2523960"/>
              <a:ext cx="7808760" cy="1190520"/>
            </a:xfrm>
            <a:custGeom>
              <a:avLst/>
              <a:gdLst>
                <a:gd name="textAreaLeft" fmla="*/ 0 w 7808760"/>
                <a:gd name="textAreaRight" fmla="*/ 7811280 w 780876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Google Shape;592;p29"/>
            <p:cNvSpPr/>
            <p:nvPr/>
          </p:nvSpPr>
          <p:spPr>
            <a:xfrm>
              <a:off x="927000" y="2412720"/>
              <a:ext cx="780876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Google Shape;593;p29"/>
          <p:cNvSpPr/>
          <p:nvPr/>
        </p:nvSpPr>
        <p:spPr>
          <a:xfrm>
            <a:off x="1028880" y="1679760"/>
            <a:ext cx="8112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Актуальность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594;p29"/>
          <p:cNvSpPr/>
          <p:nvPr/>
        </p:nvSpPr>
        <p:spPr>
          <a:xfrm>
            <a:off x="10553760" y="293256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Социальная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595;p29"/>
          <p:cNvSpPr/>
          <p:nvPr/>
        </p:nvSpPr>
        <p:spPr>
          <a:xfrm>
            <a:off x="10553760" y="3886200"/>
            <a:ext cx="336240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Сохранить любовь к стихам средствами современных технологий.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1" name="Google Shape;596;p29"/>
          <p:cNvCxnSpPr/>
          <p:nvPr/>
        </p:nvCxnSpPr>
        <p:spPr>
          <a:xfrm flipV="1">
            <a:off x="10907280" y="2205360"/>
            <a:ext cx="3938400" cy="1980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2" name="Google Shape;597;p29"/>
          <p:cNvCxnSpPr/>
          <p:nvPr/>
        </p:nvCxnSpPr>
        <p:spPr>
          <a:xfrm>
            <a:off x="15197040" y="2204640"/>
            <a:ext cx="3936240" cy="864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3" name="Google Shape;598;p29"/>
          <p:cNvCxnSpPr/>
          <p:nvPr/>
        </p:nvCxnSpPr>
        <p:spPr>
          <a:xfrm>
            <a:off x="7561800" y="7186680"/>
            <a:ext cx="6441120" cy="252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4" name="Google Shape;599;p29"/>
          <p:cNvCxnSpPr/>
          <p:nvPr/>
        </p:nvCxnSpPr>
        <p:spPr>
          <a:xfrm>
            <a:off x="14353920" y="7187040"/>
            <a:ext cx="3936240" cy="828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195" name="Google Shape;600;p29"/>
          <p:cNvSpPr/>
          <p:nvPr/>
        </p:nvSpPr>
        <p:spPr>
          <a:xfrm>
            <a:off x="14401800" y="2932560"/>
            <a:ext cx="3804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Государственная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Google Shape;601;p29"/>
          <p:cNvSpPr/>
          <p:nvPr/>
        </p:nvSpPr>
        <p:spPr>
          <a:xfrm>
            <a:off x="14466600" y="388620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Поддержка культуры и русского языка, культурный код.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602;p29"/>
          <p:cNvSpPr/>
          <p:nvPr/>
        </p:nvSpPr>
        <p:spPr>
          <a:xfrm>
            <a:off x="708660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Научная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603;p29"/>
          <p:cNvSpPr/>
          <p:nvPr/>
        </p:nvSpPr>
        <p:spPr>
          <a:xfrm>
            <a:off x="7086600" y="842292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ИИ, пишущих и оценивающих стихи на русском, почти нет.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604;p29"/>
          <p:cNvSpPr/>
          <p:nvPr/>
        </p:nvSpPr>
        <p:spPr>
          <a:xfrm>
            <a:off x="1391868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Почему сейчас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605;p29"/>
          <p:cNvSpPr/>
          <p:nvPr/>
        </p:nvSpPr>
        <p:spPr>
          <a:xfrm>
            <a:off x="13918680" y="842292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Зрелые языковые модели и цифровое поколение.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1" name="Google Shape;606;p29"/>
          <p:cNvCxnSpPr/>
          <p:nvPr/>
        </p:nvCxnSpPr>
        <p:spPr>
          <a:xfrm>
            <a:off x="1123200" y="7162920"/>
            <a:ext cx="6087240" cy="2556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202" name="Google Shape;607;p29"/>
          <p:cNvSpPr/>
          <p:nvPr/>
        </p:nvSpPr>
        <p:spPr>
          <a:xfrm>
            <a:off x="101520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608;p29"/>
          <p:cNvSpPr/>
          <p:nvPr/>
        </p:nvSpPr>
        <p:spPr>
          <a:xfrm>
            <a:off x="1028880" y="8458200"/>
            <a:ext cx="39985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Мост между классикой и новыми технологиями.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4" name="Google Shape;609;p29"/>
          <p:cNvGrpSpPr/>
          <p:nvPr/>
        </p:nvGrpSpPr>
        <p:grpSpPr>
          <a:xfrm>
            <a:off x="10541520" y="1796760"/>
            <a:ext cx="729000" cy="771840"/>
            <a:chOff x="10541520" y="1796760"/>
            <a:chExt cx="729000" cy="771840"/>
          </a:xfrm>
        </p:grpSpPr>
        <p:sp>
          <p:nvSpPr>
            <p:cNvPr id="205" name="Google Shape;610;p29"/>
            <p:cNvSpPr/>
            <p:nvPr/>
          </p:nvSpPr>
          <p:spPr>
            <a:xfrm>
              <a:off x="10541520" y="183960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6" name="Google Shape;611;p29"/>
            <p:cNvSpPr/>
            <p:nvPr/>
          </p:nvSpPr>
          <p:spPr>
            <a:xfrm>
              <a:off x="10541520" y="17967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7" name="Google Shape;612;p29"/>
          <p:cNvGrpSpPr/>
          <p:nvPr/>
        </p:nvGrpSpPr>
        <p:grpSpPr>
          <a:xfrm>
            <a:off x="14653800" y="1796040"/>
            <a:ext cx="729000" cy="771840"/>
            <a:chOff x="14653800" y="1796040"/>
            <a:chExt cx="729000" cy="771840"/>
          </a:xfrm>
        </p:grpSpPr>
        <p:sp>
          <p:nvSpPr>
            <p:cNvPr id="208" name="Google Shape;613;p29"/>
            <p:cNvSpPr/>
            <p:nvPr/>
          </p:nvSpPr>
          <p:spPr>
            <a:xfrm>
              <a:off x="14653800" y="183888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9" name="Google Shape;614;p29"/>
            <p:cNvSpPr/>
            <p:nvPr/>
          </p:nvSpPr>
          <p:spPr>
            <a:xfrm>
              <a:off x="14653800" y="179604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oogle Shape;615;p29"/>
          <p:cNvGrpSpPr/>
          <p:nvPr/>
        </p:nvGrpSpPr>
        <p:grpSpPr>
          <a:xfrm>
            <a:off x="7038720" y="6754320"/>
            <a:ext cx="729000" cy="771840"/>
            <a:chOff x="7038720" y="6754320"/>
            <a:chExt cx="729000" cy="771840"/>
          </a:xfrm>
        </p:grpSpPr>
        <p:sp>
          <p:nvSpPr>
            <p:cNvPr id="211" name="Google Shape;616;p29"/>
            <p:cNvSpPr/>
            <p:nvPr/>
          </p:nvSpPr>
          <p:spPr>
            <a:xfrm>
              <a:off x="703872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2" name="Google Shape;617;p29"/>
            <p:cNvSpPr/>
            <p:nvPr/>
          </p:nvSpPr>
          <p:spPr>
            <a:xfrm>
              <a:off x="703872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" name="Google Shape;618;p29"/>
          <p:cNvGrpSpPr/>
          <p:nvPr/>
        </p:nvGrpSpPr>
        <p:grpSpPr>
          <a:xfrm>
            <a:off x="13918680" y="6754320"/>
            <a:ext cx="729000" cy="771840"/>
            <a:chOff x="13918680" y="6754320"/>
            <a:chExt cx="729000" cy="771840"/>
          </a:xfrm>
        </p:grpSpPr>
        <p:sp>
          <p:nvSpPr>
            <p:cNvPr id="214" name="Google Shape;619;p29"/>
            <p:cNvSpPr/>
            <p:nvPr/>
          </p:nvSpPr>
          <p:spPr>
            <a:xfrm>
              <a:off x="1391868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Google Shape;620;p29"/>
            <p:cNvSpPr/>
            <p:nvPr/>
          </p:nvSpPr>
          <p:spPr>
            <a:xfrm>
              <a:off x="1391868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" name="Google Shape;621;p29"/>
          <p:cNvGrpSpPr/>
          <p:nvPr/>
        </p:nvGrpSpPr>
        <p:grpSpPr>
          <a:xfrm>
            <a:off x="1028880" y="6754320"/>
            <a:ext cx="729000" cy="771840"/>
            <a:chOff x="1028880" y="6754320"/>
            <a:chExt cx="729000" cy="771840"/>
          </a:xfrm>
        </p:grpSpPr>
        <p:sp>
          <p:nvSpPr>
            <p:cNvPr id="217" name="Google Shape;622;p29"/>
            <p:cNvSpPr/>
            <p:nvPr/>
          </p:nvSpPr>
          <p:spPr>
            <a:xfrm>
              <a:off x="102888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8" name="Google Shape;623;p29"/>
            <p:cNvSpPr/>
            <p:nvPr/>
          </p:nvSpPr>
          <p:spPr>
            <a:xfrm>
              <a:off x="102888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" name="Google Shape;624;p29"/>
          <p:cNvGrpSpPr/>
          <p:nvPr/>
        </p:nvGrpSpPr>
        <p:grpSpPr>
          <a:xfrm>
            <a:off x="16040160" y="99720"/>
            <a:ext cx="3282840" cy="1374120"/>
            <a:chOff x="16040160" y="99720"/>
            <a:chExt cx="3282840" cy="1374120"/>
          </a:xfrm>
        </p:grpSpPr>
        <p:sp>
          <p:nvSpPr>
            <p:cNvPr id="220" name="Google Shape;625;p29"/>
            <p:cNvSpPr/>
            <p:nvPr/>
          </p:nvSpPr>
          <p:spPr>
            <a:xfrm>
              <a:off x="16040160" y="10616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" name="Google Shape;626;p29"/>
            <p:cNvSpPr/>
            <p:nvPr/>
          </p:nvSpPr>
          <p:spPr>
            <a:xfrm>
              <a:off x="16040160" y="5806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" name="Google Shape;627;p29"/>
            <p:cNvSpPr/>
            <p:nvPr/>
          </p:nvSpPr>
          <p:spPr>
            <a:xfrm>
              <a:off x="16040160" y="997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358;p21"/>
          <p:cNvSpPr/>
          <p:nvPr/>
        </p:nvSpPr>
        <p:spPr>
          <a:xfrm rot="10800000">
            <a:off x="-5224320" y="4180680"/>
            <a:ext cx="10450800" cy="10450800"/>
          </a:xfrm>
          <a:custGeom>
            <a:avLst/>
            <a:gdLst>
              <a:gd name="textAreaLeft" fmla="*/ 0 w 10450800"/>
              <a:gd name="textAreaRight" fmla="*/ 1045332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10453178" y="10453178"/>
                </a:moveTo>
                <a:lnTo>
                  <a:pt x="0" y="10453178"/>
                </a:lnTo>
                <a:lnTo>
                  <a:pt x="0" y="0"/>
                </a:lnTo>
                <a:lnTo>
                  <a:pt x="10453178" y="0"/>
                </a:lnTo>
                <a:lnTo>
                  <a:pt x="10453178" y="10453178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4" name="Google Shape;359;p21"/>
          <p:cNvGrpSpPr/>
          <p:nvPr/>
        </p:nvGrpSpPr>
        <p:grpSpPr>
          <a:xfrm>
            <a:off x="12938400" y="-1989000"/>
            <a:ext cx="7282440" cy="7282440"/>
            <a:chOff x="12938400" y="-1989000"/>
            <a:chExt cx="7282440" cy="7282440"/>
          </a:xfrm>
        </p:grpSpPr>
        <p:sp>
          <p:nvSpPr>
            <p:cNvPr id="225" name="Google Shape;360;p21"/>
            <p:cNvSpPr/>
            <p:nvPr/>
          </p:nvSpPr>
          <p:spPr>
            <a:xfrm>
              <a:off x="12938400" y="-1989000"/>
              <a:ext cx="7282440" cy="7282440"/>
            </a:xfrm>
            <a:custGeom>
              <a:avLst/>
              <a:gdLst>
                <a:gd name="textAreaLeft" fmla="*/ 0 w 7282440"/>
                <a:gd name="textAreaRight" fmla="*/ 7284960 w 7282440"/>
                <a:gd name="textAreaTop" fmla="*/ 0 h 7282440"/>
                <a:gd name="textAreaBottom" fmla="*/ 7284960 h 72824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" name="Google Shape;361;p21"/>
            <p:cNvSpPr/>
            <p:nvPr/>
          </p:nvSpPr>
          <p:spPr>
            <a:xfrm>
              <a:off x="13621320" y="-1732680"/>
              <a:ext cx="5916600" cy="6343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7" name="Google Shape;362;p21"/>
          <p:cNvGrpSpPr/>
          <p:nvPr/>
        </p:nvGrpSpPr>
        <p:grpSpPr>
          <a:xfrm>
            <a:off x="15802920" y="3470400"/>
            <a:ext cx="2247480" cy="5366520"/>
            <a:chOff x="15802920" y="3470400"/>
            <a:chExt cx="2247480" cy="5366520"/>
          </a:xfrm>
        </p:grpSpPr>
        <p:sp>
          <p:nvSpPr>
            <p:cNvPr id="228" name="Google Shape;363;p21"/>
            <p:cNvSpPr/>
            <p:nvPr/>
          </p:nvSpPr>
          <p:spPr>
            <a:xfrm rot="16200000">
              <a:off x="1502928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9"/>
                  </a:lnTo>
                  <a:lnTo>
                    <a:pt x="0" y="90375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" name="Google Shape;364;p21"/>
            <p:cNvSpPr/>
            <p:nvPr/>
          </p:nvSpPr>
          <p:spPr>
            <a:xfrm rot="16200000">
              <a:off x="1424304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" name="Google Shape;365;p21"/>
            <p:cNvSpPr/>
            <p:nvPr/>
          </p:nvSpPr>
          <p:spPr>
            <a:xfrm rot="16200000">
              <a:off x="1345716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" name="Google Shape;366;p21"/>
          <p:cNvGrpSpPr/>
          <p:nvPr/>
        </p:nvGrpSpPr>
        <p:grpSpPr>
          <a:xfrm>
            <a:off x="-822960" y="613440"/>
            <a:ext cx="3991680" cy="1671120"/>
            <a:chOff x="-822960" y="613440"/>
            <a:chExt cx="3991680" cy="1671120"/>
          </a:xfrm>
        </p:grpSpPr>
        <p:sp>
          <p:nvSpPr>
            <p:cNvPr id="232" name="Google Shape;367;p21"/>
            <p:cNvSpPr/>
            <p:nvPr/>
          </p:nvSpPr>
          <p:spPr>
            <a:xfrm>
              <a:off x="-822960" y="178272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" name="Google Shape;368;p21"/>
            <p:cNvSpPr/>
            <p:nvPr/>
          </p:nvSpPr>
          <p:spPr>
            <a:xfrm>
              <a:off x="-822960" y="11980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Google Shape;369;p21"/>
            <p:cNvSpPr/>
            <p:nvPr/>
          </p:nvSpPr>
          <p:spPr>
            <a:xfrm>
              <a:off x="-822960" y="61344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235" name="Google Shape;370;p21"/>
          <p:cNvGraphicFramePr/>
          <p:nvPr/>
        </p:nvGraphicFramePr>
        <p:xfrm>
          <a:off x="1360080" y="1450080"/>
          <a:ext cx="15566760" cy="7386480"/>
        </p:xfrm>
        <a:graphic>
          <a:graphicData uri="http://schemas.openxmlformats.org/drawingml/2006/table">
            <a:tbl>
              <a:tblPr/>
              <a:tblGrid>
                <a:gridCol w="7783560"/>
                <a:gridCol w="7783560"/>
              </a:tblGrid>
              <a:tr h="2165760">
                <a:tc gridSpan="2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7536f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</a:tbl>
          </a:graphicData>
        </a:graphic>
      </p:graphicFrame>
      <p:sp>
        <p:nvSpPr>
          <p:cNvPr id="236" name="Google Shape;371;p21"/>
          <p:cNvSpPr/>
          <p:nvPr/>
        </p:nvSpPr>
        <p:spPr>
          <a:xfrm>
            <a:off x="2338200" y="1450080"/>
            <a:ext cx="13608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Цель и задачи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372;p21"/>
          <p:cNvSpPr/>
          <p:nvPr/>
        </p:nvSpPr>
        <p:spPr>
          <a:xfrm>
            <a:off x="3216600" y="3758400"/>
            <a:ext cx="3868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Цель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Google Shape;373;p21"/>
          <p:cNvSpPr/>
          <p:nvPr/>
        </p:nvSpPr>
        <p:spPr>
          <a:xfrm>
            <a:off x="2942640" y="4343400"/>
            <a:ext cx="482796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Генерировать стих и численно оценивать рифму, выбирая лучший из 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Google Shape;374;p21"/>
          <p:cNvSpPr/>
          <p:nvPr/>
        </p:nvSpPr>
        <p:spPr>
          <a:xfrm>
            <a:off x="10972800" y="3758400"/>
            <a:ext cx="4030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Генерация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Google Shape;375;p21"/>
          <p:cNvSpPr/>
          <p:nvPr/>
        </p:nvSpPr>
        <p:spPr>
          <a:xfrm>
            <a:off x="10774440" y="4419000"/>
            <a:ext cx="453996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LLM, best-of-N и проход самокоррекции по фидбэку.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Google Shape;376;p21"/>
          <p:cNvSpPr/>
          <p:nvPr/>
        </p:nvSpPr>
        <p:spPr>
          <a:xfrm>
            <a:off x="3171240" y="6501600"/>
            <a:ext cx="3868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Google Shape;377;p21"/>
          <p:cNvSpPr/>
          <p:nvPr/>
        </p:nvSpPr>
        <p:spPr>
          <a:xfrm>
            <a:off x="11055600" y="6501600"/>
            <a:ext cx="4030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Интерфейс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Google Shape;378;p21"/>
          <p:cNvSpPr/>
          <p:nvPr/>
        </p:nvSpPr>
        <p:spPr>
          <a:xfrm>
            <a:off x="3171240" y="7086600"/>
            <a:ext cx="397764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Детектор рифмы и метрики качества.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379;p21"/>
          <p:cNvSpPr/>
          <p:nvPr/>
        </p:nvSpPr>
        <p:spPr>
          <a:xfrm>
            <a:off x="11003040" y="7062120"/>
            <a:ext cx="453996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Удобный UI с настройками и сохранением сессий.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632;p30"/>
          <p:cNvSpPr/>
          <p:nvPr/>
        </p:nvSpPr>
        <p:spPr>
          <a:xfrm>
            <a:off x="7105680" y="173520"/>
            <a:ext cx="16406640" cy="12591360"/>
          </a:xfrm>
          <a:custGeom>
            <a:avLst/>
            <a:gdLst>
              <a:gd name="textAreaLeft" fmla="*/ 0 w 16406640"/>
              <a:gd name="textAreaRight" fmla="*/ 16409160 w 16406640"/>
              <a:gd name="textAreaTop" fmla="*/ 0 h 12591360"/>
              <a:gd name="textAreaBottom" fmla="*/ 12593880 h 12591360"/>
            </a:gdLst>
            <a:ahLst/>
            <a:rect l="textAreaLeft" t="textAreaTop" r="textAreaRight" b="textAreaBottom"/>
            <a:pathLst>
              <a:path w="16409040" h="12593938">
                <a:moveTo>
                  <a:pt x="0" y="0"/>
                </a:moveTo>
                <a:lnTo>
                  <a:pt x="16409039" y="0"/>
                </a:lnTo>
                <a:lnTo>
                  <a:pt x="16409039" y="12593938"/>
                </a:lnTo>
                <a:lnTo>
                  <a:pt x="0" y="125939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633;p30"/>
          <p:cNvSpPr/>
          <p:nvPr/>
        </p:nvSpPr>
        <p:spPr>
          <a:xfrm>
            <a:off x="-2954520" y="-2872800"/>
            <a:ext cx="10817640" cy="10848960"/>
          </a:xfrm>
          <a:custGeom>
            <a:avLst/>
            <a:gdLst>
              <a:gd name="textAreaLeft" fmla="*/ 0 w 10817640"/>
              <a:gd name="textAreaRight" fmla="*/ 10820160 w 10817640"/>
              <a:gd name="textAreaTop" fmla="*/ 0 h 10848960"/>
              <a:gd name="textAreaBottom" fmla="*/ 10851480 h 108489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e30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Google Shape;634;p30"/>
          <p:cNvSpPr/>
          <p:nvPr/>
        </p:nvSpPr>
        <p:spPr>
          <a:xfrm flipH="1" rot="10800000">
            <a:off x="13061520" y="2292480"/>
            <a:ext cx="10450800" cy="10450800"/>
          </a:xfrm>
          <a:custGeom>
            <a:avLst/>
            <a:gdLst>
              <a:gd name="textAreaLeft" fmla="*/ 1440 w 10450800"/>
              <a:gd name="textAreaRight" fmla="*/ 1045476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8" name="Google Shape;635;p30"/>
          <p:cNvGrpSpPr/>
          <p:nvPr/>
        </p:nvGrpSpPr>
        <p:grpSpPr>
          <a:xfrm>
            <a:off x="1534320" y="2385360"/>
            <a:ext cx="15216840" cy="5514120"/>
            <a:chOff x="1534320" y="2385360"/>
            <a:chExt cx="15216840" cy="5514120"/>
          </a:xfrm>
        </p:grpSpPr>
        <p:sp>
          <p:nvSpPr>
            <p:cNvPr id="249" name="Google Shape;636;p30"/>
            <p:cNvSpPr/>
            <p:nvPr/>
          </p:nvSpPr>
          <p:spPr>
            <a:xfrm>
              <a:off x="1534320" y="2688120"/>
              <a:ext cx="15216840" cy="5211000"/>
            </a:xfrm>
            <a:custGeom>
              <a:avLst/>
              <a:gdLst>
                <a:gd name="textAreaLeft" fmla="*/ 0 w 15216840"/>
                <a:gd name="textAreaRight" fmla="*/ 15219360 w 15216840"/>
                <a:gd name="textAreaTop" fmla="*/ 0 h 5211000"/>
                <a:gd name="textAreaBottom" fmla="*/ 5213520 h 5211000"/>
              </a:gdLst>
              <a:ahLst/>
              <a:rect l="textAreaLeft" t="textAreaTop" r="textAreaRight" b="textAreaBottom"/>
              <a:pathLst>
                <a:path w="2392440" h="819571">
                  <a:moveTo>
                    <a:pt x="0" y="0"/>
                  </a:moveTo>
                  <a:lnTo>
                    <a:pt x="2392440" y="0"/>
                  </a:lnTo>
                  <a:lnTo>
                    <a:pt x="2392440" y="819571"/>
                  </a:lnTo>
                  <a:lnTo>
                    <a:pt x="0" y="819571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Google Shape;637;p30"/>
            <p:cNvSpPr/>
            <p:nvPr/>
          </p:nvSpPr>
          <p:spPr>
            <a:xfrm>
              <a:off x="1534320" y="2385360"/>
              <a:ext cx="15216840" cy="551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51" name="Google Shape;638;p30"/>
          <p:cNvSpPr/>
          <p:nvPr/>
        </p:nvSpPr>
        <p:spPr>
          <a:xfrm>
            <a:off x="-1058400" y="2697120"/>
            <a:ext cx="2034612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8800" spc="-1" strike="noStrike">
                <a:solidFill>
                  <a:srgbClr val="000000"/>
                </a:solidFill>
                <a:latin typeface="Bungee"/>
                <a:ea typeface="Bungee"/>
              </a:rPr>
              <a:t>Ценность и применимость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Google Shape;639;p30"/>
          <p:cNvSpPr/>
          <p:nvPr/>
        </p:nvSpPr>
        <p:spPr>
          <a:xfrm>
            <a:off x="2971800" y="4572000"/>
            <a:ext cx="15463080" cy="23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Помощник поэта и редактор стихов. Удобная подсветка рифм,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автоопределение размеров, сессии;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Образование: наглядная фонетика и стиховедение;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Платформа для объективной оценки генеративных моделей на поэзии.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Google Shape;640;p30"/>
          <p:cNvSpPr/>
          <p:nvPr/>
        </p:nvSpPr>
        <p:spPr>
          <a:xfrm>
            <a:off x="-274320" y="879840"/>
            <a:ext cx="3614760" cy="3614760"/>
          </a:xfrm>
          <a:custGeom>
            <a:avLst/>
            <a:gdLst>
              <a:gd name="textAreaLeft" fmla="*/ 0 w 3614760"/>
              <a:gd name="textAreaRight" fmla="*/ 3617280 w 3614760"/>
              <a:gd name="textAreaTop" fmla="*/ 0 h 3614760"/>
              <a:gd name="textAreaBottom" fmla="*/ 3617280 h 3614760"/>
            </a:gdLst>
            <a:ahLst/>
            <a:rect l="textAreaLeft" t="textAreaTop" r="textAreaRight" b="textAreaBottom"/>
            <a:pathLst>
              <a:path w="3617120" h="3617120">
                <a:moveTo>
                  <a:pt x="0" y="0"/>
                </a:moveTo>
                <a:lnTo>
                  <a:pt x="3617121" y="0"/>
                </a:lnTo>
                <a:lnTo>
                  <a:pt x="3617121" y="3617120"/>
                </a:lnTo>
                <a:lnTo>
                  <a:pt x="0" y="36171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4" name="Google Shape;641;p30"/>
          <p:cNvGrpSpPr/>
          <p:nvPr/>
        </p:nvGrpSpPr>
        <p:grpSpPr>
          <a:xfrm>
            <a:off x="7542000" y="7402320"/>
            <a:ext cx="892080" cy="944280"/>
            <a:chOff x="7542000" y="7402320"/>
            <a:chExt cx="892080" cy="944280"/>
          </a:xfrm>
        </p:grpSpPr>
        <p:sp>
          <p:nvSpPr>
            <p:cNvPr id="255" name="Google Shape;642;p30"/>
            <p:cNvSpPr/>
            <p:nvPr/>
          </p:nvSpPr>
          <p:spPr>
            <a:xfrm>
              <a:off x="754200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" name="Google Shape;643;p30"/>
            <p:cNvSpPr/>
            <p:nvPr/>
          </p:nvSpPr>
          <p:spPr>
            <a:xfrm>
              <a:off x="754200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57" name="Google Shape;644;p30"/>
          <p:cNvGrpSpPr/>
          <p:nvPr/>
        </p:nvGrpSpPr>
        <p:grpSpPr>
          <a:xfrm>
            <a:off x="8696880" y="7402320"/>
            <a:ext cx="892080" cy="944280"/>
            <a:chOff x="8696880" y="7402320"/>
            <a:chExt cx="892080" cy="944280"/>
          </a:xfrm>
        </p:grpSpPr>
        <p:sp>
          <p:nvSpPr>
            <p:cNvPr id="258" name="Google Shape;645;p30"/>
            <p:cNvSpPr/>
            <p:nvPr/>
          </p:nvSpPr>
          <p:spPr>
            <a:xfrm>
              <a:off x="869688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Google Shape;646;p30"/>
            <p:cNvSpPr/>
            <p:nvPr/>
          </p:nvSpPr>
          <p:spPr>
            <a:xfrm>
              <a:off x="869688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60" name="Google Shape;647;p30"/>
          <p:cNvGrpSpPr/>
          <p:nvPr/>
        </p:nvGrpSpPr>
        <p:grpSpPr>
          <a:xfrm>
            <a:off x="9851400" y="7402320"/>
            <a:ext cx="892080" cy="944280"/>
            <a:chOff x="9851400" y="7402320"/>
            <a:chExt cx="892080" cy="944280"/>
          </a:xfrm>
        </p:grpSpPr>
        <p:sp>
          <p:nvSpPr>
            <p:cNvPr id="261" name="Google Shape;648;p30"/>
            <p:cNvSpPr/>
            <p:nvPr/>
          </p:nvSpPr>
          <p:spPr>
            <a:xfrm>
              <a:off x="985140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" name="Google Shape;649;p30"/>
            <p:cNvSpPr/>
            <p:nvPr/>
          </p:nvSpPr>
          <p:spPr>
            <a:xfrm>
              <a:off x="985140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3" name="Google Shape;650;p30"/>
          <p:cNvSpPr/>
          <p:nvPr/>
        </p:nvSpPr>
        <p:spPr>
          <a:xfrm>
            <a:off x="5856840" y="9300600"/>
            <a:ext cx="2837160" cy="539640"/>
          </a:xfrm>
          <a:custGeom>
            <a:avLst/>
            <a:gdLst>
              <a:gd name="textAreaLeft" fmla="*/ 0 w 2837160"/>
              <a:gd name="textAreaRight" fmla="*/ 2839680 w 2837160"/>
              <a:gd name="textAreaTop" fmla="*/ 0 h 539640"/>
              <a:gd name="textAreaBottom" fmla="*/ 542160 h 53964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651;p30"/>
          <p:cNvSpPr/>
          <p:nvPr/>
        </p:nvSpPr>
        <p:spPr>
          <a:xfrm>
            <a:off x="5856840" y="8673840"/>
            <a:ext cx="2837160" cy="539640"/>
          </a:xfrm>
          <a:custGeom>
            <a:avLst/>
            <a:gdLst>
              <a:gd name="textAreaLeft" fmla="*/ 0 w 2837160"/>
              <a:gd name="textAreaRight" fmla="*/ 2839680 w 2837160"/>
              <a:gd name="textAreaTop" fmla="*/ 0 h 539640"/>
              <a:gd name="textAreaBottom" fmla="*/ 542160 h 53964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5" name="Google Shape;652;p30"/>
          <p:cNvGrpSpPr/>
          <p:nvPr/>
        </p:nvGrpSpPr>
        <p:grpSpPr>
          <a:xfrm>
            <a:off x="12510360" y="615600"/>
            <a:ext cx="3282840" cy="1374120"/>
            <a:chOff x="12510360" y="615600"/>
            <a:chExt cx="3282840" cy="1374120"/>
          </a:xfrm>
        </p:grpSpPr>
        <p:sp>
          <p:nvSpPr>
            <p:cNvPr id="266" name="Google Shape;653;p30"/>
            <p:cNvSpPr/>
            <p:nvPr/>
          </p:nvSpPr>
          <p:spPr>
            <a:xfrm>
              <a:off x="12510360" y="15775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" name="Google Shape;654;p30"/>
            <p:cNvSpPr/>
            <p:nvPr/>
          </p:nvSpPr>
          <p:spPr>
            <a:xfrm>
              <a:off x="12510360" y="109656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655;p30"/>
            <p:cNvSpPr/>
            <p:nvPr/>
          </p:nvSpPr>
          <p:spPr>
            <a:xfrm>
              <a:off x="12510360" y="6156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324;p20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Google Shape;325;p20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Google Shape;326;p20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Google Shape;327;p20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Google Shape;328;p20"/>
          <p:cNvSpPr/>
          <p:nvPr/>
        </p:nvSpPr>
        <p:spPr>
          <a:xfrm rot="16200000">
            <a:off x="1008468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4" name="Google Shape;329;p20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275" name="Google Shape;330;p20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" name="Google Shape;331;p20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77" name="Google Shape;332;p20"/>
          <p:cNvGrpSpPr/>
          <p:nvPr/>
        </p:nvGrpSpPr>
        <p:grpSpPr>
          <a:xfrm>
            <a:off x="6856560" y="2235240"/>
            <a:ext cx="4727160" cy="3962520"/>
            <a:chOff x="6856560" y="2235240"/>
            <a:chExt cx="4727160" cy="3962520"/>
          </a:xfrm>
        </p:grpSpPr>
        <p:sp>
          <p:nvSpPr>
            <p:cNvPr id="278" name="Google Shape;333;p20"/>
            <p:cNvSpPr/>
            <p:nvPr/>
          </p:nvSpPr>
          <p:spPr>
            <a:xfrm>
              <a:off x="6856560" y="2235240"/>
              <a:ext cx="4727160" cy="3962520"/>
            </a:xfrm>
            <a:custGeom>
              <a:avLst/>
              <a:gdLst>
                <a:gd name="textAreaLeft" fmla="*/ 0 w 4727160"/>
                <a:gd name="textAreaRight" fmla="*/ 4729680 w 47271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9" name="Google Shape;334;p20"/>
            <p:cNvSpPr/>
            <p:nvPr/>
          </p:nvSpPr>
          <p:spPr>
            <a:xfrm>
              <a:off x="7299720" y="2263320"/>
              <a:ext cx="384048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02.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280" name="Google Shape;335;p20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281" name="Google Shape;336;p20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282" name="Google Shape;337;p20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3" name="Google Shape;338;p20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84" name="Google Shape;339;p20"/>
          <p:cNvSpPr/>
          <p:nvPr/>
        </p:nvSpPr>
        <p:spPr>
          <a:xfrm>
            <a:off x="3745800" y="4841640"/>
            <a:ext cx="10803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Как это работает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Google Shape;340;p20"/>
          <p:cNvSpPr/>
          <p:nvPr/>
        </p:nvSpPr>
        <p:spPr>
          <a:xfrm>
            <a:off x="4303440" y="6629400"/>
            <a:ext cx="9868320" cy="12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 целиком, авторский алгоритм и сравнение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Google Shape;341;p20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Google Shape;342;p20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Google Shape;343;p20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9" name="Google Shape;344;p20"/>
          <p:cNvGrpSpPr/>
          <p:nvPr/>
        </p:nvGrpSpPr>
        <p:grpSpPr>
          <a:xfrm>
            <a:off x="8709840" y="2505240"/>
            <a:ext cx="865800" cy="865800"/>
            <a:chOff x="8709840" y="2505240"/>
            <a:chExt cx="865800" cy="865800"/>
          </a:xfrm>
        </p:grpSpPr>
        <p:sp>
          <p:nvSpPr>
            <p:cNvPr id="290" name="Google Shape;345;p20"/>
            <p:cNvSpPr/>
            <p:nvPr/>
          </p:nvSpPr>
          <p:spPr>
            <a:xfrm>
              <a:off x="8709840" y="250524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" name="Google Shape;346;p20"/>
            <p:cNvSpPr/>
            <p:nvPr/>
          </p:nvSpPr>
          <p:spPr>
            <a:xfrm>
              <a:off x="8791200" y="253584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92" name="Google Shape;347;p20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293" name="Google Shape;348;p20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4" name="Google Shape;349;p20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95" name="Google Shape;350;p20"/>
          <p:cNvGrpSpPr/>
          <p:nvPr/>
        </p:nvGrpSpPr>
        <p:grpSpPr>
          <a:xfrm>
            <a:off x="1650960" y="7765920"/>
            <a:ext cx="3282840" cy="1374120"/>
            <a:chOff x="1650960" y="7765920"/>
            <a:chExt cx="3282840" cy="1374120"/>
          </a:xfrm>
        </p:grpSpPr>
        <p:sp>
          <p:nvSpPr>
            <p:cNvPr id="296" name="Google Shape;351;p20"/>
            <p:cNvSpPr/>
            <p:nvPr/>
          </p:nvSpPr>
          <p:spPr>
            <a:xfrm>
              <a:off x="1650960" y="87278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" name="Google Shape;352;p20"/>
            <p:cNvSpPr/>
            <p:nvPr/>
          </p:nvSpPr>
          <p:spPr>
            <a:xfrm>
              <a:off x="1650960" y="82468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" name="Google Shape;353;p20"/>
            <p:cNvSpPr/>
            <p:nvPr/>
          </p:nvSpPr>
          <p:spPr>
            <a:xfrm>
              <a:off x="1650960" y="77659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436;p24"/>
          <p:cNvSpPr/>
          <p:nvPr/>
        </p:nvSpPr>
        <p:spPr>
          <a:xfrm>
            <a:off x="-1286640" y="-7313400"/>
            <a:ext cx="25324560" cy="17789760"/>
          </a:xfrm>
          <a:custGeom>
            <a:avLst/>
            <a:gdLst>
              <a:gd name="textAreaLeft" fmla="*/ 0 w 25324560"/>
              <a:gd name="textAreaRight" fmla="*/ 25327080 w 25324560"/>
              <a:gd name="textAreaTop" fmla="*/ 0 h 17789760"/>
              <a:gd name="textAreaBottom" fmla="*/ 17792280 h 1778976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00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Токенизация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1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Нормализация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2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Слогораздел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3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Векторизация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Google Shape;441;p24"/>
          <p:cNvSpPr/>
          <p:nvPr/>
        </p:nvSpPr>
        <p:spPr>
          <a:xfrm>
            <a:off x="601560" y="3542400"/>
            <a:ext cx="36835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Текст делим на строки, слова и знаки — базовые единицы анализа.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Google Shape;442;p24"/>
          <p:cNvSpPr/>
          <p:nvPr/>
        </p:nvSpPr>
        <p:spPr>
          <a:xfrm>
            <a:off x="5134320" y="3542400"/>
            <a:ext cx="35722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Нижний регистр, чистка пунктуации; исходный вид сохраняем для показа.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Google Shape;443;p24"/>
          <p:cNvSpPr/>
          <p:nvPr/>
        </p:nvSpPr>
        <p:spPr>
          <a:xfrm>
            <a:off x="9614880" y="3542400"/>
            <a:ext cx="35215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Слова разбиваем на слоги — базовую единицу рифмы и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Google Shape;444;p24"/>
          <p:cNvSpPr/>
          <p:nvPr/>
        </p:nvSpPr>
        <p:spPr>
          <a:xfrm>
            <a:off x="14085000" y="3542400"/>
            <a:ext cx="35168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Как в NLP (Word2Vec, FastText, BERT), но слог → вектор фонетических признаков.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08" name="Google Shape;445;p24"/>
          <p:cNvGrpSpPr/>
          <p:nvPr/>
        </p:nvGrpSpPr>
        <p:grpSpPr>
          <a:xfrm>
            <a:off x="2079000" y="8849520"/>
            <a:ext cx="729000" cy="772200"/>
            <a:chOff x="2079000" y="8849520"/>
            <a:chExt cx="729000" cy="772200"/>
          </a:xfrm>
        </p:grpSpPr>
        <p:sp>
          <p:nvSpPr>
            <p:cNvPr id="309" name="Google Shape;446;p24"/>
            <p:cNvSpPr/>
            <p:nvPr/>
          </p:nvSpPr>
          <p:spPr>
            <a:xfrm>
              <a:off x="207900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0" name="Google Shape;447;p24"/>
            <p:cNvSpPr/>
            <p:nvPr/>
          </p:nvSpPr>
          <p:spPr>
            <a:xfrm>
              <a:off x="207900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1" name="Google Shape;448;p24"/>
          <p:cNvGrpSpPr/>
          <p:nvPr/>
        </p:nvGrpSpPr>
        <p:grpSpPr>
          <a:xfrm>
            <a:off x="6545160" y="8849520"/>
            <a:ext cx="729000" cy="772200"/>
            <a:chOff x="6545160" y="8849520"/>
            <a:chExt cx="729000" cy="772200"/>
          </a:xfrm>
        </p:grpSpPr>
        <p:sp>
          <p:nvSpPr>
            <p:cNvPr id="312" name="Google Shape;449;p24"/>
            <p:cNvSpPr/>
            <p:nvPr/>
          </p:nvSpPr>
          <p:spPr>
            <a:xfrm>
              <a:off x="654516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3" name="Google Shape;450;p24"/>
            <p:cNvSpPr/>
            <p:nvPr/>
          </p:nvSpPr>
          <p:spPr>
            <a:xfrm>
              <a:off x="654516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4" name="Google Shape;451;p24"/>
          <p:cNvGrpSpPr/>
          <p:nvPr/>
        </p:nvGrpSpPr>
        <p:grpSpPr>
          <a:xfrm>
            <a:off x="11011320" y="8849520"/>
            <a:ext cx="729000" cy="772200"/>
            <a:chOff x="11011320" y="8849520"/>
            <a:chExt cx="729000" cy="772200"/>
          </a:xfrm>
        </p:grpSpPr>
        <p:sp>
          <p:nvSpPr>
            <p:cNvPr id="315" name="Google Shape;452;p24"/>
            <p:cNvSpPr/>
            <p:nvPr/>
          </p:nvSpPr>
          <p:spPr>
            <a:xfrm>
              <a:off x="1101132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6" name="Google Shape;453;p24"/>
            <p:cNvSpPr/>
            <p:nvPr/>
          </p:nvSpPr>
          <p:spPr>
            <a:xfrm>
              <a:off x="1101132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7" name="Google Shape;454;p24"/>
          <p:cNvGrpSpPr/>
          <p:nvPr/>
        </p:nvGrpSpPr>
        <p:grpSpPr>
          <a:xfrm>
            <a:off x="15477480" y="8849520"/>
            <a:ext cx="729000" cy="772200"/>
            <a:chOff x="15477480" y="8849520"/>
            <a:chExt cx="729000" cy="772200"/>
          </a:xfrm>
        </p:grpSpPr>
        <p:sp>
          <p:nvSpPr>
            <p:cNvPr id="318" name="Google Shape;455;p24"/>
            <p:cNvSpPr/>
            <p:nvPr/>
          </p:nvSpPr>
          <p:spPr>
            <a:xfrm>
              <a:off x="1547748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" name="Google Shape;456;p24"/>
            <p:cNvSpPr/>
            <p:nvPr/>
          </p:nvSpPr>
          <p:spPr>
            <a:xfrm>
              <a:off x="1547748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20" name="Google Shape;371;p21"/>
          <p:cNvSpPr/>
          <p:nvPr/>
        </p:nvSpPr>
        <p:spPr>
          <a:xfrm>
            <a:off x="640080" y="137160"/>
            <a:ext cx="1645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Подготовка текста к анализу — классический этап NLP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436;p24"/>
          <p:cNvSpPr/>
          <p:nvPr/>
        </p:nvSpPr>
        <p:spPr>
          <a:xfrm>
            <a:off x="-1286640" y="-7313400"/>
            <a:ext cx="25324560" cy="17789760"/>
          </a:xfrm>
          <a:custGeom>
            <a:avLst/>
            <a:gdLst>
              <a:gd name="textAreaLeft" fmla="*/ 0 w 25324560"/>
              <a:gd name="textAreaRight" fmla="*/ 25327080 w 25324560"/>
              <a:gd name="textAreaTop" fmla="*/ 0 h 17789760"/>
              <a:gd name="textAreaBottom" fmla="*/ 17792280 h 1778976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22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Поток волн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3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Потенциал Юкавы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4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Резонанс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5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Группы рифм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441;p24"/>
          <p:cNvSpPr/>
          <p:nvPr/>
        </p:nvSpPr>
        <p:spPr>
          <a:xfrm>
            <a:off x="601560" y="3542400"/>
            <a:ext cx="36835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Стих — поток волн; каждый слог излучает поле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Google Shape;442;p24"/>
          <p:cNvSpPr/>
          <p:nvPr/>
        </p:nvSpPr>
        <p:spPr>
          <a:xfrm>
            <a:off x="5134320" y="3542400"/>
            <a:ext cx="35722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Связь слогов гаснет с расстоянием: K(d)=e^(−λd)/d (экранирование).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Google Shape;443;p24"/>
          <p:cNvSpPr/>
          <p:nvPr/>
        </p:nvSpPr>
        <p:spPr>
          <a:xfrm>
            <a:off x="9614880" y="3542400"/>
            <a:ext cx="35215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Общие созвучные «соседи» усиливают связь — волны складываются.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Google Shape;444;p24"/>
          <p:cNvSpPr/>
          <p:nvPr/>
        </p:nvSpPr>
        <p:spPr>
          <a:xfrm>
            <a:off x="14085000" y="3542400"/>
            <a:ext cx="35168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Схожесть слогов — косинус фонетических векторов; сильные связи → группы рифм.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30" name="Google Shape;445;p24"/>
          <p:cNvGrpSpPr/>
          <p:nvPr/>
        </p:nvGrpSpPr>
        <p:grpSpPr>
          <a:xfrm>
            <a:off x="2079000" y="8849520"/>
            <a:ext cx="729000" cy="772200"/>
            <a:chOff x="2079000" y="8849520"/>
            <a:chExt cx="729000" cy="772200"/>
          </a:xfrm>
        </p:grpSpPr>
        <p:sp>
          <p:nvSpPr>
            <p:cNvPr id="331" name="Google Shape;446;p24"/>
            <p:cNvSpPr/>
            <p:nvPr/>
          </p:nvSpPr>
          <p:spPr>
            <a:xfrm>
              <a:off x="207900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2" name="Google Shape;447;p24"/>
            <p:cNvSpPr/>
            <p:nvPr/>
          </p:nvSpPr>
          <p:spPr>
            <a:xfrm>
              <a:off x="207900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3" name="Google Shape;448;p24"/>
          <p:cNvGrpSpPr/>
          <p:nvPr/>
        </p:nvGrpSpPr>
        <p:grpSpPr>
          <a:xfrm>
            <a:off x="6545160" y="8849520"/>
            <a:ext cx="729000" cy="772200"/>
            <a:chOff x="6545160" y="8849520"/>
            <a:chExt cx="729000" cy="772200"/>
          </a:xfrm>
        </p:grpSpPr>
        <p:sp>
          <p:nvSpPr>
            <p:cNvPr id="334" name="Google Shape;449;p24"/>
            <p:cNvSpPr/>
            <p:nvPr/>
          </p:nvSpPr>
          <p:spPr>
            <a:xfrm>
              <a:off x="654516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5" name="Google Shape;450;p24"/>
            <p:cNvSpPr/>
            <p:nvPr/>
          </p:nvSpPr>
          <p:spPr>
            <a:xfrm>
              <a:off x="654516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6" name="Google Shape;451;p24"/>
          <p:cNvGrpSpPr/>
          <p:nvPr/>
        </p:nvGrpSpPr>
        <p:grpSpPr>
          <a:xfrm>
            <a:off x="11011320" y="8849520"/>
            <a:ext cx="729000" cy="772200"/>
            <a:chOff x="11011320" y="8849520"/>
            <a:chExt cx="729000" cy="772200"/>
          </a:xfrm>
        </p:grpSpPr>
        <p:sp>
          <p:nvSpPr>
            <p:cNvPr id="337" name="Google Shape;452;p24"/>
            <p:cNvSpPr/>
            <p:nvPr/>
          </p:nvSpPr>
          <p:spPr>
            <a:xfrm>
              <a:off x="1101132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8" name="Google Shape;453;p24"/>
            <p:cNvSpPr/>
            <p:nvPr/>
          </p:nvSpPr>
          <p:spPr>
            <a:xfrm>
              <a:off x="1101132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9" name="Google Shape;454;p24"/>
          <p:cNvGrpSpPr/>
          <p:nvPr/>
        </p:nvGrpSpPr>
        <p:grpSpPr>
          <a:xfrm>
            <a:off x="15477480" y="8849520"/>
            <a:ext cx="729000" cy="772200"/>
            <a:chOff x="15477480" y="8849520"/>
            <a:chExt cx="729000" cy="772200"/>
          </a:xfrm>
        </p:grpSpPr>
        <p:sp>
          <p:nvSpPr>
            <p:cNvPr id="340" name="Google Shape;455;p24"/>
            <p:cNvSpPr/>
            <p:nvPr/>
          </p:nvSpPr>
          <p:spPr>
            <a:xfrm>
              <a:off x="1547748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1" name="Google Shape;456;p24"/>
            <p:cNvSpPr/>
            <p:nvPr/>
          </p:nvSpPr>
          <p:spPr>
            <a:xfrm>
              <a:off x="1547748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42" name="Google Shape;371;p21"/>
          <p:cNvSpPr/>
          <p:nvPr/>
        </p:nvSpPr>
        <p:spPr>
          <a:xfrm>
            <a:off x="640080" y="137160"/>
            <a:ext cx="1645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Авторский алгоритм: рифма как затухание слоговых волн (потенциал Юкавы)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536;p27"/>
          <p:cNvSpPr/>
          <p:nvPr/>
        </p:nvSpPr>
        <p:spPr>
          <a:xfrm rot="10800000">
            <a:off x="-4591440" y="-1717920"/>
            <a:ext cx="9185040" cy="9185040"/>
          </a:xfrm>
          <a:custGeom>
            <a:avLst/>
            <a:gdLst>
              <a:gd name="textAreaLeft" fmla="*/ 0 w 9185040"/>
              <a:gd name="textAreaRight" fmla="*/ 918756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9187488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8" y="0"/>
                </a:lnTo>
                <a:lnTo>
                  <a:pt x="9187488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Google Shape;537;p27"/>
          <p:cNvSpPr/>
          <p:nvPr/>
        </p:nvSpPr>
        <p:spPr>
          <a:xfrm>
            <a:off x="16702200" y="5987880"/>
            <a:ext cx="3168720" cy="6306120"/>
          </a:xfrm>
          <a:custGeom>
            <a:avLst/>
            <a:gdLst>
              <a:gd name="textAreaLeft" fmla="*/ 0 w 3168720"/>
              <a:gd name="textAreaRight" fmla="*/ 3171240 w 3168720"/>
              <a:gd name="textAreaTop" fmla="*/ 0 h 6306120"/>
              <a:gd name="textAreaBottom" fmla="*/ 6308640 h 6306120"/>
            </a:gdLst>
            <a:ahLst/>
            <a:rect l="textAreaLeft" t="textAreaTop" r="textAreaRight" b="textAreaBottom"/>
            <a:pathLst>
              <a:path w="3171388" h="6308811">
                <a:moveTo>
                  <a:pt x="0" y="0"/>
                </a:moveTo>
                <a:lnTo>
                  <a:pt x="3171388" y="0"/>
                </a:lnTo>
                <a:lnTo>
                  <a:pt x="3171388" y="6308812"/>
                </a:lnTo>
                <a:lnTo>
                  <a:pt x="0" y="63088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45" name="Google Shape;538;p27"/>
          <p:cNvGrpSpPr/>
          <p:nvPr/>
        </p:nvGrpSpPr>
        <p:grpSpPr>
          <a:xfrm>
            <a:off x="757800" y="441360"/>
            <a:ext cx="8383680" cy="4213800"/>
            <a:chOff x="757800" y="441360"/>
            <a:chExt cx="8383680" cy="4213800"/>
          </a:xfrm>
        </p:grpSpPr>
        <p:sp>
          <p:nvSpPr>
            <p:cNvPr id="346" name="Google Shape;539;p27"/>
            <p:cNvSpPr/>
            <p:nvPr/>
          </p:nvSpPr>
          <p:spPr>
            <a:xfrm>
              <a:off x="757800" y="637560"/>
              <a:ext cx="8383680" cy="4017600"/>
            </a:xfrm>
            <a:custGeom>
              <a:avLst/>
              <a:gdLst>
                <a:gd name="textAreaLeft" fmla="*/ 0 w 8383680"/>
                <a:gd name="textAreaRight" fmla="*/ 8386200 w 8383680"/>
                <a:gd name="textAreaTop" fmla="*/ 0 h 4017600"/>
                <a:gd name="textAreaBottom" fmla="*/ 4020120 h 401760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7" name="Google Shape;540;p27"/>
            <p:cNvSpPr/>
            <p:nvPr/>
          </p:nvSpPr>
          <p:spPr>
            <a:xfrm>
              <a:off x="757800" y="441360"/>
              <a:ext cx="8383680" cy="421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48" name="Google Shape;541;p27" descr=""/>
          <p:cNvPicPr/>
          <p:nvPr/>
        </p:nvPicPr>
        <p:blipFill>
          <a:blip r:embed="rId3"/>
          <a:srcRect l="0" t="16796" r="0" b="16796"/>
          <a:stretch/>
        </p:blipFill>
        <p:spPr>
          <a:xfrm>
            <a:off x="1034280" y="915120"/>
            <a:ext cx="7830360" cy="3462840"/>
          </a:xfrm>
          <a:prstGeom prst="rect">
            <a:avLst/>
          </a:prstGeom>
          <a:ln w="0">
            <a:noFill/>
          </a:ln>
        </p:spPr>
      </p:pic>
      <p:grpSp>
        <p:nvGrpSpPr>
          <p:cNvPr id="349" name="Google Shape;542;p27"/>
          <p:cNvGrpSpPr/>
          <p:nvPr/>
        </p:nvGrpSpPr>
        <p:grpSpPr>
          <a:xfrm>
            <a:off x="9372600" y="1692360"/>
            <a:ext cx="8310960" cy="1302120"/>
            <a:chOff x="9372600" y="1692360"/>
            <a:chExt cx="8310960" cy="1302120"/>
          </a:xfrm>
        </p:grpSpPr>
        <p:sp>
          <p:nvSpPr>
            <p:cNvPr id="350" name="Google Shape;543;p27"/>
            <p:cNvSpPr/>
            <p:nvPr/>
          </p:nvSpPr>
          <p:spPr>
            <a:xfrm>
              <a:off x="9372600" y="1803600"/>
              <a:ext cx="8310960" cy="1190520"/>
            </a:xfrm>
            <a:custGeom>
              <a:avLst/>
              <a:gdLst>
                <a:gd name="textAreaLeft" fmla="*/ 0 w 8310960"/>
                <a:gd name="textAreaRight" fmla="*/ 8313480 w 831096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1" name="Google Shape;544;p27"/>
            <p:cNvSpPr/>
            <p:nvPr/>
          </p:nvSpPr>
          <p:spPr>
            <a:xfrm>
              <a:off x="9372600" y="1692360"/>
              <a:ext cx="831096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52" name="Google Shape;545;p27"/>
          <p:cNvSpPr/>
          <p:nvPr/>
        </p:nvSpPr>
        <p:spPr>
          <a:xfrm>
            <a:off x="9372600" y="1142640"/>
            <a:ext cx="8868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алгоритм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53" name="Google Shape;546;p27"/>
          <p:cNvGrpSpPr/>
          <p:nvPr/>
        </p:nvGrpSpPr>
        <p:grpSpPr>
          <a:xfrm>
            <a:off x="757800" y="5260680"/>
            <a:ext cx="8383680" cy="4213800"/>
            <a:chOff x="757800" y="5260680"/>
            <a:chExt cx="8383680" cy="4213800"/>
          </a:xfrm>
        </p:grpSpPr>
        <p:sp>
          <p:nvSpPr>
            <p:cNvPr id="354" name="Google Shape;547;p27"/>
            <p:cNvSpPr/>
            <p:nvPr/>
          </p:nvSpPr>
          <p:spPr>
            <a:xfrm>
              <a:off x="757800" y="5456880"/>
              <a:ext cx="8383680" cy="4017600"/>
            </a:xfrm>
            <a:custGeom>
              <a:avLst/>
              <a:gdLst>
                <a:gd name="textAreaLeft" fmla="*/ 0 w 8383680"/>
                <a:gd name="textAreaRight" fmla="*/ 8386200 w 8383680"/>
                <a:gd name="textAreaTop" fmla="*/ 0 h 4017600"/>
                <a:gd name="textAreaBottom" fmla="*/ 4020120 h 401760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5" name="Google Shape;548;p27"/>
            <p:cNvSpPr/>
            <p:nvPr/>
          </p:nvSpPr>
          <p:spPr>
            <a:xfrm>
              <a:off x="757800" y="5260680"/>
              <a:ext cx="8383680" cy="421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56" name="Google Shape;549;p27" descr=""/>
          <p:cNvPicPr/>
          <p:nvPr/>
        </p:nvPicPr>
        <p:blipFill>
          <a:blip r:embed="rId4"/>
          <a:srcRect l="0" t="16838" r="0" b="16838"/>
          <a:stretch/>
        </p:blipFill>
        <p:spPr>
          <a:xfrm>
            <a:off x="1034280" y="5734440"/>
            <a:ext cx="7830360" cy="3462840"/>
          </a:xfrm>
          <a:prstGeom prst="rect">
            <a:avLst/>
          </a:prstGeom>
          <a:ln w="0">
            <a:noFill/>
          </a:ln>
        </p:spPr>
      </p:pic>
      <p:sp>
        <p:nvSpPr>
          <p:cNvPr id="357" name="Google Shape;550;p27"/>
          <p:cNvSpPr/>
          <p:nvPr/>
        </p:nvSpPr>
        <p:spPr>
          <a:xfrm>
            <a:off x="9829800" y="34290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Разметка ударений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Google Shape;551;p27"/>
          <p:cNvSpPr/>
          <p:nvPr/>
        </p:nvSpPr>
        <p:spPr>
          <a:xfrm>
            <a:off x="9829800" y="52578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Размер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Google Shape;552;p27"/>
          <p:cNvSpPr/>
          <p:nvPr/>
        </p:nvSpPr>
        <p:spPr>
          <a:xfrm>
            <a:off x="9874800" y="70866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Схема и score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Google Shape;553;p27"/>
          <p:cNvSpPr/>
          <p:nvPr/>
        </p:nvSpPr>
        <p:spPr>
          <a:xfrm>
            <a:off x="9874800" y="845496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Точность по схеме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Google Shape;554;p27"/>
          <p:cNvSpPr/>
          <p:nvPr/>
        </p:nvSpPr>
        <p:spPr>
          <a:xfrm>
            <a:off x="9829800" y="4114800"/>
            <a:ext cx="780876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Готовая модель скансии размечает ударения по словам (align).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Google Shape;555;p27"/>
          <p:cNvSpPr/>
          <p:nvPr/>
        </p:nvSpPr>
        <p:spPr>
          <a:xfrm>
            <a:off x="9829800" y="5987880"/>
            <a:ext cx="780876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Определяет стихотворный размер: ямб, хорей, дактиль…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Google Shape;556;p27"/>
          <p:cNvSpPr/>
          <p:nvPr/>
        </p:nvSpPr>
        <p:spPr>
          <a:xfrm>
            <a:off x="9874800" y="7889760"/>
            <a:ext cx="78087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Схема рифмовки и оценка поэтичности (score).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Google Shape;557;p27"/>
          <p:cNvSpPr/>
          <p:nvPr/>
        </p:nvSpPr>
        <p:spPr>
          <a:xfrm>
            <a:off x="9874800" y="9094680"/>
            <a:ext cx="78087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Хвост строки → сравнение клаузул → точность по схеме.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Google Shape;558;p27"/>
          <p:cNvSpPr/>
          <p:nvPr/>
        </p:nvSpPr>
        <p:spPr>
          <a:xfrm flipH="1" rot="19204800">
            <a:off x="16932960" y="4432680"/>
            <a:ext cx="2679840" cy="2679480"/>
          </a:xfrm>
          <a:custGeom>
            <a:avLst/>
            <a:gdLst>
              <a:gd name="textAreaLeft" fmla="*/ 1440 w 2679840"/>
              <a:gd name="textAreaRight" fmla="*/ 2683800 w 2679840"/>
              <a:gd name="textAreaTop" fmla="*/ 0 h 2679480"/>
              <a:gd name="textAreaBottom" fmla="*/ 2681640 h 2679480"/>
            </a:gdLst>
            <a:ahLst/>
            <a:rect l="textAreaLeft" t="textAreaTop" r="textAreaRight" b="textAreaBottom"/>
            <a:pathLst>
              <a:path w="2682202" h="2682202">
                <a:moveTo>
                  <a:pt x="0" y="2682202"/>
                </a:moveTo>
                <a:lnTo>
                  <a:pt x="2682202" y="2682202"/>
                </a:lnTo>
                <a:lnTo>
                  <a:pt x="2682202" y="0"/>
                </a:lnTo>
                <a:lnTo>
                  <a:pt x="0" y="0"/>
                </a:lnTo>
                <a:lnTo>
                  <a:pt x="0" y="2682202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6" name="Google Shape;559;p27"/>
          <p:cNvGrpSpPr/>
          <p:nvPr/>
        </p:nvGrpSpPr>
        <p:grpSpPr>
          <a:xfrm>
            <a:off x="8168760" y="8586720"/>
            <a:ext cx="1367640" cy="1367640"/>
            <a:chOff x="8168760" y="8586720"/>
            <a:chExt cx="1367640" cy="1367640"/>
          </a:xfrm>
        </p:grpSpPr>
        <p:sp>
          <p:nvSpPr>
            <p:cNvPr id="367" name="Google Shape;560;p27"/>
            <p:cNvSpPr/>
            <p:nvPr/>
          </p:nvSpPr>
          <p:spPr>
            <a:xfrm>
              <a:off x="8168760" y="8586720"/>
              <a:ext cx="1367640" cy="1367640"/>
            </a:xfrm>
            <a:custGeom>
              <a:avLst/>
              <a:gdLst>
                <a:gd name="textAreaLeft" fmla="*/ 0 w 1367640"/>
                <a:gd name="textAreaRight" fmla="*/ 1370160 w 1367640"/>
                <a:gd name="textAreaTop" fmla="*/ 0 h 1367640"/>
                <a:gd name="textAreaBottom" fmla="*/ 1370160 h 13676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68" name="Google Shape;561;p27"/>
            <p:cNvSpPr/>
            <p:nvPr/>
          </p:nvSpPr>
          <p:spPr>
            <a:xfrm>
              <a:off x="8297280" y="8634600"/>
              <a:ext cx="1110960" cy="119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" name="Google Shape;562;p27"/>
          <p:cNvGrpSpPr/>
          <p:nvPr/>
        </p:nvGrpSpPr>
        <p:grpSpPr>
          <a:xfrm>
            <a:off x="16736400" y="-182160"/>
            <a:ext cx="819000" cy="817560"/>
            <a:chOff x="16736400" y="-182160"/>
            <a:chExt cx="819000" cy="817560"/>
          </a:xfrm>
        </p:grpSpPr>
        <p:sp>
          <p:nvSpPr>
            <p:cNvPr id="370" name="Google Shape;563;p27"/>
            <p:cNvSpPr/>
            <p:nvPr/>
          </p:nvSpPr>
          <p:spPr>
            <a:xfrm>
              <a:off x="1673640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1" name="Google Shape;564;p27"/>
            <p:cNvSpPr/>
            <p:nvPr/>
          </p:nvSpPr>
          <p:spPr>
            <a:xfrm>
              <a:off x="1673640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2" name="Google Shape;565;p27"/>
          <p:cNvGrpSpPr/>
          <p:nvPr/>
        </p:nvGrpSpPr>
        <p:grpSpPr>
          <a:xfrm>
            <a:off x="17769960" y="-182160"/>
            <a:ext cx="819000" cy="817560"/>
            <a:chOff x="17769960" y="-182160"/>
            <a:chExt cx="819000" cy="817560"/>
          </a:xfrm>
        </p:grpSpPr>
        <p:sp>
          <p:nvSpPr>
            <p:cNvPr id="373" name="Google Shape;566;p27"/>
            <p:cNvSpPr/>
            <p:nvPr/>
          </p:nvSpPr>
          <p:spPr>
            <a:xfrm>
              <a:off x="1776996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4" name="Google Shape;567;p27"/>
            <p:cNvSpPr/>
            <p:nvPr/>
          </p:nvSpPr>
          <p:spPr>
            <a:xfrm>
              <a:off x="1776996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5" name="Google Shape;568;p27"/>
          <p:cNvGrpSpPr/>
          <p:nvPr/>
        </p:nvGrpSpPr>
        <p:grpSpPr>
          <a:xfrm>
            <a:off x="15697080" y="-182160"/>
            <a:ext cx="819000" cy="817560"/>
            <a:chOff x="15697080" y="-182160"/>
            <a:chExt cx="819000" cy="817560"/>
          </a:xfrm>
        </p:grpSpPr>
        <p:sp>
          <p:nvSpPr>
            <p:cNvPr id="376" name="Google Shape;569;p27"/>
            <p:cNvSpPr/>
            <p:nvPr/>
          </p:nvSpPr>
          <p:spPr>
            <a:xfrm>
              <a:off x="1569708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7" name="Google Shape;570;p27"/>
            <p:cNvSpPr/>
            <p:nvPr/>
          </p:nvSpPr>
          <p:spPr>
            <a:xfrm>
              <a:off x="1569708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" name="Google Shape;413;p23"/>
          <p:cNvGrpSpPr/>
          <p:nvPr/>
        </p:nvGrpSpPr>
        <p:grpSpPr>
          <a:xfrm>
            <a:off x="16367040" y="2221200"/>
            <a:ext cx="5257440" cy="5257440"/>
            <a:chOff x="16367040" y="2221200"/>
            <a:chExt cx="5257440" cy="5257440"/>
          </a:xfrm>
        </p:grpSpPr>
        <p:sp>
          <p:nvSpPr>
            <p:cNvPr id="379" name="Google Shape;414;p23"/>
            <p:cNvSpPr/>
            <p:nvPr/>
          </p:nvSpPr>
          <p:spPr>
            <a:xfrm>
              <a:off x="16367040" y="2221200"/>
              <a:ext cx="5257440" cy="5257440"/>
            </a:xfrm>
            <a:custGeom>
              <a:avLst/>
              <a:gdLst>
                <a:gd name="textAreaLeft" fmla="*/ 0 w 5257440"/>
                <a:gd name="textAreaRight" fmla="*/ 5259960 w 5257440"/>
                <a:gd name="textAreaTop" fmla="*/ 0 h 5257440"/>
                <a:gd name="textAreaBottom" fmla="*/ 5259960 h 52574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80" name="Google Shape;415;p23"/>
            <p:cNvSpPr/>
            <p:nvPr/>
          </p:nvSpPr>
          <p:spPr>
            <a:xfrm>
              <a:off x="16860240" y="2406240"/>
              <a:ext cx="4271400" cy="457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81" name="Google Shape;416;p23"/>
          <p:cNvSpPr/>
          <p:nvPr/>
        </p:nvSpPr>
        <p:spPr>
          <a:xfrm rot="16200000">
            <a:off x="13203720" y="2223720"/>
            <a:ext cx="5141160" cy="5141160"/>
          </a:xfrm>
          <a:custGeom>
            <a:avLst/>
            <a:gdLst>
              <a:gd name="textAreaLeft" fmla="*/ 0 w 5141160"/>
              <a:gd name="textAreaRight" fmla="*/ 5143680 w 5141160"/>
              <a:gd name="textAreaTop" fmla="*/ 0 h 5141160"/>
              <a:gd name="textAreaBottom" fmla="*/ 5143680 h 5141160"/>
            </a:gdLst>
            <a:ahLst/>
            <a:rect l="textAreaLeft" t="textAreaTop" r="textAreaRight" b="textAreaBottom"/>
            <a:pathLst>
              <a:path w="5143500" h="5143500">
                <a:moveTo>
                  <a:pt x="0" y="0"/>
                </a:moveTo>
                <a:lnTo>
                  <a:pt x="5143500" y="0"/>
                </a:lnTo>
                <a:lnTo>
                  <a:pt x="51435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82" name="Google Shape;417;p23"/>
          <p:cNvGraphicFramePr/>
          <p:nvPr/>
        </p:nvGraphicFramePr>
        <p:xfrm>
          <a:off x="8785080" y="473076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3" name="Google Shape;418;p23"/>
          <p:cNvSpPr/>
          <p:nvPr/>
        </p:nvSpPr>
        <p:spPr>
          <a:xfrm flipH="1" rot="10800000">
            <a:off x="-360" y="-6480"/>
            <a:ext cx="3964680" cy="3964680"/>
          </a:xfrm>
          <a:custGeom>
            <a:avLst/>
            <a:gdLst>
              <a:gd name="textAreaLeft" fmla="*/ -1440 w 3964680"/>
              <a:gd name="textAreaRight" fmla="*/ 3965760 w 3964680"/>
              <a:gd name="textAreaTop" fmla="*/ 0 h 3964680"/>
              <a:gd name="textAreaBottom" fmla="*/ 3967200 h 3964680"/>
            </a:gdLst>
            <a:ahLst/>
            <a:rect l="textAreaLeft" t="textAreaTop" r="textAreaRight" b="textAreaBottom"/>
            <a:pathLst>
              <a:path w="3967365" h="3967365">
                <a:moveTo>
                  <a:pt x="0" y="3967365"/>
                </a:moveTo>
                <a:lnTo>
                  <a:pt x="3967365" y="3967365"/>
                </a:lnTo>
                <a:lnTo>
                  <a:pt x="3967365" y="0"/>
                </a:lnTo>
                <a:lnTo>
                  <a:pt x="0" y="0"/>
                </a:lnTo>
                <a:lnTo>
                  <a:pt x="0" y="3967365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84" name="Google Shape;419;p23"/>
          <p:cNvGraphicFramePr/>
          <p:nvPr/>
        </p:nvGraphicFramePr>
        <p:xfrm>
          <a:off x="676800" y="146232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Google Shape;422;p23"/>
          <p:cNvSpPr/>
          <p:nvPr/>
        </p:nvSpPr>
        <p:spPr>
          <a:xfrm>
            <a:off x="1188720" y="1920240"/>
            <a:ext cx="758736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RPST.  Надёжная разметка ударений; даёт размер, схему и оценку поэтичности. Работает на уровне строки. Цена — тяжёлые модели и медленная первая загрузка (~15–30 с).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Google Shape;423;p23"/>
          <p:cNvSpPr/>
          <p:nvPr/>
        </p:nvSpPr>
        <p:spPr>
          <a:xfrm>
            <a:off x="9271440" y="6072840"/>
            <a:ext cx="758736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Юкава.  Послоговая карта созвучий; новизна и тонкая настройка без машинного обучения. Работает на уровне слога. Цена — шум на длинных текстах.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87" name="Google Shape;424;p23"/>
          <p:cNvGrpSpPr/>
          <p:nvPr/>
        </p:nvGrpSpPr>
        <p:grpSpPr>
          <a:xfrm>
            <a:off x="385920" y="6842160"/>
            <a:ext cx="8299440" cy="1302120"/>
            <a:chOff x="385920" y="6842160"/>
            <a:chExt cx="8299440" cy="1302120"/>
          </a:xfrm>
        </p:grpSpPr>
        <p:sp>
          <p:nvSpPr>
            <p:cNvPr id="388" name="Google Shape;425;p23"/>
            <p:cNvSpPr/>
            <p:nvPr/>
          </p:nvSpPr>
          <p:spPr>
            <a:xfrm>
              <a:off x="385920" y="6953400"/>
              <a:ext cx="8299440" cy="1190520"/>
            </a:xfrm>
            <a:custGeom>
              <a:avLst/>
              <a:gdLst>
                <a:gd name="textAreaLeft" fmla="*/ 0 w 8299440"/>
                <a:gd name="textAreaRight" fmla="*/ 8301960 w 829944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86195" h="510278">
                  <a:moveTo>
                    <a:pt x="0" y="0"/>
                  </a:moveTo>
                  <a:lnTo>
                    <a:pt x="3386195" y="0"/>
                  </a:lnTo>
                  <a:lnTo>
                    <a:pt x="3386195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" name="Google Shape;426;p23"/>
            <p:cNvSpPr/>
            <p:nvPr/>
          </p:nvSpPr>
          <p:spPr>
            <a:xfrm>
              <a:off x="385920" y="6842160"/>
              <a:ext cx="829944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90" name="Google Shape;427;p23"/>
          <p:cNvSpPr/>
          <p:nvPr/>
        </p:nvSpPr>
        <p:spPr>
          <a:xfrm>
            <a:off x="448200" y="6335280"/>
            <a:ext cx="9837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vs Юкава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91" name="Google Shape;428;p23"/>
          <p:cNvGrpSpPr/>
          <p:nvPr/>
        </p:nvGrpSpPr>
        <p:grpSpPr>
          <a:xfrm>
            <a:off x="8229600" y="1298880"/>
            <a:ext cx="3991680" cy="1671480"/>
            <a:chOff x="8229600" y="1298880"/>
            <a:chExt cx="3991680" cy="1671480"/>
          </a:xfrm>
        </p:grpSpPr>
        <p:sp>
          <p:nvSpPr>
            <p:cNvPr id="392" name="Google Shape;429;p23"/>
            <p:cNvSpPr/>
            <p:nvPr/>
          </p:nvSpPr>
          <p:spPr>
            <a:xfrm>
              <a:off x="8229600" y="246852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3" name="Google Shape;430;p23"/>
            <p:cNvSpPr/>
            <p:nvPr/>
          </p:nvSpPr>
          <p:spPr>
            <a:xfrm>
              <a:off x="8229600" y="18838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4" name="Google Shape;431;p23"/>
            <p:cNvSpPr/>
            <p:nvPr/>
          </p:nvSpPr>
          <p:spPr>
            <a:xfrm>
              <a:off x="8229600" y="12988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Picture 1" descr="bg.png"/>
          <p:cNvPicPr/>
          <p:nvPr/>
        </p:nvPicPr>
        <p:blipFill>
          <a:blip r:embed="rId1"/>
          <a:stretch/>
        </p:blipFill>
        <p:spPr>
          <a:xfrm>
            <a:off x="0" y="0"/>
            <a:ext cx="18286920" cy="10285920"/>
          </a:xfrm>
          <a:prstGeom prst="rect">
            <a:avLst/>
          </a:prstGeom>
          <a:ln w="0">
            <a:noFill/>
          </a:ln>
        </p:spPr>
      </p:pic>
      <p:sp>
        <p:nvSpPr>
          <p:cNvPr id="396" name="Rounded Rectangle 2"/>
          <p:cNvSpPr/>
          <p:nvPr/>
        </p:nvSpPr>
        <p:spPr>
          <a:xfrm>
            <a:off x="1097280" y="457200"/>
            <a:ext cx="16092360" cy="887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Как мы работаем с ИИ: оценка → коррекция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3"/>
          <p:cNvSpPr/>
          <p:nvPr/>
        </p:nvSpPr>
        <p:spPr>
          <a:xfrm>
            <a:off x="10972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Генерация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ИИ пишет N вариантов стиха (best-of-N).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4"/>
          <p:cNvSpPr/>
          <p:nvPr/>
        </p:nvSpPr>
        <p:spPr>
          <a:xfrm>
            <a:off x="52120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Оценка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Наши метрики численно оценивают рифму (RPST / Юкава).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5"/>
          <p:cNvSpPr/>
          <p:nvPr/>
        </p:nvSpPr>
        <p:spPr>
          <a:xfrm>
            <a:off x="93268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3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Разметка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Метим окончания: где рифма есть — оставить, где нет — переписать.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ounded Rectangle 6"/>
          <p:cNvSpPr/>
          <p:nvPr/>
        </p:nvSpPr>
        <p:spPr>
          <a:xfrm>
            <a:off x="134416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4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Коррекция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Просим ИИ перерифмовать плохое, сохранив хорошее, и проверить читаемость и форму.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7"/>
          <p:cNvSpPr/>
          <p:nvPr/>
        </p:nvSpPr>
        <p:spPr>
          <a:xfrm>
            <a:off x="1097280" y="8435520"/>
            <a:ext cx="16092360" cy="6847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bbf24"/>
                </a:solidFill>
                <a:latin typeface="Arial"/>
              </a:rPr>
              <a:t>ИИ — инструмент; ядро работы — математика оценки рифмы, которая и направляет правки.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502;p26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Google Shape;503;p26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Google Shape;504;p26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Google Shape;505;p26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Google Shape;506;p26"/>
          <p:cNvSpPr/>
          <p:nvPr/>
        </p:nvSpPr>
        <p:spPr>
          <a:xfrm rot="16200000">
            <a:off x="1008468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07" name="Google Shape;507;p26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408" name="Google Shape;508;p26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9" name="Google Shape;509;p26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10" name="Google Shape;510;p26"/>
          <p:cNvGrpSpPr/>
          <p:nvPr/>
        </p:nvGrpSpPr>
        <p:grpSpPr>
          <a:xfrm>
            <a:off x="6783840" y="2486160"/>
            <a:ext cx="4727160" cy="3962520"/>
            <a:chOff x="6783840" y="2486160"/>
            <a:chExt cx="4727160" cy="3962520"/>
          </a:xfrm>
        </p:grpSpPr>
        <p:sp>
          <p:nvSpPr>
            <p:cNvPr id="411" name="Google Shape;511;p26"/>
            <p:cNvSpPr/>
            <p:nvPr/>
          </p:nvSpPr>
          <p:spPr>
            <a:xfrm>
              <a:off x="6783840" y="2486160"/>
              <a:ext cx="4727160" cy="3962520"/>
            </a:xfrm>
            <a:custGeom>
              <a:avLst/>
              <a:gdLst>
                <a:gd name="textAreaLeft" fmla="*/ 0 w 4727160"/>
                <a:gd name="textAreaRight" fmla="*/ 4729680 w 47271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2" name="Google Shape;512;p26"/>
            <p:cNvSpPr/>
            <p:nvPr/>
          </p:nvSpPr>
          <p:spPr>
            <a:xfrm>
              <a:off x="7227360" y="2514240"/>
              <a:ext cx="384048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03.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413" name="Google Shape;513;p2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</a:tbl>
          </a:graphicData>
        </a:graphic>
      </p:graphicFrame>
      <p:grpSp>
        <p:nvGrpSpPr>
          <p:cNvPr id="414" name="Google Shape;514;p26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415" name="Google Shape;515;p26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6" name="Google Shape;516;p26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17" name="Google Shape;517;p26"/>
          <p:cNvSpPr/>
          <p:nvPr/>
        </p:nvSpPr>
        <p:spPr>
          <a:xfrm>
            <a:off x="3293640" y="5410440"/>
            <a:ext cx="113918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Итог?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Google Shape;518;p26"/>
          <p:cNvSpPr/>
          <p:nvPr/>
        </p:nvSpPr>
        <p:spPr>
          <a:xfrm>
            <a:off x="4208400" y="7372800"/>
            <a:ext cx="98683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Google Shape;519;p26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Google Shape;520;p26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Google Shape;521;p26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22" name="Google Shape;522;p26"/>
          <p:cNvGrpSpPr/>
          <p:nvPr/>
        </p:nvGrpSpPr>
        <p:grpSpPr>
          <a:xfrm>
            <a:off x="8709840" y="2505240"/>
            <a:ext cx="865800" cy="865800"/>
            <a:chOff x="8709840" y="2505240"/>
            <a:chExt cx="865800" cy="865800"/>
          </a:xfrm>
        </p:grpSpPr>
        <p:sp>
          <p:nvSpPr>
            <p:cNvPr id="423" name="Google Shape;523;p26"/>
            <p:cNvSpPr/>
            <p:nvPr/>
          </p:nvSpPr>
          <p:spPr>
            <a:xfrm>
              <a:off x="8709840" y="250524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4" name="Google Shape;524;p26"/>
            <p:cNvSpPr/>
            <p:nvPr/>
          </p:nvSpPr>
          <p:spPr>
            <a:xfrm>
              <a:off x="8791200" y="253584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25" name="Google Shape;525;p26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426" name="Google Shape;526;p26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7" name="Google Shape;527;p26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28" name="Google Shape;528;p26"/>
          <p:cNvGrpSpPr/>
          <p:nvPr/>
        </p:nvGrpSpPr>
        <p:grpSpPr>
          <a:xfrm>
            <a:off x="13393080" y="7652520"/>
            <a:ext cx="3282840" cy="1374120"/>
            <a:chOff x="13393080" y="7652520"/>
            <a:chExt cx="3282840" cy="1374120"/>
          </a:xfrm>
        </p:grpSpPr>
        <p:sp>
          <p:nvSpPr>
            <p:cNvPr id="429" name="Google Shape;529;p26"/>
            <p:cNvSpPr/>
            <p:nvPr/>
          </p:nvSpPr>
          <p:spPr>
            <a:xfrm>
              <a:off x="13393080" y="86144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0" name="Google Shape;530;p26"/>
            <p:cNvSpPr/>
            <p:nvPr/>
          </p:nvSpPr>
          <p:spPr>
            <a:xfrm>
              <a:off x="13393080" y="81334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Google Shape;531;p26"/>
            <p:cNvSpPr/>
            <p:nvPr/>
          </p:nvSpPr>
          <p:spPr>
            <a:xfrm>
              <a:off x="13393080" y="76525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ounded Rectangle 1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(RPST)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1"/>
          <a:stretch/>
        </p:blipFill>
        <p:spPr>
          <a:xfrm>
            <a:off x="5509800" y="-31320"/>
            <a:ext cx="12800880" cy="1031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ounded Rectangle 8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(мой алгоритм)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5" name="" descr=""/>
          <p:cNvPicPr/>
          <p:nvPr/>
        </p:nvPicPr>
        <p:blipFill>
          <a:blip r:embed="rId1"/>
          <a:stretch/>
        </p:blipFill>
        <p:spPr>
          <a:xfrm>
            <a:off x="5525280" y="0"/>
            <a:ext cx="12762000" cy="10286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Rounded Rectangle 2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1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7" name="" descr=""/>
          <p:cNvPicPr/>
          <p:nvPr/>
        </p:nvPicPr>
        <p:blipFill>
          <a:blip r:embed="rId1"/>
          <a:stretch/>
        </p:blipFill>
        <p:spPr>
          <a:xfrm>
            <a:off x="6629400" y="827280"/>
            <a:ext cx="9372600" cy="854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Rounded Rectangle 11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</a:t>
            </a: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Генерация стиха 2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1"/>
          <a:stretch/>
        </p:blipFill>
        <p:spPr>
          <a:xfrm>
            <a:off x="4997160" y="0"/>
            <a:ext cx="13298040" cy="1028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ounded Rectangle 9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2 с улучшениеми.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1" name="" descr=""/>
          <p:cNvPicPr/>
          <p:nvPr/>
        </p:nvPicPr>
        <p:blipFill>
          <a:blip r:embed="rId1"/>
          <a:stretch/>
        </p:blipFill>
        <p:spPr>
          <a:xfrm>
            <a:off x="5486400" y="-39240"/>
            <a:ext cx="12801240" cy="1032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Rounded Rectangle 12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2 с улучшениеми.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3" name="" descr=""/>
          <p:cNvPicPr/>
          <p:nvPr/>
        </p:nvPicPr>
        <p:blipFill>
          <a:blip r:embed="rId1"/>
          <a:stretch/>
        </p:blipFill>
        <p:spPr>
          <a:xfrm>
            <a:off x="5486400" y="-39240"/>
            <a:ext cx="12801240" cy="1032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Rounded Rectangle 10"/>
          <p:cNvSpPr/>
          <p:nvPr/>
        </p:nvSpPr>
        <p:spPr>
          <a:xfrm>
            <a:off x="-1143000" y="-1143000"/>
            <a:ext cx="22402080" cy="121150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Rounded Rectangle 2"/>
          <p:cNvSpPr/>
          <p:nvPr/>
        </p:nvSpPr>
        <p:spPr>
          <a:xfrm>
            <a:off x="868680" y="914400"/>
            <a:ext cx="3931200" cy="822888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тёмная тема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>
            <a:off x="5715000" y="381240"/>
            <a:ext cx="11438280" cy="921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ounded Rectangle 2"/>
          <p:cNvSpPr/>
          <p:nvPr/>
        </p:nvSpPr>
        <p:spPr>
          <a:xfrm>
            <a:off x="1097280" y="457200"/>
            <a:ext cx="16092360" cy="887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настройки (провайдер и ключ)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8" name="Picture 3" descr="04_settings.png"/>
          <p:cNvPicPr/>
          <p:nvPr/>
        </p:nvPicPr>
        <p:blipFill>
          <a:blip r:embed="rId1"/>
          <a:stretch/>
        </p:blipFill>
        <p:spPr>
          <a:xfrm>
            <a:off x="4841280" y="1851840"/>
            <a:ext cx="8604360" cy="761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575;p28" descr=""/>
          <p:cNvPicPr/>
          <p:nvPr/>
        </p:nvPicPr>
        <p:blipFill>
          <a:blip r:embed="rId1"/>
          <a:srcRect l="0" t="15714" r="0" b="0"/>
          <a:stretch/>
        </p:blipFill>
        <p:spPr>
          <a:xfrm>
            <a:off x="0" y="0"/>
            <a:ext cx="18285480" cy="10284480"/>
          </a:xfrm>
          <a:prstGeom prst="rect">
            <a:avLst/>
          </a:prstGeom>
          <a:ln w="0">
            <a:noFill/>
          </a:ln>
        </p:spPr>
      </p:pic>
      <p:grpSp>
        <p:nvGrpSpPr>
          <p:cNvPr id="450" name="Google Shape;576;p28"/>
          <p:cNvGrpSpPr/>
          <p:nvPr/>
        </p:nvGrpSpPr>
        <p:grpSpPr>
          <a:xfrm>
            <a:off x="3886200" y="134280"/>
            <a:ext cx="10742760" cy="3979080"/>
            <a:chOff x="3886200" y="134280"/>
            <a:chExt cx="10742760" cy="3979080"/>
          </a:xfrm>
        </p:grpSpPr>
        <p:sp>
          <p:nvSpPr>
            <p:cNvPr id="451" name="Google Shape;577;p28"/>
            <p:cNvSpPr/>
            <p:nvPr/>
          </p:nvSpPr>
          <p:spPr>
            <a:xfrm>
              <a:off x="3886200" y="860040"/>
              <a:ext cx="10742760" cy="3253320"/>
            </a:xfrm>
            <a:custGeom>
              <a:avLst/>
              <a:gdLst>
                <a:gd name="textAreaLeft" fmla="*/ 0 w 10742760"/>
                <a:gd name="textAreaRight" fmla="*/ 10744920 w 10742760"/>
                <a:gd name="textAreaTop" fmla="*/ 0 h 3253320"/>
                <a:gd name="textAreaBottom" fmla="*/ 3256560 h 3253320"/>
              </a:gdLst>
              <a:ahLst/>
              <a:rect l="textAreaLeft" t="textAreaTop" r="textAreaRight" b="textAreaBottom"/>
              <a:pathLst>
                <a:path w="2392440" h="213918">
                  <a:moveTo>
                    <a:pt x="0" y="0"/>
                  </a:moveTo>
                  <a:lnTo>
                    <a:pt x="2392440" y="0"/>
                  </a:lnTo>
                  <a:lnTo>
                    <a:pt x="2392440" y="213918"/>
                  </a:lnTo>
                  <a:lnTo>
                    <a:pt x="0" y="213918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2" name="Google Shape;578;p28"/>
            <p:cNvSpPr/>
            <p:nvPr/>
          </p:nvSpPr>
          <p:spPr>
            <a:xfrm>
              <a:off x="3886200" y="134280"/>
              <a:ext cx="10742760" cy="39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53" name="Google Shape;579;p28"/>
          <p:cNvSpPr/>
          <p:nvPr/>
        </p:nvSpPr>
        <p:spPr>
          <a:xfrm>
            <a:off x="4074840" y="865440"/>
            <a:ext cx="10136160" cy="29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Результаты: прототип готов — генерация, два детектора рифмы и удобный UI с сессиями. Новизна — алгоритм Юкавы и фонетическая векторизация. Дальше — дообучение модели и редактор стихов.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54" name="Google Shape;580;p28"/>
          <p:cNvGrpSpPr/>
          <p:nvPr/>
        </p:nvGrpSpPr>
        <p:grpSpPr>
          <a:xfrm>
            <a:off x="15436080" y="1360440"/>
            <a:ext cx="2632680" cy="1101960"/>
            <a:chOff x="15436080" y="1360440"/>
            <a:chExt cx="2632680" cy="1101960"/>
          </a:xfrm>
        </p:grpSpPr>
        <p:sp>
          <p:nvSpPr>
            <p:cNvPr id="455" name="Google Shape;581;p28"/>
            <p:cNvSpPr/>
            <p:nvPr/>
          </p:nvSpPr>
          <p:spPr>
            <a:xfrm>
              <a:off x="15436080" y="213228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6" name="Google Shape;582;p28"/>
            <p:cNvSpPr/>
            <p:nvPr/>
          </p:nvSpPr>
          <p:spPr>
            <a:xfrm>
              <a:off x="15436080" y="174636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7" name="Google Shape;583;p28"/>
            <p:cNvSpPr/>
            <p:nvPr/>
          </p:nvSpPr>
          <p:spPr>
            <a:xfrm>
              <a:off x="15436080" y="136044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458" name="" descr=""/>
          <p:cNvPicPr/>
          <p:nvPr/>
        </p:nvPicPr>
        <p:blipFill>
          <a:blip r:embed="rId5"/>
          <a:stretch/>
        </p:blipFill>
        <p:spPr>
          <a:xfrm rot="25800">
            <a:off x="11442960" y="5113080"/>
            <a:ext cx="3422880" cy="2513880"/>
          </a:xfrm>
          <a:prstGeom prst="rect">
            <a:avLst/>
          </a:prstGeom>
          <a:ln w="0">
            <a:noFill/>
          </a:ln>
        </p:spPr>
      </p:pic>
      <p:pic>
        <p:nvPicPr>
          <p:cNvPr id="459" name="" descr=""/>
          <p:cNvPicPr/>
          <p:nvPr/>
        </p:nvPicPr>
        <p:blipFill>
          <a:blip r:embed="rId6"/>
          <a:stretch/>
        </p:blipFill>
        <p:spPr>
          <a:xfrm rot="10800">
            <a:off x="10440720" y="5102280"/>
            <a:ext cx="3426480" cy="2513880"/>
          </a:xfrm>
          <a:prstGeom prst="rect">
            <a:avLst/>
          </a:prstGeom>
          <a:ln w="0">
            <a:noFill/>
          </a:ln>
        </p:spPr>
      </p:pic>
    </p:spTree>
  </p:cSld>
  <p:transition>
    <p:push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0" name="Google Shape;698;p32"/>
          <p:cNvGrpSpPr/>
          <p:nvPr/>
        </p:nvGrpSpPr>
        <p:grpSpPr>
          <a:xfrm>
            <a:off x="12427200" y="-1531440"/>
            <a:ext cx="7017480" cy="7017480"/>
            <a:chOff x="12427200" y="-1531440"/>
            <a:chExt cx="7017480" cy="7017480"/>
          </a:xfrm>
        </p:grpSpPr>
        <p:sp>
          <p:nvSpPr>
            <p:cNvPr id="461" name="Google Shape;699;p32"/>
            <p:cNvSpPr/>
            <p:nvPr/>
          </p:nvSpPr>
          <p:spPr>
            <a:xfrm>
              <a:off x="12427200" y="-1531440"/>
              <a:ext cx="7017480" cy="7017480"/>
            </a:xfrm>
            <a:custGeom>
              <a:avLst/>
              <a:gdLst>
                <a:gd name="textAreaLeft" fmla="*/ 0 w 7017480"/>
                <a:gd name="textAreaRight" fmla="*/ 7020000 w 7017480"/>
                <a:gd name="textAreaTop" fmla="*/ 0 h 7017480"/>
                <a:gd name="textAreaBottom" fmla="*/ 7020000 h 70174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2" name="Google Shape;700;p32"/>
            <p:cNvSpPr/>
            <p:nvPr/>
          </p:nvSpPr>
          <p:spPr>
            <a:xfrm>
              <a:off x="13085280" y="-1284480"/>
              <a:ext cx="5700960" cy="6112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63" name="Google Shape;701;p32"/>
          <p:cNvSpPr/>
          <p:nvPr/>
        </p:nvSpPr>
        <p:spPr>
          <a:xfrm>
            <a:off x="-2333160" y="4780080"/>
            <a:ext cx="4664160" cy="5897880"/>
          </a:xfrm>
          <a:custGeom>
            <a:avLst/>
            <a:gdLst>
              <a:gd name="textAreaLeft" fmla="*/ 0 w 4664160"/>
              <a:gd name="textAreaRight" fmla="*/ 4666680 w 4664160"/>
              <a:gd name="textAreaTop" fmla="*/ 0 h 5897880"/>
              <a:gd name="textAreaBottom" fmla="*/ 5900400 h 5897880"/>
            </a:gdLst>
            <a:ahLst/>
            <a:rect l="textAreaLeft" t="textAreaTop" r="textAreaRight" b="textAreaBottom"/>
            <a:pathLst>
              <a:path w="4666552" h="5900238">
                <a:moveTo>
                  <a:pt x="0" y="0"/>
                </a:moveTo>
                <a:lnTo>
                  <a:pt x="4666552" y="0"/>
                </a:lnTo>
                <a:lnTo>
                  <a:pt x="4666552" y="5900238"/>
                </a:lnTo>
                <a:lnTo>
                  <a:pt x="0" y="59002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64" name="Google Shape;702;p32"/>
          <p:cNvGrpSpPr/>
          <p:nvPr/>
        </p:nvGrpSpPr>
        <p:grpSpPr>
          <a:xfrm>
            <a:off x="-306360" y="2422800"/>
            <a:ext cx="11941920" cy="5304960"/>
            <a:chOff x="-306360" y="2422800"/>
            <a:chExt cx="11941920" cy="5304960"/>
          </a:xfrm>
        </p:grpSpPr>
        <p:sp>
          <p:nvSpPr>
            <p:cNvPr id="465" name="Google Shape;703;p32"/>
            <p:cNvSpPr/>
            <p:nvPr/>
          </p:nvSpPr>
          <p:spPr>
            <a:xfrm>
              <a:off x="-306360" y="2725920"/>
              <a:ext cx="11941920" cy="500184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001840"/>
                <a:gd name="textAreaBottom" fmla="*/ 5004360 h 5001840"/>
              </a:gdLst>
              <a:ahLst/>
              <a:rect l="textAreaLeft" t="textAreaTop" r="textAreaRight" b="textAreaBottom"/>
              <a:pathLst>
                <a:path w="1877620" h="786662">
                  <a:moveTo>
                    <a:pt x="0" y="0"/>
                  </a:moveTo>
                  <a:lnTo>
                    <a:pt x="1877620" y="0"/>
                  </a:lnTo>
                  <a:lnTo>
                    <a:pt x="1877620" y="786662"/>
                  </a:lnTo>
                  <a:lnTo>
                    <a:pt x="0" y="786662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6" name="Google Shape;704;p32"/>
            <p:cNvSpPr/>
            <p:nvPr/>
          </p:nvSpPr>
          <p:spPr>
            <a:xfrm>
              <a:off x="-306360" y="2422800"/>
              <a:ext cx="11941920" cy="530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67" name="Google Shape;705;p32"/>
          <p:cNvSpPr/>
          <p:nvPr/>
        </p:nvSpPr>
        <p:spPr>
          <a:xfrm rot="16200000">
            <a:off x="8128080" y="-1528920"/>
            <a:ext cx="7017480" cy="7017480"/>
          </a:xfrm>
          <a:custGeom>
            <a:avLst/>
            <a:gdLst>
              <a:gd name="textAreaLeft" fmla="*/ 0 w 7017480"/>
              <a:gd name="textAreaRight" fmla="*/ 7020000 w 7017480"/>
              <a:gd name="textAreaTop" fmla="*/ 0 h 7017480"/>
              <a:gd name="textAreaBottom" fmla="*/ 7020000 h 7017480"/>
            </a:gdLst>
            <a:ahLst/>
            <a:rect l="textAreaLeft" t="textAreaTop" r="textAreaRight" b="textAreaBottom"/>
            <a:pathLst>
              <a:path w="7019871" h="7019871">
                <a:moveTo>
                  <a:pt x="0" y="0"/>
                </a:moveTo>
                <a:lnTo>
                  <a:pt x="7019871" y="0"/>
                </a:lnTo>
                <a:lnTo>
                  <a:pt x="7019871" y="7019871"/>
                </a:lnTo>
                <a:lnTo>
                  <a:pt x="0" y="701987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Google Shape;706;p32"/>
          <p:cNvSpPr/>
          <p:nvPr/>
        </p:nvSpPr>
        <p:spPr>
          <a:xfrm>
            <a:off x="386640" y="3109320"/>
            <a:ext cx="10391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Спасибо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 внимание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69" name="Google Shape;709;p32"/>
          <p:cNvGrpSpPr/>
          <p:nvPr/>
        </p:nvGrpSpPr>
        <p:grpSpPr>
          <a:xfrm>
            <a:off x="-306360" y="7865280"/>
            <a:ext cx="11941920" cy="1559160"/>
            <a:chOff x="-306360" y="7865280"/>
            <a:chExt cx="11941920" cy="1559160"/>
          </a:xfrm>
        </p:grpSpPr>
        <p:sp>
          <p:nvSpPr>
            <p:cNvPr id="470" name="Google Shape;710;p32"/>
            <p:cNvSpPr/>
            <p:nvPr/>
          </p:nvSpPr>
          <p:spPr>
            <a:xfrm>
              <a:off x="-306360" y="8168400"/>
              <a:ext cx="11941920" cy="125604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1256040"/>
                <a:gd name="textAreaBottom" fmla="*/ 1258560 h 1256040"/>
              </a:gdLst>
              <a:ahLst/>
              <a:rect l="textAreaLeft" t="textAreaTop" r="textAreaRight" b="textAreaBottom"/>
              <a:pathLst>
                <a:path w="1877620" h="197832">
                  <a:moveTo>
                    <a:pt x="0" y="0"/>
                  </a:moveTo>
                  <a:lnTo>
                    <a:pt x="1877620" y="0"/>
                  </a:lnTo>
                  <a:lnTo>
                    <a:pt x="1877620" y="197832"/>
                  </a:lnTo>
                  <a:lnTo>
                    <a:pt x="0" y="197832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1" name="Google Shape;711;p32"/>
            <p:cNvSpPr/>
            <p:nvPr/>
          </p:nvSpPr>
          <p:spPr>
            <a:xfrm>
              <a:off x="-306360" y="7865280"/>
              <a:ext cx="11941920" cy="1558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72" name="Google Shape;712;p32"/>
          <p:cNvSpPr/>
          <p:nvPr/>
        </p:nvSpPr>
        <p:spPr>
          <a:xfrm>
            <a:off x="386640" y="8509680"/>
            <a:ext cx="80701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Bungee"/>
                <a:ea typeface="Bungee"/>
              </a:rPr>
              <a:t>Готов ответить на ваши вопросы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Google Shape;713;p32"/>
          <p:cNvSpPr/>
          <p:nvPr/>
        </p:nvSpPr>
        <p:spPr>
          <a:xfrm>
            <a:off x="13557240" y="718704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Google Shape;714;p32"/>
          <p:cNvSpPr/>
          <p:nvPr/>
        </p:nvSpPr>
        <p:spPr>
          <a:xfrm>
            <a:off x="13557240" y="572328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Google Shape;715;p32"/>
          <p:cNvSpPr/>
          <p:nvPr/>
        </p:nvSpPr>
        <p:spPr>
          <a:xfrm>
            <a:off x="13557240" y="425988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7"/>
                </a:lnTo>
                <a:lnTo>
                  <a:pt x="0" y="141351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lastPrinted>2026-06-16T14:02:30Z</cp:lastPrinted>
  <dcterms:modified xsi:type="dcterms:W3CDTF">2026-06-16T14:02:12Z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