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19.jpeg" ContentType="image/jpeg"/>
  <Override PartName="/ppt/media/image9.png" ContentType="image/png"/>
  <Override PartName="/ppt/media/image20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jpeg" ContentType="image/jpe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8.jpeg" ContentType="image/jpeg"/>
  <Override PartName="/ppt/media/image26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CF2688-EDE8-400F-8FF5-7B26624D56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2A5B50-04BF-49AD-AC21-0DABFDA627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85708AC-DB7F-464C-9162-76E7AB4905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D7723C0-194B-4977-B0B4-565404A2CD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4D29ACE-3D1F-4434-89D1-A5AE3637E0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09E2123-554F-4068-AD7B-6C6261817D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BE634A1-371F-4F93-9F9A-C14FD875D8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944FD93-C71E-4BF6-B9C5-71E1EF667E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8FE784B-F398-4C04-931D-0B14177FFC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E98403D-7E00-48B8-8BDC-A6A5510816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96BD9AC-5960-49CF-B168-68C7DEFB1B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9798A6-39CA-4830-B988-52580C4CAEF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86ACB4-936E-432D-B3B3-5A5EA010043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0EA90E-97A5-4537-9636-5B8CB7F814F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E20AB9-8EEA-4566-9C3E-C56642718AD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995923-6B19-4984-AD41-D4E912609A5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087FAD-6B04-4664-8401-ACA449D25B4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090C8C-25AB-434E-B947-7393FAE9D46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E2A75D-E320-4C17-83BB-21A83EB7978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8D11F1-0FB8-4777-AABE-95CD8DD1C4B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0A2357-E85F-425F-BAB1-65E48F6388A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A0D0DC-55ED-47D9-8063-F669FE40A8D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8.png"/><Relationship Id="rId10" Type="http://schemas.openxmlformats.org/officeDocument/2006/relationships/image" Target="../media/image8.png"/><Relationship Id="rId1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8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7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8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6.png"/><Relationship Id="rId3" Type="http://schemas.openxmlformats.org/officeDocument/2006/relationships/image" Target="../media/image18.jpeg"/><Relationship Id="rId4" Type="http://schemas.openxmlformats.org/officeDocument/2006/relationships/image" Target="../media/image19.jpe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8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3.pn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8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32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84;p13"/>
          <p:cNvSpPr/>
          <p:nvPr/>
        </p:nvSpPr>
        <p:spPr>
          <a:xfrm>
            <a:off x="12987720" y="4260240"/>
            <a:ext cx="4113000" cy="4113000"/>
          </a:xfrm>
          <a:custGeom>
            <a:avLst/>
            <a:gdLst>
              <a:gd name="textAreaLeft" fmla="*/ 0 w 4113000"/>
              <a:gd name="textAreaRight" fmla="*/ 4114800 w 4113000"/>
              <a:gd name="textAreaTop" fmla="*/ 0 h 4113000"/>
              <a:gd name="textAreaBottom" fmla="*/ 4114800 h 411300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85;p13"/>
          <p:cNvSpPr/>
          <p:nvPr/>
        </p:nvSpPr>
        <p:spPr>
          <a:xfrm>
            <a:off x="-353880" y="3066840"/>
            <a:ext cx="4281480" cy="4281480"/>
          </a:xfrm>
          <a:custGeom>
            <a:avLst/>
            <a:gdLst>
              <a:gd name="textAreaLeft" fmla="*/ 0 w 4281480"/>
              <a:gd name="textAreaRight" fmla="*/ 4283280 w 4281480"/>
              <a:gd name="textAreaTop" fmla="*/ 0 h 4281480"/>
              <a:gd name="textAreaBottom" fmla="*/ 4283280 h 4281480"/>
            </a:gdLst>
            <a:ahLst/>
            <a:rect l="textAreaLeft" t="textAreaTop" r="textAreaRight" b="textAreaBottom"/>
            <a:pathLst>
              <a:path w="4283248" h="4283248">
                <a:moveTo>
                  <a:pt x="0" y="0"/>
                </a:moveTo>
                <a:lnTo>
                  <a:pt x="4283248" y="0"/>
                </a:lnTo>
                <a:lnTo>
                  <a:pt x="4283248" y="4283249"/>
                </a:lnTo>
                <a:lnTo>
                  <a:pt x="0" y="42832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" name="Google Shape;86;p13"/>
          <p:cNvGrpSpPr/>
          <p:nvPr/>
        </p:nvGrpSpPr>
        <p:grpSpPr>
          <a:xfrm>
            <a:off x="-49680" y="442800"/>
            <a:ext cx="18286200" cy="10465920"/>
            <a:chOff x="-49680" y="442800"/>
            <a:chExt cx="18286200" cy="10465920"/>
          </a:xfrm>
        </p:grpSpPr>
        <p:sp>
          <p:nvSpPr>
            <p:cNvPr id="53" name="Google Shape;87;p13"/>
            <p:cNvSpPr/>
            <p:nvPr/>
          </p:nvSpPr>
          <p:spPr>
            <a:xfrm>
              <a:off x="-49680" y="623520"/>
              <a:ext cx="18286200" cy="10285200"/>
            </a:xfrm>
            <a:custGeom>
              <a:avLst/>
              <a:gdLst>
                <a:gd name="textAreaLeft" fmla="*/ 0 w 18286200"/>
                <a:gd name="textAreaRight" fmla="*/ 18288000 w 18286200"/>
                <a:gd name="textAreaTop" fmla="*/ 0 h 10285200"/>
                <a:gd name="textAreaBottom" fmla="*/ 10287000 h 10285200"/>
              </a:gdLst>
              <a:ahLst/>
              <a:rect l="textAreaLeft" t="textAreaTop" r="textAreaRight" b="textAreaBottom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noFill/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" name="Google Shape;88;p13"/>
            <p:cNvSpPr/>
            <p:nvPr/>
          </p:nvSpPr>
          <p:spPr>
            <a:xfrm>
              <a:off x="-49680" y="442800"/>
              <a:ext cx="18286200" cy="1046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" name="Google Shape;89;p13"/>
          <p:cNvGrpSpPr/>
          <p:nvPr/>
        </p:nvGrpSpPr>
        <p:grpSpPr>
          <a:xfrm>
            <a:off x="7350120" y="3359160"/>
            <a:ext cx="878400" cy="4869360"/>
            <a:chOff x="7350120" y="3359160"/>
            <a:chExt cx="878400" cy="4869360"/>
          </a:xfrm>
        </p:grpSpPr>
        <p:sp>
          <p:nvSpPr>
            <p:cNvPr id="56" name="Google Shape;90;p13"/>
            <p:cNvSpPr/>
            <p:nvPr/>
          </p:nvSpPr>
          <p:spPr>
            <a:xfrm>
              <a:off x="7350120" y="3539880"/>
              <a:ext cx="878400" cy="4688640"/>
            </a:xfrm>
            <a:custGeom>
              <a:avLst/>
              <a:gdLst>
                <a:gd name="textAreaLeft" fmla="*/ 0 w 878400"/>
                <a:gd name="textAreaRight" fmla="*/ 880200 w 878400"/>
                <a:gd name="textAreaTop" fmla="*/ 0 h 4688640"/>
                <a:gd name="textAreaBottom" fmla="*/ 4690440 h 4688640"/>
              </a:gdLst>
              <a:ahLst/>
              <a:rect l="textAreaLeft" t="textAreaTop" r="textAreaRight" b="textAreaBottom"/>
              <a:pathLst>
                <a:path w="231777" h="1235343">
                  <a:moveTo>
                    <a:pt x="0" y="0"/>
                  </a:moveTo>
                  <a:lnTo>
                    <a:pt x="231777" y="0"/>
                  </a:lnTo>
                  <a:lnTo>
                    <a:pt x="231777" y="1235343"/>
                  </a:lnTo>
                  <a:lnTo>
                    <a:pt x="0" y="1235343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Google Shape;91;p13"/>
            <p:cNvSpPr/>
            <p:nvPr/>
          </p:nvSpPr>
          <p:spPr>
            <a:xfrm>
              <a:off x="7350120" y="3359160"/>
              <a:ext cx="878400" cy="486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" name="Google Shape;92;p13"/>
          <p:cNvSpPr/>
          <p:nvPr/>
        </p:nvSpPr>
        <p:spPr>
          <a:xfrm rot="16200000">
            <a:off x="1318320" y="129960"/>
            <a:ext cx="6072840" cy="6833160"/>
          </a:xfrm>
          <a:custGeom>
            <a:avLst/>
            <a:gdLst>
              <a:gd name="textAreaLeft" fmla="*/ 0 w 6072840"/>
              <a:gd name="textAreaRight" fmla="*/ 6074640 w 6072840"/>
              <a:gd name="textAreaTop" fmla="*/ 0 h 6833160"/>
              <a:gd name="textAreaBottom" fmla="*/ 6834960 h 6833160"/>
            </a:gdLst>
            <a:ahLst/>
            <a:rect l="textAreaLeft" t="textAreaTop" r="textAreaRight" b="textAreaBottom"/>
            <a:pathLst>
              <a:path w="6074727" h="6835135">
                <a:moveTo>
                  <a:pt x="0" y="0"/>
                </a:moveTo>
                <a:lnTo>
                  <a:pt x="6074726" y="0"/>
                </a:lnTo>
                <a:lnTo>
                  <a:pt x="6074726" y="6835136"/>
                </a:lnTo>
                <a:lnTo>
                  <a:pt x="0" y="6835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Google Shape;93;p13"/>
          <p:cNvSpPr/>
          <p:nvPr/>
        </p:nvSpPr>
        <p:spPr>
          <a:xfrm>
            <a:off x="8746560" y="-437760"/>
            <a:ext cx="9083160" cy="6380280"/>
          </a:xfrm>
          <a:custGeom>
            <a:avLst/>
            <a:gdLst>
              <a:gd name="textAreaLeft" fmla="*/ 0 w 9083160"/>
              <a:gd name="textAreaRight" fmla="*/ 9084960 w 9083160"/>
              <a:gd name="textAreaTop" fmla="*/ 0 h 6380280"/>
              <a:gd name="textAreaBottom" fmla="*/ 6382080 h 6380280"/>
            </a:gdLst>
            <a:ahLst/>
            <a:rect l="textAreaLeft" t="textAreaTop" r="textAreaRight" b="textAreaBottom"/>
            <a:pathLst>
              <a:path w="9084999" h="6382212">
                <a:moveTo>
                  <a:pt x="0" y="0"/>
                </a:moveTo>
                <a:lnTo>
                  <a:pt x="9084999" y="0"/>
                </a:lnTo>
                <a:lnTo>
                  <a:pt x="9084999" y="6382212"/>
                </a:lnTo>
                <a:lnTo>
                  <a:pt x="0" y="63822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94;p13"/>
          <p:cNvSpPr/>
          <p:nvPr/>
        </p:nvSpPr>
        <p:spPr>
          <a:xfrm>
            <a:off x="1763640" y="3550680"/>
            <a:ext cx="3569040" cy="3579480"/>
          </a:xfrm>
          <a:custGeom>
            <a:avLst/>
            <a:gdLst>
              <a:gd name="textAreaLeft" fmla="*/ 0 w 3569040"/>
              <a:gd name="textAreaRight" fmla="*/ 3570840 w 3569040"/>
              <a:gd name="textAreaTop" fmla="*/ 0 h 3579480"/>
              <a:gd name="textAreaBottom" fmla="*/ 3581280 h 3579480"/>
            </a:gdLst>
            <a:ahLst/>
            <a:rect l="textAreaLeft" t="textAreaTop" r="textAreaRight" b="textAreaBottom"/>
            <a:pathLst>
              <a:path w="4406900" h="4419600">
                <a:moveTo>
                  <a:pt x="4356100" y="2724150"/>
                </a:moveTo>
                <a:cubicBezTo>
                  <a:pt x="4406900" y="3200400"/>
                  <a:pt x="4152900" y="3619500"/>
                  <a:pt x="4152900" y="3619500"/>
                </a:cubicBezTo>
                <a:cubicBezTo>
                  <a:pt x="3898900" y="4038600"/>
                  <a:pt x="3422650" y="4159250"/>
                  <a:pt x="3422650" y="4159250"/>
                </a:cubicBezTo>
                <a:cubicBezTo>
                  <a:pt x="2946400" y="4279900"/>
                  <a:pt x="2527300" y="4051300"/>
                  <a:pt x="2527300" y="4051300"/>
                </a:cubicBezTo>
                <a:cubicBezTo>
                  <a:pt x="2108200" y="3822700"/>
                  <a:pt x="1657350" y="4121150"/>
                  <a:pt x="1657350" y="4121150"/>
                </a:cubicBezTo>
                <a:cubicBezTo>
                  <a:pt x="1206500" y="4419600"/>
                  <a:pt x="857250" y="4133850"/>
                  <a:pt x="857250" y="4133850"/>
                </a:cubicBezTo>
                <a:cubicBezTo>
                  <a:pt x="508000" y="3848100"/>
                  <a:pt x="577850" y="3352800"/>
                  <a:pt x="577850" y="3352800"/>
                </a:cubicBezTo>
                <a:cubicBezTo>
                  <a:pt x="647700" y="2857500"/>
                  <a:pt x="488950" y="2552700"/>
                  <a:pt x="488950" y="2552700"/>
                </a:cubicBezTo>
                <a:cubicBezTo>
                  <a:pt x="330200" y="2247900"/>
                  <a:pt x="165100" y="1809750"/>
                  <a:pt x="165100" y="1809750"/>
                </a:cubicBezTo>
                <a:cubicBezTo>
                  <a:pt x="0" y="1371600"/>
                  <a:pt x="247650" y="1003300"/>
                  <a:pt x="247650" y="1003300"/>
                </a:cubicBezTo>
                <a:cubicBezTo>
                  <a:pt x="495300" y="635000"/>
                  <a:pt x="895350" y="463550"/>
                  <a:pt x="895350" y="463550"/>
                </a:cubicBezTo>
                <a:cubicBezTo>
                  <a:pt x="1295400" y="292100"/>
                  <a:pt x="1701800" y="146050"/>
                  <a:pt x="1701800" y="146050"/>
                </a:cubicBezTo>
                <a:cubicBezTo>
                  <a:pt x="2108200" y="0"/>
                  <a:pt x="2552700" y="44450"/>
                  <a:pt x="2552700" y="44450"/>
                </a:cubicBezTo>
                <a:cubicBezTo>
                  <a:pt x="2997200" y="88900"/>
                  <a:pt x="3143250" y="577850"/>
                  <a:pt x="3143250" y="577850"/>
                </a:cubicBezTo>
                <a:cubicBezTo>
                  <a:pt x="3289300" y="1066800"/>
                  <a:pt x="3562350" y="1301750"/>
                  <a:pt x="3562350" y="1301750"/>
                </a:cubicBezTo>
                <a:cubicBezTo>
                  <a:pt x="3835400" y="1536700"/>
                  <a:pt x="4070350" y="1892300"/>
                  <a:pt x="4070350" y="1892300"/>
                </a:cubicBezTo>
                <a:cubicBezTo>
                  <a:pt x="4305300" y="2247900"/>
                  <a:pt x="4356100" y="2724150"/>
                  <a:pt x="4356100" y="2724150"/>
                </a:cubicBezTo>
                <a:close/>
              </a:path>
            </a:pathLst>
          </a:custGeom>
          <a:solidFill>
            <a:srgbClr val="ffc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" name="Google Shape;95;p13"/>
          <p:cNvGrpSpPr/>
          <p:nvPr/>
        </p:nvGrpSpPr>
        <p:grpSpPr>
          <a:xfrm>
            <a:off x="1663560" y="3886560"/>
            <a:ext cx="14607360" cy="3111120"/>
            <a:chOff x="1663560" y="3886560"/>
            <a:chExt cx="14607360" cy="3111120"/>
          </a:xfrm>
        </p:grpSpPr>
        <p:sp>
          <p:nvSpPr>
            <p:cNvPr id="62" name="Google Shape;96;p13"/>
            <p:cNvSpPr/>
            <p:nvPr/>
          </p:nvSpPr>
          <p:spPr>
            <a:xfrm>
              <a:off x="1663560" y="4169520"/>
              <a:ext cx="14607360" cy="2828160"/>
            </a:xfrm>
            <a:custGeom>
              <a:avLst/>
              <a:gdLst>
                <a:gd name="textAreaLeft" fmla="*/ 0 w 14607360"/>
                <a:gd name="textAreaRight" fmla="*/ 14609160 w 14607360"/>
                <a:gd name="textAreaTop" fmla="*/ 0 h 2828160"/>
                <a:gd name="textAreaBottom" fmla="*/ 2829960 h 2828160"/>
              </a:gdLst>
              <a:ahLst/>
              <a:rect l="textAreaLeft" t="textAreaTop" r="textAreaRight" b="textAreaBottom"/>
              <a:pathLst>
                <a:path w="3847667" h="476303">
                  <a:moveTo>
                    <a:pt x="0" y="0"/>
                  </a:moveTo>
                  <a:lnTo>
                    <a:pt x="3847667" y="0"/>
                  </a:lnTo>
                  <a:lnTo>
                    <a:pt x="3847667" y="476303"/>
                  </a:lnTo>
                  <a:lnTo>
                    <a:pt x="0" y="476303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" name="Google Shape;97;p13"/>
            <p:cNvSpPr/>
            <p:nvPr/>
          </p:nvSpPr>
          <p:spPr>
            <a:xfrm>
              <a:off x="1663560" y="3886560"/>
              <a:ext cx="14607360" cy="311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4" name="Google Shape;98;p13"/>
          <p:cNvSpPr/>
          <p:nvPr/>
        </p:nvSpPr>
        <p:spPr>
          <a:xfrm>
            <a:off x="1787760" y="6237360"/>
            <a:ext cx="1614960" cy="3214440"/>
          </a:xfrm>
          <a:custGeom>
            <a:avLst/>
            <a:gdLst>
              <a:gd name="textAreaLeft" fmla="*/ 0 w 1614960"/>
              <a:gd name="textAreaRight" fmla="*/ 1616760 w 1614960"/>
              <a:gd name="textAreaTop" fmla="*/ 0 h 3214440"/>
              <a:gd name="textAreaBottom" fmla="*/ 3216240 h 3214440"/>
            </a:gdLst>
            <a:ahLst/>
            <a:rect l="textAreaLeft" t="textAreaTop" r="textAreaRight" b="textAreaBottom"/>
            <a:pathLst>
              <a:path w="1616734" h="3216153">
                <a:moveTo>
                  <a:pt x="0" y="0"/>
                </a:moveTo>
                <a:lnTo>
                  <a:pt x="1616734" y="0"/>
                </a:lnTo>
                <a:lnTo>
                  <a:pt x="1616734" y="3216153"/>
                </a:lnTo>
                <a:lnTo>
                  <a:pt x="0" y="32161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100;p13"/>
          <p:cNvSpPr/>
          <p:nvPr/>
        </p:nvSpPr>
        <p:spPr>
          <a:xfrm>
            <a:off x="1905120" y="7072200"/>
            <a:ext cx="4346280" cy="828360"/>
          </a:xfrm>
          <a:custGeom>
            <a:avLst/>
            <a:gdLst>
              <a:gd name="textAreaLeft" fmla="*/ 0 w 4346280"/>
              <a:gd name="textAreaRight" fmla="*/ 4348080 w 4346280"/>
              <a:gd name="textAreaTop" fmla="*/ 0 h 828360"/>
              <a:gd name="textAreaBottom" fmla="*/ 830160 h 828360"/>
            </a:gdLst>
            <a:ahLst/>
            <a:rect l="textAreaLeft" t="textAreaTop" r="textAreaRight" b="textAreaBottom"/>
            <a:pathLst>
              <a:path w="4348056" h="830083">
                <a:moveTo>
                  <a:pt x="0" y="0"/>
                </a:moveTo>
                <a:lnTo>
                  <a:pt x="4348056" y="0"/>
                </a:lnTo>
                <a:lnTo>
                  <a:pt x="4348056" y="830084"/>
                </a:lnTo>
                <a:lnTo>
                  <a:pt x="0" y="8300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6" name="Google Shape;101;p13"/>
          <p:cNvGrpSpPr/>
          <p:nvPr/>
        </p:nvGrpSpPr>
        <p:grpSpPr>
          <a:xfrm>
            <a:off x="15045120" y="7421400"/>
            <a:ext cx="1898640" cy="2009880"/>
            <a:chOff x="15045120" y="7421400"/>
            <a:chExt cx="1898640" cy="2009880"/>
          </a:xfrm>
        </p:grpSpPr>
        <p:sp>
          <p:nvSpPr>
            <p:cNvPr id="67" name="Google Shape;102;p13"/>
            <p:cNvSpPr/>
            <p:nvPr/>
          </p:nvSpPr>
          <p:spPr>
            <a:xfrm>
              <a:off x="15045120" y="7532640"/>
              <a:ext cx="1898640" cy="1898640"/>
            </a:xfrm>
            <a:custGeom>
              <a:avLst/>
              <a:gdLst>
                <a:gd name="textAreaLeft" fmla="*/ 0 w 1898640"/>
                <a:gd name="textAreaRight" fmla="*/ 1900440 w 1898640"/>
                <a:gd name="textAreaTop" fmla="*/ 0 h 1898640"/>
                <a:gd name="textAreaBottom" fmla="*/ 1900440 h 189864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" name="Google Shape;103;p13"/>
            <p:cNvSpPr/>
            <p:nvPr/>
          </p:nvSpPr>
          <p:spPr>
            <a:xfrm>
              <a:off x="15045120" y="7421400"/>
              <a:ext cx="1898640" cy="200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9" name="Google Shape;104;p13"/>
          <p:cNvSpPr/>
          <p:nvPr/>
        </p:nvSpPr>
        <p:spPr>
          <a:xfrm>
            <a:off x="15995520" y="6681600"/>
            <a:ext cx="3051000" cy="3051000"/>
          </a:xfrm>
          <a:custGeom>
            <a:avLst/>
            <a:gdLst>
              <a:gd name="textAreaLeft" fmla="*/ 0 w 3051000"/>
              <a:gd name="textAreaRight" fmla="*/ 3052800 w 3051000"/>
              <a:gd name="textAreaTop" fmla="*/ 0 h 3051000"/>
              <a:gd name="textAreaBottom" fmla="*/ 3052800 h 3051000"/>
            </a:gdLst>
            <a:ahLst/>
            <a:rect l="textAreaLeft" t="textAreaTop" r="textAreaRight" b="textAreaBottom"/>
            <a:pathLst>
              <a:path w="3052749" h="3052749">
                <a:moveTo>
                  <a:pt x="0" y="0"/>
                </a:moveTo>
                <a:lnTo>
                  <a:pt x="3052749" y="0"/>
                </a:lnTo>
                <a:lnTo>
                  <a:pt x="3052749" y="3052749"/>
                </a:lnTo>
                <a:lnTo>
                  <a:pt x="0" y="30527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0" name="Google Shape;108;p13"/>
          <p:cNvGrpSpPr/>
          <p:nvPr/>
        </p:nvGrpSpPr>
        <p:grpSpPr>
          <a:xfrm>
            <a:off x="685800" y="3429000"/>
            <a:ext cx="2164680" cy="807840"/>
            <a:chOff x="685800" y="3429000"/>
            <a:chExt cx="2164680" cy="807840"/>
          </a:xfrm>
        </p:grpSpPr>
        <p:sp>
          <p:nvSpPr>
            <p:cNvPr id="71" name="Google Shape;109;p13"/>
            <p:cNvSpPr/>
            <p:nvPr/>
          </p:nvSpPr>
          <p:spPr>
            <a:xfrm>
              <a:off x="685800" y="3458880"/>
              <a:ext cx="2164680" cy="777960"/>
            </a:xfrm>
            <a:custGeom>
              <a:avLst/>
              <a:gdLst>
                <a:gd name="textAreaLeft" fmla="*/ 0 w 2164680"/>
                <a:gd name="textAreaRight" fmla="*/ 2166480 w 2164680"/>
                <a:gd name="textAreaTop" fmla="*/ 0 h 777960"/>
                <a:gd name="textAreaBottom" fmla="*/ 779760 h 777960"/>
              </a:gdLst>
              <a:ahLst/>
              <a:rect l="textAreaLeft" t="textAreaTop" r="textAreaRight" b="textAreaBottom"/>
              <a:pathLst>
                <a:path w="3458111" h="1244736">
                  <a:moveTo>
                    <a:pt x="0" y="0"/>
                  </a:moveTo>
                  <a:lnTo>
                    <a:pt x="3458111" y="0"/>
                  </a:lnTo>
                  <a:lnTo>
                    <a:pt x="3458111" y="1244736"/>
                  </a:lnTo>
                  <a:lnTo>
                    <a:pt x="0" y="1244736"/>
                  </a:lnTo>
                  <a:close/>
                </a:path>
              </a:pathLst>
            </a:custGeom>
            <a:solidFill>
              <a:srgbClr val="0e8c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Google Shape;110;p13"/>
            <p:cNvSpPr/>
            <p:nvPr/>
          </p:nvSpPr>
          <p:spPr>
            <a:xfrm>
              <a:off x="685800" y="3429000"/>
              <a:ext cx="2164680" cy="80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" name="Google Shape;111;p13"/>
          <p:cNvSpPr/>
          <p:nvPr/>
        </p:nvSpPr>
        <p:spPr>
          <a:xfrm>
            <a:off x="2286000" y="4343400"/>
            <a:ext cx="135579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5400" spc="-1" strike="noStrike">
                <a:solidFill>
                  <a:schemeClr val="dk1"/>
                </a:solidFill>
                <a:latin typeface="Calibri"/>
                <a:ea typeface="Bungee"/>
              </a:rPr>
              <a:t>Rhymer — ИИ-генерация и автоматическая оценка рифмованной русской поэзии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112;p13"/>
          <p:cNvSpPr/>
          <p:nvPr/>
        </p:nvSpPr>
        <p:spPr>
          <a:xfrm>
            <a:off x="3404160" y="8229600"/>
            <a:ext cx="121392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500" spc="-1" strike="noStrike">
                <a:solidFill>
                  <a:srgbClr val="000000"/>
                </a:solidFill>
                <a:latin typeface="Lato"/>
                <a:ea typeface="Lato"/>
              </a:rPr>
              <a:t>Учебная практика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500" spc="-1" strike="noStrike">
                <a:solidFill>
                  <a:srgbClr val="000000"/>
                </a:solidFill>
                <a:latin typeface="Lato"/>
                <a:ea typeface="Lato"/>
              </a:rPr>
              <a:t>Подготовил к защите: Каримов Сафо, гр. 5095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" name="Google Shape;113;p13"/>
          <p:cNvGrpSpPr/>
          <p:nvPr/>
        </p:nvGrpSpPr>
        <p:grpSpPr>
          <a:xfrm>
            <a:off x="13148640" y="2438280"/>
            <a:ext cx="3283560" cy="1374840"/>
            <a:chOff x="13148640" y="2438280"/>
            <a:chExt cx="3283560" cy="1374840"/>
          </a:xfrm>
        </p:grpSpPr>
        <p:sp>
          <p:nvSpPr>
            <p:cNvPr id="76" name="Google Shape;114;p13"/>
            <p:cNvSpPr/>
            <p:nvPr/>
          </p:nvSpPr>
          <p:spPr>
            <a:xfrm>
              <a:off x="13148640" y="340020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" name="Google Shape;115;p13"/>
            <p:cNvSpPr/>
            <p:nvPr/>
          </p:nvSpPr>
          <p:spPr>
            <a:xfrm>
              <a:off x="13148640" y="291924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" name="Google Shape;116;p13"/>
            <p:cNvSpPr/>
            <p:nvPr/>
          </p:nvSpPr>
          <p:spPr>
            <a:xfrm>
              <a:off x="13148640" y="243828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" name="Google Shape;117;p13"/>
          <p:cNvGrpSpPr/>
          <p:nvPr/>
        </p:nvGrpSpPr>
        <p:grpSpPr>
          <a:xfrm>
            <a:off x="12947040" y="6651720"/>
            <a:ext cx="505800" cy="535680"/>
            <a:chOff x="12947040" y="6651720"/>
            <a:chExt cx="505800" cy="535680"/>
          </a:xfrm>
        </p:grpSpPr>
        <p:sp>
          <p:nvSpPr>
            <p:cNvPr id="80" name="Google Shape;118;p13"/>
            <p:cNvSpPr/>
            <p:nvPr/>
          </p:nvSpPr>
          <p:spPr>
            <a:xfrm>
              <a:off x="12947040" y="6681600"/>
              <a:ext cx="505800" cy="505800"/>
            </a:xfrm>
            <a:custGeom>
              <a:avLst/>
              <a:gdLst>
                <a:gd name="textAreaLeft" fmla="*/ 0 w 505800"/>
                <a:gd name="textAreaRight" fmla="*/ 507600 w 505800"/>
                <a:gd name="textAreaTop" fmla="*/ 0 h 505800"/>
                <a:gd name="textAreaBottom" fmla="*/ 507600 h 5058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Google Shape;119;p13"/>
            <p:cNvSpPr/>
            <p:nvPr/>
          </p:nvSpPr>
          <p:spPr>
            <a:xfrm>
              <a:off x="12947040" y="6651720"/>
              <a:ext cx="505800" cy="53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" name="Google Shape;120;p13"/>
          <p:cNvGrpSpPr/>
          <p:nvPr/>
        </p:nvGrpSpPr>
        <p:grpSpPr>
          <a:xfrm>
            <a:off x="13869000" y="6651720"/>
            <a:ext cx="505800" cy="535680"/>
            <a:chOff x="13869000" y="6651720"/>
            <a:chExt cx="505800" cy="535680"/>
          </a:xfrm>
        </p:grpSpPr>
        <p:sp>
          <p:nvSpPr>
            <p:cNvPr id="83" name="Google Shape;121;p13"/>
            <p:cNvSpPr/>
            <p:nvPr/>
          </p:nvSpPr>
          <p:spPr>
            <a:xfrm>
              <a:off x="13869000" y="6681600"/>
              <a:ext cx="505800" cy="505800"/>
            </a:xfrm>
            <a:custGeom>
              <a:avLst/>
              <a:gdLst>
                <a:gd name="textAreaLeft" fmla="*/ 0 w 505800"/>
                <a:gd name="textAreaRight" fmla="*/ 507600 w 505800"/>
                <a:gd name="textAreaTop" fmla="*/ 0 h 505800"/>
                <a:gd name="textAreaBottom" fmla="*/ 507600 h 5058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Google Shape;122;p13"/>
            <p:cNvSpPr/>
            <p:nvPr/>
          </p:nvSpPr>
          <p:spPr>
            <a:xfrm>
              <a:off x="13869000" y="6651720"/>
              <a:ext cx="505800" cy="53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" name="Google Shape;123;p13"/>
          <p:cNvGrpSpPr/>
          <p:nvPr/>
        </p:nvGrpSpPr>
        <p:grpSpPr>
          <a:xfrm>
            <a:off x="14791320" y="6651720"/>
            <a:ext cx="505800" cy="535680"/>
            <a:chOff x="14791320" y="6651720"/>
            <a:chExt cx="505800" cy="535680"/>
          </a:xfrm>
        </p:grpSpPr>
        <p:sp>
          <p:nvSpPr>
            <p:cNvPr id="86" name="Google Shape;124;p13"/>
            <p:cNvSpPr/>
            <p:nvPr/>
          </p:nvSpPr>
          <p:spPr>
            <a:xfrm>
              <a:off x="14791320" y="6681600"/>
              <a:ext cx="505800" cy="505800"/>
            </a:xfrm>
            <a:custGeom>
              <a:avLst/>
              <a:gdLst>
                <a:gd name="textAreaLeft" fmla="*/ 0 w 505800"/>
                <a:gd name="textAreaRight" fmla="*/ 507600 w 505800"/>
                <a:gd name="textAreaTop" fmla="*/ 0 h 505800"/>
                <a:gd name="textAreaBottom" fmla="*/ 507600 h 5058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Google Shape;125;p13"/>
            <p:cNvSpPr/>
            <p:nvPr/>
          </p:nvSpPr>
          <p:spPr>
            <a:xfrm>
              <a:off x="14791320" y="6651720"/>
              <a:ext cx="505800" cy="53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p14:dur="400">
        <p:push dir="r"/>
      </p:transition>
    </mc:Choice>
    <mc:Fallback>
      <p:transition>
        <p:push dir="r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30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47;p15"/>
          <p:cNvSpPr/>
          <p:nvPr/>
        </p:nvSpPr>
        <p:spPr>
          <a:xfrm>
            <a:off x="-2954520" y="-2872800"/>
            <a:ext cx="10818360" cy="10849680"/>
          </a:xfrm>
          <a:custGeom>
            <a:avLst/>
            <a:gdLst>
              <a:gd name="textAreaLeft" fmla="*/ 0 w 10818360"/>
              <a:gd name="textAreaRight" fmla="*/ 10820160 w 10818360"/>
              <a:gd name="textAreaTop" fmla="*/ 0 h 10849680"/>
              <a:gd name="textAreaBottom" fmla="*/ 10851480 h 10849680"/>
            </a:gdLst>
            <a:ahLst/>
            <a:rect l="textAreaLeft" t="textAreaTop" r="textAreaRight" b="textAreaBottom"/>
            <a:pathLst>
              <a:path w="4406900" h="4419600">
                <a:moveTo>
                  <a:pt x="4356100" y="2724150"/>
                </a:moveTo>
                <a:cubicBezTo>
                  <a:pt x="4406900" y="3200400"/>
                  <a:pt x="4152900" y="3619500"/>
                  <a:pt x="4152900" y="3619500"/>
                </a:cubicBezTo>
                <a:cubicBezTo>
                  <a:pt x="3898900" y="4038600"/>
                  <a:pt x="3422650" y="4159250"/>
                  <a:pt x="3422650" y="4159250"/>
                </a:cubicBezTo>
                <a:cubicBezTo>
                  <a:pt x="2946400" y="4279900"/>
                  <a:pt x="2527300" y="4051300"/>
                  <a:pt x="2527300" y="4051300"/>
                </a:cubicBezTo>
                <a:cubicBezTo>
                  <a:pt x="2108200" y="3822700"/>
                  <a:pt x="1657350" y="4121150"/>
                  <a:pt x="1657350" y="4121150"/>
                </a:cubicBezTo>
                <a:cubicBezTo>
                  <a:pt x="1206500" y="4419600"/>
                  <a:pt x="857250" y="4133850"/>
                  <a:pt x="857250" y="4133850"/>
                </a:cubicBezTo>
                <a:cubicBezTo>
                  <a:pt x="508000" y="3848100"/>
                  <a:pt x="577850" y="3352800"/>
                  <a:pt x="577850" y="3352800"/>
                </a:cubicBezTo>
                <a:cubicBezTo>
                  <a:pt x="647700" y="2857500"/>
                  <a:pt x="488950" y="2552700"/>
                  <a:pt x="488950" y="2552700"/>
                </a:cubicBezTo>
                <a:cubicBezTo>
                  <a:pt x="330200" y="2247900"/>
                  <a:pt x="165100" y="1809750"/>
                  <a:pt x="165100" y="1809750"/>
                </a:cubicBezTo>
                <a:cubicBezTo>
                  <a:pt x="0" y="1371600"/>
                  <a:pt x="247650" y="1003300"/>
                  <a:pt x="247650" y="1003300"/>
                </a:cubicBezTo>
                <a:cubicBezTo>
                  <a:pt x="495300" y="635000"/>
                  <a:pt x="895350" y="463550"/>
                  <a:pt x="895350" y="463550"/>
                </a:cubicBezTo>
                <a:cubicBezTo>
                  <a:pt x="1295400" y="292100"/>
                  <a:pt x="1701800" y="146050"/>
                  <a:pt x="1701800" y="146050"/>
                </a:cubicBezTo>
                <a:cubicBezTo>
                  <a:pt x="2108200" y="0"/>
                  <a:pt x="2552700" y="44450"/>
                  <a:pt x="2552700" y="44450"/>
                </a:cubicBezTo>
                <a:cubicBezTo>
                  <a:pt x="2997200" y="88900"/>
                  <a:pt x="3143250" y="577850"/>
                  <a:pt x="3143250" y="577850"/>
                </a:cubicBezTo>
                <a:cubicBezTo>
                  <a:pt x="3289300" y="1066800"/>
                  <a:pt x="3562350" y="1301750"/>
                  <a:pt x="3562350" y="1301750"/>
                </a:cubicBezTo>
                <a:cubicBezTo>
                  <a:pt x="3835400" y="1536700"/>
                  <a:pt x="4070350" y="1892300"/>
                  <a:pt x="4070350" y="1892300"/>
                </a:cubicBezTo>
                <a:cubicBezTo>
                  <a:pt x="4305300" y="2247900"/>
                  <a:pt x="4356100" y="2724150"/>
                  <a:pt x="4356100" y="2724150"/>
                </a:cubicBezTo>
                <a:close/>
              </a:path>
            </a:pathLst>
          </a:custGeom>
          <a:solidFill>
            <a:srgbClr val="753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48;p15"/>
          <p:cNvSpPr/>
          <p:nvPr/>
        </p:nvSpPr>
        <p:spPr>
          <a:xfrm flipH="1" rot="10800000">
            <a:off x="13061520" y="2291760"/>
            <a:ext cx="10451520" cy="10451520"/>
          </a:xfrm>
          <a:custGeom>
            <a:avLst/>
            <a:gdLst>
              <a:gd name="textAreaLeft" fmla="*/ 1080 w 10451520"/>
              <a:gd name="textAreaRight" fmla="*/ 10454400 w 10451520"/>
              <a:gd name="textAreaTop" fmla="*/ 0 h 10451520"/>
              <a:gd name="textAreaBottom" fmla="*/ 10453320 h 10451520"/>
            </a:gdLst>
            <a:ahLst/>
            <a:rect l="textAreaLeft" t="textAreaTop" r="textAreaRight" b="textAreaBottom"/>
            <a:pathLst>
              <a:path w="10453179" h="10453179">
                <a:moveTo>
                  <a:pt x="0" y="10453179"/>
                </a:moveTo>
                <a:lnTo>
                  <a:pt x="10453178" y="10453179"/>
                </a:lnTo>
                <a:lnTo>
                  <a:pt x="10453178" y="0"/>
                </a:lnTo>
                <a:lnTo>
                  <a:pt x="0" y="0"/>
                </a:lnTo>
                <a:lnTo>
                  <a:pt x="0" y="1045317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0" name="Google Shape;149;p15"/>
          <p:cNvGraphicFramePr/>
          <p:nvPr/>
        </p:nvGraphicFramePr>
        <p:xfrm>
          <a:off x="1228680" y="872640"/>
          <a:ext cx="15830280" cy="8540640"/>
        </p:xfrm>
        <a:graphic>
          <a:graphicData uri="http://schemas.openxmlformats.org/drawingml/2006/table">
            <a:tbl>
              <a:tblPr/>
              <a:tblGrid>
                <a:gridCol w="8797680"/>
                <a:gridCol w="7032960"/>
              </a:tblGrid>
              <a:tr h="2846880">
                <a:tc rowSpan="3"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0e8cfe"/>
                    </a:solidFill>
                  </a:tcPr>
                </a:tc>
              </a:tr>
              <a:tr h="28468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ffc418"/>
                    </a:solidFill>
                  </a:tcPr>
                </a:tc>
              </a:tr>
              <a:tr h="28468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b35eff"/>
                    </a:solidFill>
                  </a:tcPr>
                </a:tc>
              </a:tr>
            </a:tbl>
          </a:graphicData>
        </a:graphic>
      </p:graphicFrame>
      <p:grpSp>
        <p:nvGrpSpPr>
          <p:cNvPr id="91" name="Google Shape;150;p15"/>
          <p:cNvGrpSpPr/>
          <p:nvPr/>
        </p:nvGrpSpPr>
        <p:grpSpPr>
          <a:xfrm>
            <a:off x="1490040" y="6401520"/>
            <a:ext cx="8156520" cy="1302840"/>
            <a:chOff x="1490040" y="6401520"/>
            <a:chExt cx="8156520" cy="1302840"/>
          </a:xfrm>
        </p:grpSpPr>
        <p:sp>
          <p:nvSpPr>
            <p:cNvPr id="92" name="Google Shape;151;p15"/>
            <p:cNvSpPr/>
            <p:nvPr/>
          </p:nvSpPr>
          <p:spPr>
            <a:xfrm>
              <a:off x="1490040" y="6513120"/>
              <a:ext cx="8156520" cy="1191240"/>
            </a:xfrm>
            <a:custGeom>
              <a:avLst/>
              <a:gdLst>
                <a:gd name="textAreaLeft" fmla="*/ 0 w 8156520"/>
                <a:gd name="textAreaRight" fmla="*/ 8158320 w 8156520"/>
                <a:gd name="textAreaTop" fmla="*/ 0 h 1191240"/>
                <a:gd name="textAreaBottom" fmla="*/ 1193040 h 1191240"/>
              </a:gdLst>
              <a:ahLst/>
              <a:rect l="textAreaLeft" t="textAreaTop" r="textAreaRight" b="textAreaBottom"/>
              <a:pathLst>
                <a:path w="3489182" h="510278">
                  <a:moveTo>
                    <a:pt x="0" y="0"/>
                  </a:moveTo>
                  <a:lnTo>
                    <a:pt x="3489182" y="0"/>
                  </a:lnTo>
                  <a:lnTo>
                    <a:pt x="3489182" y="510278"/>
                  </a:lnTo>
                  <a:lnTo>
                    <a:pt x="0" y="510278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Google Shape;152;p15"/>
            <p:cNvSpPr/>
            <p:nvPr/>
          </p:nvSpPr>
          <p:spPr>
            <a:xfrm>
              <a:off x="1490040" y="6401520"/>
              <a:ext cx="8156520" cy="130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4" name="Google Shape;153;p15"/>
          <p:cNvSpPr/>
          <p:nvPr/>
        </p:nvSpPr>
        <p:spPr>
          <a:xfrm>
            <a:off x="11658600" y="4114800"/>
            <a:ext cx="4156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Как это работает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54;p15"/>
          <p:cNvSpPr/>
          <p:nvPr/>
        </p:nvSpPr>
        <p:spPr>
          <a:xfrm>
            <a:off x="12115800" y="4800600"/>
            <a:ext cx="3304440" cy="15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Архитектура, RPST, авторский алгоритм, сравнение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55;p15"/>
          <p:cNvSpPr/>
          <p:nvPr/>
        </p:nvSpPr>
        <p:spPr>
          <a:xfrm>
            <a:off x="11848320" y="1394640"/>
            <a:ext cx="33044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Зачем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56;p15"/>
          <p:cNvSpPr/>
          <p:nvPr/>
        </p:nvSpPr>
        <p:spPr>
          <a:xfrm>
            <a:off x="11658600" y="2290680"/>
            <a:ext cx="388512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Проблема, актуальность, цель и ценность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57;p15"/>
          <p:cNvSpPr/>
          <p:nvPr/>
        </p:nvSpPr>
        <p:spPr>
          <a:xfrm>
            <a:off x="11751120" y="6958800"/>
            <a:ext cx="37926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Итог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58;p15"/>
          <p:cNvSpPr/>
          <p:nvPr/>
        </p:nvSpPr>
        <p:spPr>
          <a:xfrm>
            <a:off x="12115800" y="7772400"/>
            <a:ext cx="330444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Демонстрация, результаты и выводы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59;p15"/>
          <p:cNvSpPr/>
          <p:nvPr/>
        </p:nvSpPr>
        <p:spPr>
          <a:xfrm>
            <a:off x="1490040" y="5605920"/>
            <a:ext cx="7866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Содержание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1" name="Google Shape;160;p15"/>
          <p:cNvGrpSpPr/>
          <p:nvPr/>
        </p:nvGrpSpPr>
        <p:grpSpPr>
          <a:xfrm>
            <a:off x="1490040" y="4368960"/>
            <a:ext cx="729720" cy="772920"/>
            <a:chOff x="1490040" y="4368960"/>
            <a:chExt cx="729720" cy="772920"/>
          </a:xfrm>
        </p:grpSpPr>
        <p:sp>
          <p:nvSpPr>
            <p:cNvPr id="102" name="Google Shape;161;p15"/>
            <p:cNvSpPr/>
            <p:nvPr/>
          </p:nvSpPr>
          <p:spPr>
            <a:xfrm>
              <a:off x="1490040" y="441216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" name="Google Shape;162;p15"/>
            <p:cNvSpPr/>
            <p:nvPr/>
          </p:nvSpPr>
          <p:spPr>
            <a:xfrm>
              <a:off x="1490040" y="436896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4" name="Google Shape;163;p15"/>
          <p:cNvGrpSpPr/>
          <p:nvPr/>
        </p:nvGrpSpPr>
        <p:grpSpPr>
          <a:xfrm>
            <a:off x="2698200" y="4368960"/>
            <a:ext cx="729720" cy="772920"/>
            <a:chOff x="2698200" y="4368960"/>
            <a:chExt cx="729720" cy="772920"/>
          </a:xfrm>
        </p:grpSpPr>
        <p:sp>
          <p:nvSpPr>
            <p:cNvPr id="105" name="Google Shape;164;p15"/>
            <p:cNvSpPr/>
            <p:nvPr/>
          </p:nvSpPr>
          <p:spPr>
            <a:xfrm>
              <a:off x="2698200" y="441216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Google Shape;165;p15"/>
            <p:cNvSpPr/>
            <p:nvPr/>
          </p:nvSpPr>
          <p:spPr>
            <a:xfrm>
              <a:off x="2698200" y="436896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7" name="Google Shape;166;p15"/>
          <p:cNvGrpSpPr/>
          <p:nvPr/>
        </p:nvGrpSpPr>
        <p:grpSpPr>
          <a:xfrm>
            <a:off x="3906000" y="4368960"/>
            <a:ext cx="729720" cy="772920"/>
            <a:chOff x="3906000" y="4368960"/>
            <a:chExt cx="729720" cy="772920"/>
          </a:xfrm>
        </p:grpSpPr>
        <p:sp>
          <p:nvSpPr>
            <p:cNvPr id="108" name="Google Shape;167;p15"/>
            <p:cNvSpPr/>
            <p:nvPr/>
          </p:nvSpPr>
          <p:spPr>
            <a:xfrm>
              <a:off x="3906000" y="441216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Google Shape;168;p15"/>
            <p:cNvSpPr/>
            <p:nvPr/>
          </p:nvSpPr>
          <p:spPr>
            <a:xfrm>
              <a:off x="3906000" y="436896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0" name="Google Shape;169;p15"/>
          <p:cNvGrpSpPr/>
          <p:nvPr/>
        </p:nvGrpSpPr>
        <p:grpSpPr>
          <a:xfrm>
            <a:off x="9144000" y="1369080"/>
            <a:ext cx="1647000" cy="1743480"/>
            <a:chOff x="9144000" y="1369080"/>
            <a:chExt cx="1647000" cy="1743480"/>
          </a:xfrm>
        </p:grpSpPr>
        <p:sp>
          <p:nvSpPr>
            <p:cNvPr id="111" name="Google Shape;170;p15"/>
            <p:cNvSpPr/>
            <p:nvPr/>
          </p:nvSpPr>
          <p:spPr>
            <a:xfrm>
              <a:off x="9144000" y="1465560"/>
              <a:ext cx="1647000" cy="1647000"/>
            </a:xfrm>
            <a:custGeom>
              <a:avLst/>
              <a:gdLst>
                <a:gd name="textAreaLeft" fmla="*/ 0 w 1647000"/>
                <a:gd name="textAreaRight" fmla="*/ 1648800 w 1647000"/>
                <a:gd name="textAreaTop" fmla="*/ 0 h 1647000"/>
                <a:gd name="textAreaBottom" fmla="*/ 1648800 h 16470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35eff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" name="Google Shape;171;p15"/>
            <p:cNvSpPr/>
            <p:nvPr/>
          </p:nvSpPr>
          <p:spPr>
            <a:xfrm>
              <a:off x="9144000" y="1369080"/>
              <a:ext cx="1647000" cy="174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" name="Google Shape;172;p15"/>
          <p:cNvGrpSpPr/>
          <p:nvPr/>
        </p:nvGrpSpPr>
        <p:grpSpPr>
          <a:xfrm>
            <a:off x="9144000" y="4222440"/>
            <a:ext cx="1647000" cy="1743480"/>
            <a:chOff x="9144000" y="4222440"/>
            <a:chExt cx="1647000" cy="1743480"/>
          </a:xfrm>
        </p:grpSpPr>
        <p:sp>
          <p:nvSpPr>
            <p:cNvPr id="114" name="Google Shape;173;p15"/>
            <p:cNvSpPr/>
            <p:nvPr/>
          </p:nvSpPr>
          <p:spPr>
            <a:xfrm>
              <a:off x="9144000" y="4318920"/>
              <a:ext cx="1647000" cy="1647000"/>
            </a:xfrm>
            <a:custGeom>
              <a:avLst/>
              <a:gdLst>
                <a:gd name="textAreaLeft" fmla="*/ 0 w 1647000"/>
                <a:gd name="textAreaRight" fmla="*/ 1648800 w 1647000"/>
                <a:gd name="textAreaTop" fmla="*/ 0 h 1647000"/>
                <a:gd name="textAreaBottom" fmla="*/ 1648800 h 16470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536ff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" name="Google Shape;174;p15"/>
            <p:cNvSpPr/>
            <p:nvPr/>
          </p:nvSpPr>
          <p:spPr>
            <a:xfrm>
              <a:off x="9144000" y="4222440"/>
              <a:ext cx="1647000" cy="174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6" name="Google Shape;175;p15"/>
          <p:cNvGrpSpPr/>
          <p:nvPr/>
        </p:nvGrpSpPr>
        <p:grpSpPr>
          <a:xfrm>
            <a:off x="9144000" y="7123680"/>
            <a:ext cx="1647000" cy="1743480"/>
            <a:chOff x="9144000" y="7123680"/>
            <a:chExt cx="1647000" cy="1743480"/>
          </a:xfrm>
        </p:grpSpPr>
        <p:sp>
          <p:nvSpPr>
            <p:cNvPr id="117" name="Google Shape;176;p15"/>
            <p:cNvSpPr/>
            <p:nvPr/>
          </p:nvSpPr>
          <p:spPr>
            <a:xfrm>
              <a:off x="9144000" y="7220160"/>
              <a:ext cx="1647000" cy="1647000"/>
            </a:xfrm>
            <a:custGeom>
              <a:avLst/>
              <a:gdLst>
                <a:gd name="textAreaLeft" fmla="*/ 0 w 1647000"/>
                <a:gd name="textAreaRight" fmla="*/ 1648800 w 1647000"/>
                <a:gd name="textAreaTop" fmla="*/ 0 h 1647000"/>
                <a:gd name="textAreaBottom" fmla="*/ 1648800 h 16470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0350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" name="Google Shape;177;p15"/>
            <p:cNvSpPr/>
            <p:nvPr/>
          </p:nvSpPr>
          <p:spPr>
            <a:xfrm>
              <a:off x="9144000" y="7123680"/>
              <a:ext cx="1647000" cy="1743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9" name="Google Shape;178;p15"/>
          <p:cNvSpPr/>
          <p:nvPr/>
        </p:nvSpPr>
        <p:spPr>
          <a:xfrm>
            <a:off x="9090720" y="1828080"/>
            <a:ext cx="1753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6500" spc="-1" strike="noStrike">
                <a:solidFill>
                  <a:srgbClr val="000000"/>
                </a:solidFill>
                <a:latin typeface="Bungee"/>
                <a:ea typeface="Bungee"/>
              </a:rPr>
              <a:t>01.</a:t>
            </a:r>
            <a:endParaRPr b="0" lang="en-US" sz="6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79;p15"/>
          <p:cNvSpPr/>
          <p:nvPr/>
        </p:nvSpPr>
        <p:spPr>
          <a:xfrm>
            <a:off x="9144000" y="4618800"/>
            <a:ext cx="1647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6500" spc="-1" strike="noStrike">
                <a:solidFill>
                  <a:srgbClr val="000000"/>
                </a:solidFill>
                <a:latin typeface="Bungee"/>
                <a:ea typeface="Bungee"/>
              </a:rPr>
              <a:t>02.</a:t>
            </a:r>
            <a:endParaRPr b="0" lang="en-US" sz="6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Google Shape;180;p15"/>
          <p:cNvSpPr/>
          <p:nvPr/>
        </p:nvSpPr>
        <p:spPr>
          <a:xfrm>
            <a:off x="9039240" y="7496280"/>
            <a:ext cx="1856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6500" spc="-1" strike="noStrike">
                <a:solidFill>
                  <a:srgbClr val="000000"/>
                </a:solidFill>
                <a:latin typeface="Bungee"/>
                <a:ea typeface="Bungee"/>
              </a:rPr>
              <a:t>03.</a:t>
            </a:r>
            <a:endParaRPr b="0" lang="en-US" sz="6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181;p15"/>
          <p:cNvSpPr/>
          <p:nvPr/>
        </p:nvSpPr>
        <p:spPr>
          <a:xfrm flipH="1" rot="10800000">
            <a:off x="-819000" y="-651240"/>
            <a:ext cx="4722840" cy="4113000"/>
          </a:xfrm>
          <a:custGeom>
            <a:avLst/>
            <a:gdLst>
              <a:gd name="textAreaLeft" fmla="*/ -1080 w 4722840"/>
              <a:gd name="textAreaRight" fmla="*/ 4723560 w 4722840"/>
              <a:gd name="textAreaTop" fmla="*/ 0 h 4113000"/>
              <a:gd name="textAreaBottom" fmla="*/ 4114800 h 4113000"/>
            </a:gdLst>
            <a:ahLst/>
            <a:rect l="textAreaLeft" t="textAreaTop" r="textAreaRight" b="textAreaBottom"/>
            <a:pathLst>
              <a:path w="4724718" h="4114800">
                <a:moveTo>
                  <a:pt x="0" y="4114800"/>
                </a:moveTo>
                <a:lnTo>
                  <a:pt x="4724718" y="4114800"/>
                </a:lnTo>
                <a:lnTo>
                  <a:pt x="472471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p14:dur="400">
        <p:push dir="r"/>
      </p:transition>
    </mc:Choice>
    <mc:Fallback>
      <p:transition>
        <p:push dir="r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30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86;p16"/>
          <p:cNvSpPr/>
          <p:nvPr/>
        </p:nvSpPr>
        <p:spPr>
          <a:xfrm>
            <a:off x="1650960" y="2122200"/>
            <a:ext cx="11832480" cy="9081000"/>
          </a:xfrm>
          <a:custGeom>
            <a:avLst/>
            <a:gdLst>
              <a:gd name="textAreaLeft" fmla="*/ 0 w 11832480"/>
              <a:gd name="textAreaRight" fmla="*/ 11834280 w 11832480"/>
              <a:gd name="textAreaTop" fmla="*/ 0 h 9081000"/>
              <a:gd name="textAreaBottom" fmla="*/ 9082800 h 9081000"/>
            </a:gdLst>
            <a:ahLst/>
            <a:rect l="textAreaLeft" t="textAreaTop" r="textAreaRight" b="textAreaBottom"/>
            <a:pathLst>
              <a:path w="11834176" h="9082730">
                <a:moveTo>
                  <a:pt x="0" y="0"/>
                </a:moveTo>
                <a:lnTo>
                  <a:pt x="11834177" y="0"/>
                </a:lnTo>
                <a:lnTo>
                  <a:pt x="11834177" y="9082730"/>
                </a:lnTo>
                <a:lnTo>
                  <a:pt x="0" y="90827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87;p16"/>
          <p:cNvSpPr/>
          <p:nvPr/>
        </p:nvSpPr>
        <p:spPr>
          <a:xfrm rot="16200000">
            <a:off x="2179080" y="-526320"/>
            <a:ext cx="8434080" cy="9490320"/>
          </a:xfrm>
          <a:custGeom>
            <a:avLst/>
            <a:gdLst>
              <a:gd name="textAreaLeft" fmla="*/ 0 w 8434080"/>
              <a:gd name="textAreaRight" fmla="*/ 8435880 w 8434080"/>
              <a:gd name="textAreaTop" fmla="*/ 0 h 9490320"/>
              <a:gd name="textAreaBottom" fmla="*/ 9492120 h 9490320"/>
            </a:gdLst>
            <a:ahLst/>
            <a:rect l="textAreaLeft" t="textAreaTop" r="textAreaRight" b="textAreaBottom"/>
            <a:pathLst>
              <a:path w="8435965" h="9491943">
                <a:moveTo>
                  <a:pt x="0" y="0"/>
                </a:moveTo>
                <a:lnTo>
                  <a:pt x="8435964" y="0"/>
                </a:lnTo>
                <a:lnTo>
                  <a:pt x="8435964" y="9491943"/>
                </a:lnTo>
                <a:lnTo>
                  <a:pt x="0" y="94919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88;p16"/>
          <p:cNvSpPr/>
          <p:nvPr/>
        </p:nvSpPr>
        <p:spPr>
          <a:xfrm>
            <a:off x="10601280" y="1780200"/>
            <a:ext cx="14520960" cy="10200600"/>
          </a:xfrm>
          <a:custGeom>
            <a:avLst/>
            <a:gdLst>
              <a:gd name="textAreaLeft" fmla="*/ 0 w 14520960"/>
              <a:gd name="textAreaRight" fmla="*/ 14522760 w 14520960"/>
              <a:gd name="textAreaTop" fmla="*/ 0 h 10200600"/>
              <a:gd name="textAreaBottom" fmla="*/ 10202400 h 10200600"/>
            </a:gdLst>
            <a:ahLst/>
            <a:rect l="textAreaLeft" t="textAreaTop" r="textAreaRight" b="textAreaBottom"/>
            <a:pathLst>
              <a:path w="14522752" h="10202233">
                <a:moveTo>
                  <a:pt x="0" y="0"/>
                </a:moveTo>
                <a:lnTo>
                  <a:pt x="14522752" y="0"/>
                </a:lnTo>
                <a:lnTo>
                  <a:pt x="14522752" y="10202234"/>
                </a:lnTo>
                <a:lnTo>
                  <a:pt x="0" y="102022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89;p16"/>
          <p:cNvSpPr/>
          <p:nvPr/>
        </p:nvSpPr>
        <p:spPr>
          <a:xfrm>
            <a:off x="-2370960" y="583200"/>
            <a:ext cx="7983000" cy="8006040"/>
          </a:xfrm>
          <a:custGeom>
            <a:avLst/>
            <a:gdLst>
              <a:gd name="textAreaLeft" fmla="*/ 0 w 7983000"/>
              <a:gd name="textAreaRight" fmla="*/ 7984800 w 7983000"/>
              <a:gd name="textAreaTop" fmla="*/ 0 h 8006040"/>
              <a:gd name="textAreaBottom" fmla="*/ 8007840 h 8006040"/>
            </a:gdLst>
            <a:ahLst/>
            <a:rect l="textAreaLeft" t="textAreaTop" r="textAreaRight" b="textAreaBottom"/>
            <a:pathLst>
              <a:path w="4406900" h="4419600">
                <a:moveTo>
                  <a:pt x="4356100" y="2724150"/>
                </a:moveTo>
                <a:cubicBezTo>
                  <a:pt x="4406900" y="3200400"/>
                  <a:pt x="4152900" y="3619500"/>
                  <a:pt x="4152900" y="3619500"/>
                </a:cubicBezTo>
                <a:cubicBezTo>
                  <a:pt x="3898900" y="4038600"/>
                  <a:pt x="3422650" y="4159250"/>
                  <a:pt x="3422650" y="4159250"/>
                </a:cubicBezTo>
                <a:cubicBezTo>
                  <a:pt x="2946400" y="4279900"/>
                  <a:pt x="2527300" y="4051300"/>
                  <a:pt x="2527300" y="4051300"/>
                </a:cubicBezTo>
                <a:cubicBezTo>
                  <a:pt x="2108200" y="3822700"/>
                  <a:pt x="1657350" y="4121150"/>
                  <a:pt x="1657350" y="4121150"/>
                </a:cubicBezTo>
                <a:cubicBezTo>
                  <a:pt x="1206500" y="4419600"/>
                  <a:pt x="857250" y="4133850"/>
                  <a:pt x="857250" y="4133850"/>
                </a:cubicBezTo>
                <a:cubicBezTo>
                  <a:pt x="508000" y="3848100"/>
                  <a:pt x="577850" y="3352800"/>
                  <a:pt x="577850" y="3352800"/>
                </a:cubicBezTo>
                <a:cubicBezTo>
                  <a:pt x="647700" y="2857500"/>
                  <a:pt x="488950" y="2552700"/>
                  <a:pt x="488950" y="2552700"/>
                </a:cubicBezTo>
                <a:cubicBezTo>
                  <a:pt x="330200" y="2247900"/>
                  <a:pt x="165100" y="1809750"/>
                  <a:pt x="165100" y="1809750"/>
                </a:cubicBezTo>
                <a:cubicBezTo>
                  <a:pt x="0" y="1371600"/>
                  <a:pt x="247650" y="1003300"/>
                  <a:pt x="247650" y="1003300"/>
                </a:cubicBezTo>
                <a:cubicBezTo>
                  <a:pt x="495300" y="635000"/>
                  <a:pt x="895350" y="463550"/>
                  <a:pt x="895350" y="463550"/>
                </a:cubicBezTo>
                <a:cubicBezTo>
                  <a:pt x="1295400" y="292100"/>
                  <a:pt x="1701800" y="146050"/>
                  <a:pt x="1701800" y="146050"/>
                </a:cubicBezTo>
                <a:cubicBezTo>
                  <a:pt x="2108200" y="0"/>
                  <a:pt x="2552700" y="44450"/>
                  <a:pt x="2552700" y="44450"/>
                </a:cubicBezTo>
                <a:cubicBezTo>
                  <a:pt x="2997200" y="88900"/>
                  <a:pt x="3143250" y="577850"/>
                  <a:pt x="3143250" y="577850"/>
                </a:cubicBezTo>
                <a:cubicBezTo>
                  <a:pt x="3289300" y="1066800"/>
                  <a:pt x="3562350" y="1301750"/>
                  <a:pt x="3562350" y="1301750"/>
                </a:cubicBezTo>
                <a:cubicBezTo>
                  <a:pt x="3835400" y="1536700"/>
                  <a:pt x="4070350" y="1892300"/>
                  <a:pt x="4070350" y="1892300"/>
                </a:cubicBezTo>
                <a:cubicBezTo>
                  <a:pt x="4305300" y="2247900"/>
                  <a:pt x="4356100" y="2724150"/>
                  <a:pt x="4356100" y="2724150"/>
                </a:cubicBezTo>
                <a:close/>
              </a:path>
            </a:pathLst>
          </a:custGeom>
          <a:solidFill>
            <a:srgbClr val="0e8c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90;p16"/>
          <p:cNvSpPr/>
          <p:nvPr/>
        </p:nvSpPr>
        <p:spPr>
          <a:xfrm rot="16200000">
            <a:off x="10010520" y="502560"/>
            <a:ext cx="8434080" cy="9490320"/>
          </a:xfrm>
          <a:custGeom>
            <a:avLst/>
            <a:gdLst>
              <a:gd name="textAreaLeft" fmla="*/ 0 w 8434080"/>
              <a:gd name="textAreaRight" fmla="*/ 8435880 w 8434080"/>
              <a:gd name="textAreaTop" fmla="*/ 0 h 9490320"/>
              <a:gd name="textAreaBottom" fmla="*/ 9492120 h 9490320"/>
            </a:gdLst>
            <a:ahLst/>
            <a:rect l="textAreaLeft" t="textAreaTop" r="textAreaRight" b="textAreaBottom"/>
            <a:pathLst>
              <a:path w="8435965" h="9491943">
                <a:moveTo>
                  <a:pt x="0" y="0"/>
                </a:moveTo>
                <a:lnTo>
                  <a:pt x="8435965" y="0"/>
                </a:lnTo>
                <a:lnTo>
                  <a:pt x="8435965" y="9491943"/>
                </a:lnTo>
                <a:lnTo>
                  <a:pt x="0" y="94919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8" name="Google Shape;191;p16"/>
          <p:cNvGrpSpPr/>
          <p:nvPr/>
        </p:nvGrpSpPr>
        <p:grpSpPr>
          <a:xfrm>
            <a:off x="3091680" y="2598480"/>
            <a:ext cx="11942640" cy="5924160"/>
            <a:chOff x="3091680" y="2598480"/>
            <a:chExt cx="11942640" cy="5924160"/>
          </a:xfrm>
        </p:grpSpPr>
        <p:sp>
          <p:nvSpPr>
            <p:cNvPr id="129" name="Google Shape;192;p16"/>
            <p:cNvSpPr/>
            <p:nvPr/>
          </p:nvSpPr>
          <p:spPr>
            <a:xfrm>
              <a:off x="3091680" y="2901600"/>
              <a:ext cx="11942640" cy="5621040"/>
            </a:xfrm>
            <a:custGeom>
              <a:avLst/>
              <a:gdLst>
                <a:gd name="textAreaLeft" fmla="*/ 0 w 11942640"/>
                <a:gd name="textAreaRight" fmla="*/ 11944440 w 11942640"/>
                <a:gd name="textAreaTop" fmla="*/ 0 h 5621040"/>
                <a:gd name="textAreaBottom" fmla="*/ 5622840 h 5621040"/>
              </a:gdLst>
              <a:ahLst/>
              <a:rect l="textAreaLeft" t="textAreaTop" r="textAreaRight" b="textAreaBottom"/>
              <a:pathLst>
                <a:path w="1877620" h="883880">
                  <a:moveTo>
                    <a:pt x="0" y="0"/>
                  </a:moveTo>
                  <a:lnTo>
                    <a:pt x="1877620" y="0"/>
                  </a:lnTo>
                  <a:lnTo>
                    <a:pt x="1877620" y="883880"/>
                  </a:lnTo>
                  <a:lnTo>
                    <a:pt x="0" y="883880"/>
                  </a:lnTo>
                  <a:close/>
                </a:path>
              </a:pathLst>
            </a:custGeom>
            <a:solidFill>
              <a:srgbClr val="ffffff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Google Shape;193;p16"/>
            <p:cNvSpPr/>
            <p:nvPr/>
          </p:nvSpPr>
          <p:spPr>
            <a:xfrm>
              <a:off x="3091680" y="2598480"/>
              <a:ext cx="11942640" cy="592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1" name="Google Shape;194;p16"/>
          <p:cNvGrpSpPr/>
          <p:nvPr/>
        </p:nvGrpSpPr>
        <p:grpSpPr>
          <a:xfrm>
            <a:off x="5257800" y="2486160"/>
            <a:ext cx="8074080" cy="3963240"/>
            <a:chOff x="5257800" y="2486160"/>
            <a:chExt cx="8074080" cy="3963240"/>
          </a:xfrm>
        </p:grpSpPr>
        <p:sp>
          <p:nvSpPr>
            <p:cNvPr id="132" name="Google Shape;195;p16"/>
            <p:cNvSpPr/>
            <p:nvPr/>
          </p:nvSpPr>
          <p:spPr>
            <a:xfrm>
              <a:off x="5257800" y="2486160"/>
              <a:ext cx="8074080" cy="3963240"/>
            </a:xfrm>
            <a:custGeom>
              <a:avLst/>
              <a:gdLst>
                <a:gd name="textAreaLeft" fmla="*/ 0 w 8074080"/>
                <a:gd name="textAreaRight" fmla="*/ 8075880 w 8074080"/>
                <a:gd name="textAreaTop" fmla="*/ 0 h 3963240"/>
                <a:gd name="textAreaBottom" fmla="*/ 3965040 h 3963240"/>
              </a:gdLst>
              <a:ahLst/>
              <a:rect l="textAreaLeft" t="textAreaTop" r="textAreaRight" b="textAreaBottom"/>
              <a:pathLst>
                <a:path w="2488913" h="2086611">
                  <a:moveTo>
                    <a:pt x="1244456" y="0"/>
                  </a:moveTo>
                  <a:cubicBezTo>
                    <a:pt x="557162" y="0"/>
                    <a:pt x="0" y="467104"/>
                    <a:pt x="0" y="1043306"/>
                  </a:cubicBezTo>
                  <a:cubicBezTo>
                    <a:pt x="0" y="1619507"/>
                    <a:pt x="557162" y="2086611"/>
                    <a:pt x="1244456" y="2086611"/>
                  </a:cubicBezTo>
                  <a:cubicBezTo>
                    <a:pt x="1931750" y="2086611"/>
                    <a:pt x="2488913" y="1619507"/>
                    <a:pt x="2488913" y="1043306"/>
                  </a:cubicBezTo>
                  <a:cubicBezTo>
                    <a:pt x="2488913" y="467104"/>
                    <a:pt x="1931750" y="0"/>
                    <a:pt x="1244456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" name="Google Shape;196;p16"/>
            <p:cNvSpPr/>
            <p:nvPr/>
          </p:nvSpPr>
          <p:spPr>
            <a:xfrm>
              <a:off x="6015240" y="2514240"/>
              <a:ext cx="6559920" cy="356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9000" spc="-1" strike="noStrike">
                  <a:solidFill>
                    <a:srgbClr val="000000"/>
                  </a:solidFill>
                  <a:latin typeface="Bungee"/>
                  <a:ea typeface="Bungee"/>
                </a:rPr>
                <a:t>01. Зачем: </a:t>
              </a:r>
              <a:endParaRPr b="0" lang="en-US" sz="9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aphicFrame>
        <p:nvGraphicFramePr>
          <p:cNvPr id="134" name="Google Shape;197;p16"/>
          <p:cNvGraphicFramePr/>
          <p:nvPr/>
        </p:nvGraphicFramePr>
        <p:xfrm>
          <a:off x="0" y="6480"/>
          <a:ext cx="18297000" cy="1773720"/>
        </p:xfrm>
        <a:graphic>
          <a:graphicData uri="http://schemas.openxmlformats.org/drawingml/2006/table">
            <a:tbl>
              <a:tblPr/>
              <a:tblGrid>
                <a:gridCol w="6099120"/>
                <a:gridCol w="6099120"/>
                <a:gridCol w="6099120"/>
              </a:tblGrid>
              <a:tr h="177372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ffc418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0e8cfe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0e8cfe"/>
                    </a:solidFill>
                  </a:tcPr>
                </a:tc>
              </a:tr>
            </a:tbl>
          </a:graphicData>
        </a:graphic>
      </p:graphicFrame>
      <p:grpSp>
        <p:nvGrpSpPr>
          <p:cNvPr id="135" name="Google Shape;198;p16"/>
          <p:cNvGrpSpPr/>
          <p:nvPr/>
        </p:nvGrpSpPr>
        <p:grpSpPr>
          <a:xfrm>
            <a:off x="7286040" y="2524320"/>
            <a:ext cx="866520" cy="866520"/>
            <a:chOff x="7286040" y="2524320"/>
            <a:chExt cx="866520" cy="866520"/>
          </a:xfrm>
        </p:grpSpPr>
        <p:sp>
          <p:nvSpPr>
            <p:cNvPr id="136" name="Google Shape;199;p16"/>
            <p:cNvSpPr/>
            <p:nvPr/>
          </p:nvSpPr>
          <p:spPr>
            <a:xfrm>
              <a:off x="7286040" y="2524320"/>
              <a:ext cx="866520" cy="866520"/>
            </a:xfrm>
            <a:custGeom>
              <a:avLst/>
              <a:gdLst>
                <a:gd name="textAreaLeft" fmla="*/ 0 w 866520"/>
                <a:gd name="textAreaRight" fmla="*/ 868320 w 866520"/>
                <a:gd name="textAreaTop" fmla="*/ 0 h 866520"/>
                <a:gd name="textAreaBottom" fmla="*/ 868320 h 866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Google Shape;200;p16"/>
            <p:cNvSpPr/>
            <p:nvPr/>
          </p:nvSpPr>
          <p:spPr>
            <a:xfrm>
              <a:off x="7367400" y="2554920"/>
              <a:ext cx="703800" cy="75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8" name="Google Shape;201;p16"/>
          <p:cNvSpPr/>
          <p:nvPr/>
        </p:nvSpPr>
        <p:spPr>
          <a:xfrm>
            <a:off x="3825360" y="4800600"/>
            <a:ext cx="10803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задача и ценность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202;p16"/>
          <p:cNvSpPr/>
          <p:nvPr/>
        </p:nvSpPr>
        <p:spPr>
          <a:xfrm>
            <a:off x="4343400" y="6858000"/>
            <a:ext cx="9869040" cy="6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Проблема, актуальность, цель и применимость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203;p16"/>
          <p:cNvSpPr/>
          <p:nvPr/>
        </p:nvSpPr>
        <p:spPr>
          <a:xfrm>
            <a:off x="1304280" y="639000"/>
            <a:ext cx="316728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ЗАЧЕМ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204;p16"/>
          <p:cNvSpPr/>
          <p:nvPr/>
        </p:nvSpPr>
        <p:spPr>
          <a:xfrm>
            <a:off x="6856560" y="639000"/>
            <a:ext cx="45828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КАК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205;p16"/>
          <p:cNvSpPr/>
          <p:nvPr/>
        </p:nvSpPr>
        <p:spPr>
          <a:xfrm>
            <a:off x="13456440" y="647640"/>
            <a:ext cx="368568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ИТОГ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3" name="Google Shape;206;p16"/>
          <p:cNvGrpSpPr/>
          <p:nvPr/>
        </p:nvGrpSpPr>
        <p:grpSpPr>
          <a:xfrm>
            <a:off x="8709840" y="2486160"/>
            <a:ext cx="866520" cy="866520"/>
            <a:chOff x="8709840" y="2486160"/>
            <a:chExt cx="866520" cy="866520"/>
          </a:xfrm>
        </p:grpSpPr>
        <p:sp>
          <p:nvSpPr>
            <p:cNvPr id="144" name="Google Shape;207;p16"/>
            <p:cNvSpPr/>
            <p:nvPr/>
          </p:nvSpPr>
          <p:spPr>
            <a:xfrm>
              <a:off x="8709840" y="2486160"/>
              <a:ext cx="866520" cy="866520"/>
            </a:xfrm>
            <a:custGeom>
              <a:avLst/>
              <a:gdLst>
                <a:gd name="textAreaLeft" fmla="*/ 0 w 866520"/>
                <a:gd name="textAreaRight" fmla="*/ 868320 w 866520"/>
                <a:gd name="textAreaTop" fmla="*/ 0 h 866520"/>
                <a:gd name="textAreaBottom" fmla="*/ 868320 h 866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315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Google Shape;208;p16"/>
            <p:cNvSpPr/>
            <p:nvPr/>
          </p:nvSpPr>
          <p:spPr>
            <a:xfrm>
              <a:off x="8791200" y="2516760"/>
              <a:ext cx="703800" cy="75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6" name="Google Shape;209;p16"/>
          <p:cNvGrpSpPr/>
          <p:nvPr/>
        </p:nvGrpSpPr>
        <p:grpSpPr>
          <a:xfrm>
            <a:off x="10133640" y="2486160"/>
            <a:ext cx="866520" cy="866520"/>
            <a:chOff x="10133640" y="2486160"/>
            <a:chExt cx="866520" cy="866520"/>
          </a:xfrm>
        </p:grpSpPr>
        <p:sp>
          <p:nvSpPr>
            <p:cNvPr id="147" name="Google Shape;210;p16"/>
            <p:cNvSpPr/>
            <p:nvPr/>
          </p:nvSpPr>
          <p:spPr>
            <a:xfrm>
              <a:off x="10133640" y="2486160"/>
              <a:ext cx="866520" cy="866520"/>
            </a:xfrm>
            <a:custGeom>
              <a:avLst/>
              <a:gdLst>
                <a:gd name="textAreaLeft" fmla="*/ 0 w 866520"/>
                <a:gd name="textAreaRight" fmla="*/ 868320 w 866520"/>
                <a:gd name="textAreaTop" fmla="*/ 0 h 866520"/>
                <a:gd name="textAreaBottom" fmla="*/ 868320 h 866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315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Google Shape;211;p16"/>
            <p:cNvSpPr/>
            <p:nvPr/>
          </p:nvSpPr>
          <p:spPr>
            <a:xfrm>
              <a:off x="10215000" y="2516760"/>
              <a:ext cx="703800" cy="75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9" name="Google Shape;212;p16"/>
          <p:cNvGrpSpPr/>
          <p:nvPr/>
        </p:nvGrpSpPr>
        <p:grpSpPr>
          <a:xfrm>
            <a:off x="2098440" y="3766680"/>
            <a:ext cx="3283560" cy="1374840"/>
            <a:chOff x="2098440" y="3766680"/>
            <a:chExt cx="3283560" cy="1374840"/>
          </a:xfrm>
        </p:grpSpPr>
        <p:sp>
          <p:nvSpPr>
            <p:cNvPr id="150" name="Google Shape;213;p16"/>
            <p:cNvSpPr/>
            <p:nvPr/>
          </p:nvSpPr>
          <p:spPr>
            <a:xfrm>
              <a:off x="2098440" y="472860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Google Shape;214;p16"/>
            <p:cNvSpPr/>
            <p:nvPr/>
          </p:nvSpPr>
          <p:spPr>
            <a:xfrm>
              <a:off x="2098440" y="424764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Google Shape;215;p16"/>
            <p:cNvSpPr/>
            <p:nvPr/>
          </p:nvSpPr>
          <p:spPr>
            <a:xfrm>
              <a:off x="2098440" y="376668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p14:dur="400">
        <p:push dir="r"/>
      </p:transition>
    </mc:Choice>
    <mc:Fallback>
      <p:transition>
        <p:push dir="r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242;p18"/>
          <p:cNvGrpSpPr/>
          <p:nvPr/>
        </p:nvGrpSpPr>
        <p:grpSpPr>
          <a:xfrm>
            <a:off x="9516960" y="4271760"/>
            <a:ext cx="8156520" cy="1302840"/>
            <a:chOff x="9516960" y="4271760"/>
            <a:chExt cx="8156520" cy="1302840"/>
          </a:xfrm>
        </p:grpSpPr>
        <p:sp>
          <p:nvSpPr>
            <p:cNvPr id="154" name="Google Shape;243;p18"/>
            <p:cNvSpPr/>
            <p:nvPr/>
          </p:nvSpPr>
          <p:spPr>
            <a:xfrm>
              <a:off x="9516960" y="4383000"/>
              <a:ext cx="8156520" cy="1191240"/>
            </a:xfrm>
            <a:custGeom>
              <a:avLst/>
              <a:gdLst>
                <a:gd name="textAreaLeft" fmla="*/ 0 w 8156520"/>
                <a:gd name="textAreaRight" fmla="*/ 8158320 w 8156520"/>
                <a:gd name="textAreaTop" fmla="*/ 0 h 1191240"/>
                <a:gd name="textAreaBottom" fmla="*/ 1193040 h 1191240"/>
              </a:gdLst>
              <a:ahLst/>
              <a:rect l="textAreaLeft" t="textAreaTop" r="textAreaRight" b="textAreaBottom"/>
              <a:pathLst>
                <a:path w="3489182" h="510278">
                  <a:moveTo>
                    <a:pt x="0" y="0"/>
                  </a:moveTo>
                  <a:lnTo>
                    <a:pt x="3489182" y="0"/>
                  </a:lnTo>
                  <a:lnTo>
                    <a:pt x="3489182" y="510278"/>
                  </a:lnTo>
                  <a:lnTo>
                    <a:pt x="0" y="510278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Google Shape;244;p18"/>
            <p:cNvSpPr/>
            <p:nvPr/>
          </p:nvSpPr>
          <p:spPr>
            <a:xfrm>
              <a:off x="9516960" y="4271760"/>
              <a:ext cx="8156520" cy="130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6" name="Google Shape;245;p18"/>
          <p:cNvSpPr/>
          <p:nvPr/>
        </p:nvSpPr>
        <p:spPr>
          <a:xfrm>
            <a:off x="9804600" y="3538800"/>
            <a:ext cx="6882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Проблема</a:t>
            </a:r>
            <a:endParaRPr b="0" lang="en-US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246;p18"/>
          <p:cNvSpPr/>
          <p:nvPr/>
        </p:nvSpPr>
        <p:spPr>
          <a:xfrm rot="10800000">
            <a:off x="-4580640" y="3075120"/>
            <a:ext cx="9185760" cy="9185760"/>
          </a:xfrm>
          <a:custGeom>
            <a:avLst/>
            <a:gdLst>
              <a:gd name="textAreaLeft" fmla="*/ 0 w 9185760"/>
              <a:gd name="textAreaRight" fmla="*/ 9187560 w 9185760"/>
              <a:gd name="textAreaTop" fmla="*/ 0 h 9185760"/>
              <a:gd name="textAreaBottom" fmla="*/ 9187560 h 9185760"/>
            </a:gdLst>
            <a:ahLst/>
            <a:rect l="textAreaLeft" t="textAreaTop" r="textAreaRight" b="textAreaBottom"/>
            <a:pathLst>
              <a:path w="9187489" h="9187489">
                <a:moveTo>
                  <a:pt x="9187489" y="9187489"/>
                </a:moveTo>
                <a:lnTo>
                  <a:pt x="0" y="9187489"/>
                </a:lnTo>
                <a:lnTo>
                  <a:pt x="0" y="0"/>
                </a:lnTo>
                <a:lnTo>
                  <a:pt x="9187489" y="0"/>
                </a:lnTo>
                <a:lnTo>
                  <a:pt x="9187489" y="918748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8" name="Google Shape;247;p18"/>
          <p:cNvGrpSpPr/>
          <p:nvPr/>
        </p:nvGrpSpPr>
        <p:grpSpPr>
          <a:xfrm>
            <a:off x="-1355400" y="1175040"/>
            <a:ext cx="10144440" cy="3300840"/>
            <a:chOff x="-1355400" y="1175040"/>
            <a:chExt cx="10144440" cy="3300840"/>
          </a:xfrm>
        </p:grpSpPr>
        <p:sp>
          <p:nvSpPr>
            <p:cNvPr id="159" name="Google Shape;248;p18"/>
            <p:cNvSpPr/>
            <p:nvPr/>
          </p:nvSpPr>
          <p:spPr>
            <a:xfrm>
              <a:off x="-1355400" y="1511640"/>
              <a:ext cx="10144440" cy="2964240"/>
            </a:xfrm>
            <a:custGeom>
              <a:avLst/>
              <a:gdLst>
                <a:gd name="textAreaLeft" fmla="*/ 0 w 10144440"/>
                <a:gd name="textAreaRight" fmla="*/ 10146240 w 10144440"/>
                <a:gd name="textAreaTop" fmla="*/ 0 h 2964240"/>
                <a:gd name="textAreaBottom" fmla="*/ 2966040 h 2964240"/>
              </a:gdLst>
              <a:ahLst/>
              <a:rect l="textAreaLeft" t="textAreaTop" r="textAreaRight" b="textAreaBottom"/>
              <a:pathLst>
                <a:path w="1435577" h="419680">
                  <a:moveTo>
                    <a:pt x="0" y="0"/>
                  </a:moveTo>
                  <a:lnTo>
                    <a:pt x="1435577" y="0"/>
                  </a:lnTo>
                  <a:lnTo>
                    <a:pt x="1435577" y="419680"/>
                  </a:lnTo>
                  <a:lnTo>
                    <a:pt x="0" y="419680"/>
                  </a:lnTo>
                  <a:close/>
                </a:path>
              </a:pathLst>
            </a:custGeom>
            <a:solidFill>
              <a:srgbClr val="0e8cfe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" name="Google Shape;249;p18"/>
            <p:cNvSpPr/>
            <p:nvPr/>
          </p:nvSpPr>
          <p:spPr>
            <a:xfrm>
              <a:off x="-1355400" y="1175040"/>
              <a:ext cx="1014444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1" name="Google Shape;250;p18"/>
          <p:cNvSpPr/>
          <p:nvPr/>
        </p:nvSpPr>
        <p:spPr>
          <a:xfrm>
            <a:off x="11262960" y="7234560"/>
            <a:ext cx="4985640" cy="9919800"/>
          </a:xfrm>
          <a:custGeom>
            <a:avLst/>
            <a:gdLst>
              <a:gd name="textAreaLeft" fmla="*/ 0 w 4985640"/>
              <a:gd name="textAreaRight" fmla="*/ 4987440 w 4985640"/>
              <a:gd name="textAreaTop" fmla="*/ 0 h 9919800"/>
              <a:gd name="textAreaBottom" fmla="*/ 9921600 h 9919800"/>
            </a:gdLst>
            <a:ahLst/>
            <a:rect l="textAreaLeft" t="textAreaTop" r="textAreaRight" b="textAreaBottom"/>
            <a:pathLst>
              <a:path w="4987476" h="9921538">
                <a:moveTo>
                  <a:pt x="0" y="0"/>
                </a:moveTo>
                <a:lnTo>
                  <a:pt x="4987476" y="0"/>
                </a:lnTo>
                <a:lnTo>
                  <a:pt x="4987476" y="9921538"/>
                </a:lnTo>
                <a:lnTo>
                  <a:pt x="0" y="99215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2" name="Google Shape;251;p18"/>
          <p:cNvGrpSpPr/>
          <p:nvPr/>
        </p:nvGrpSpPr>
        <p:grpSpPr>
          <a:xfrm>
            <a:off x="-1355400" y="5284800"/>
            <a:ext cx="10144440" cy="3300840"/>
            <a:chOff x="-1355400" y="5284800"/>
            <a:chExt cx="10144440" cy="3300840"/>
          </a:xfrm>
        </p:grpSpPr>
        <p:sp>
          <p:nvSpPr>
            <p:cNvPr id="163" name="Google Shape;252;p18"/>
            <p:cNvSpPr/>
            <p:nvPr/>
          </p:nvSpPr>
          <p:spPr>
            <a:xfrm>
              <a:off x="-1355400" y="5621400"/>
              <a:ext cx="10144440" cy="2964240"/>
            </a:xfrm>
            <a:custGeom>
              <a:avLst/>
              <a:gdLst>
                <a:gd name="textAreaLeft" fmla="*/ 0 w 10144440"/>
                <a:gd name="textAreaRight" fmla="*/ 10146240 w 10144440"/>
                <a:gd name="textAreaTop" fmla="*/ 0 h 2964240"/>
                <a:gd name="textAreaBottom" fmla="*/ 2966040 h 2964240"/>
              </a:gdLst>
              <a:ahLst/>
              <a:rect l="textAreaLeft" t="textAreaTop" r="textAreaRight" b="textAreaBottom"/>
              <a:pathLst>
                <a:path w="1435577" h="419680">
                  <a:moveTo>
                    <a:pt x="0" y="0"/>
                  </a:moveTo>
                  <a:lnTo>
                    <a:pt x="1435577" y="0"/>
                  </a:lnTo>
                  <a:lnTo>
                    <a:pt x="1435577" y="419680"/>
                  </a:lnTo>
                  <a:lnTo>
                    <a:pt x="0" y="419680"/>
                  </a:lnTo>
                  <a:close/>
                </a:path>
              </a:pathLst>
            </a:custGeom>
            <a:solidFill>
              <a:srgbClr val="b35eff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" name="Google Shape;253;p18"/>
            <p:cNvSpPr/>
            <p:nvPr/>
          </p:nvSpPr>
          <p:spPr>
            <a:xfrm>
              <a:off x="-1355400" y="5284800"/>
              <a:ext cx="10144440" cy="33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5" name="Google Shape;254;p18"/>
          <p:cNvGrpSpPr/>
          <p:nvPr/>
        </p:nvGrpSpPr>
        <p:grpSpPr>
          <a:xfrm>
            <a:off x="10926720" y="-2028600"/>
            <a:ext cx="3460320" cy="3460320"/>
            <a:chOff x="10926720" y="-2028600"/>
            <a:chExt cx="3460320" cy="3460320"/>
          </a:xfrm>
        </p:grpSpPr>
        <p:sp>
          <p:nvSpPr>
            <p:cNvPr id="166" name="Google Shape;255;p18"/>
            <p:cNvSpPr/>
            <p:nvPr/>
          </p:nvSpPr>
          <p:spPr>
            <a:xfrm>
              <a:off x="10926720" y="-2028600"/>
              <a:ext cx="3460320" cy="3460320"/>
            </a:xfrm>
            <a:custGeom>
              <a:avLst/>
              <a:gdLst>
                <a:gd name="textAreaLeft" fmla="*/ 0 w 3460320"/>
                <a:gd name="textAreaRight" fmla="*/ 3462120 w 3460320"/>
                <a:gd name="textAreaTop" fmla="*/ 0 h 3460320"/>
                <a:gd name="textAreaBottom" fmla="*/ 3462120 h 34603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8c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Google Shape;256;p18"/>
            <p:cNvSpPr/>
            <p:nvPr/>
          </p:nvSpPr>
          <p:spPr>
            <a:xfrm>
              <a:off x="11251440" y="-1906920"/>
              <a:ext cx="2811240" cy="301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8" name="Google Shape;257;p18"/>
          <p:cNvSpPr/>
          <p:nvPr/>
        </p:nvSpPr>
        <p:spPr>
          <a:xfrm flipH="1" rot="10800000">
            <a:off x="13081680" y="-5407920"/>
            <a:ext cx="9185760" cy="9185760"/>
          </a:xfrm>
          <a:custGeom>
            <a:avLst/>
            <a:gdLst>
              <a:gd name="textAreaLeft" fmla="*/ 1080 w 9185760"/>
              <a:gd name="textAreaRight" fmla="*/ 9188640 w 9185760"/>
              <a:gd name="textAreaTop" fmla="*/ 0 h 9185760"/>
              <a:gd name="textAreaBottom" fmla="*/ 9187560 h 9185760"/>
            </a:gdLst>
            <a:ahLst/>
            <a:rect l="textAreaLeft" t="textAreaTop" r="textAreaRight" b="textAreaBottom"/>
            <a:pathLst>
              <a:path w="9187489" h="9187489">
                <a:moveTo>
                  <a:pt x="0" y="9187488"/>
                </a:moveTo>
                <a:lnTo>
                  <a:pt x="9187488" y="9187488"/>
                </a:lnTo>
                <a:lnTo>
                  <a:pt x="9187488" y="0"/>
                </a:lnTo>
                <a:lnTo>
                  <a:pt x="0" y="0"/>
                </a:lnTo>
                <a:lnTo>
                  <a:pt x="0" y="9187488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258;p18"/>
          <p:cNvSpPr/>
          <p:nvPr/>
        </p:nvSpPr>
        <p:spPr>
          <a:xfrm>
            <a:off x="8309880" y="9058680"/>
            <a:ext cx="4346280" cy="828360"/>
          </a:xfrm>
          <a:custGeom>
            <a:avLst/>
            <a:gdLst>
              <a:gd name="textAreaLeft" fmla="*/ 0 w 4346280"/>
              <a:gd name="textAreaRight" fmla="*/ 4348080 w 4346280"/>
              <a:gd name="textAreaTop" fmla="*/ 0 h 828360"/>
              <a:gd name="textAreaBottom" fmla="*/ 830160 h 828360"/>
            </a:gdLst>
            <a:ahLst/>
            <a:rect l="textAreaLeft" t="textAreaTop" r="textAreaRight" b="textAreaBottom"/>
            <a:pathLst>
              <a:path w="4348056" h="830083">
                <a:moveTo>
                  <a:pt x="0" y="0"/>
                </a:moveTo>
                <a:lnTo>
                  <a:pt x="4348056" y="0"/>
                </a:lnTo>
                <a:lnTo>
                  <a:pt x="4348056" y="830083"/>
                </a:lnTo>
                <a:lnTo>
                  <a:pt x="0" y="8300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0" name="Google Shape;259;p18"/>
          <p:cNvGrpSpPr/>
          <p:nvPr/>
        </p:nvGrpSpPr>
        <p:grpSpPr>
          <a:xfrm>
            <a:off x="1028880" y="1198440"/>
            <a:ext cx="558720" cy="591480"/>
            <a:chOff x="1028880" y="1198440"/>
            <a:chExt cx="558720" cy="591480"/>
          </a:xfrm>
        </p:grpSpPr>
        <p:sp>
          <p:nvSpPr>
            <p:cNvPr id="171" name="Google Shape;260;p18"/>
            <p:cNvSpPr/>
            <p:nvPr/>
          </p:nvSpPr>
          <p:spPr>
            <a:xfrm>
              <a:off x="1028880" y="1231200"/>
              <a:ext cx="558720" cy="558720"/>
            </a:xfrm>
            <a:custGeom>
              <a:avLst/>
              <a:gdLst>
                <a:gd name="textAreaLeft" fmla="*/ 0 w 558720"/>
                <a:gd name="textAreaRight" fmla="*/ 560520 w 558720"/>
                <a:gd name="textAreaTop" fmla="*/ 0 h 558720"/>
                <a:gd name="textAreaBottom" fmla="*/ 560520 h 55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Google Shape;261;p18"/>
            <p:cNvSpPr/>
            <p:nvPr/>
          </p:nvSpPr>
          <p:spPr>
            <a:xfrm>
              <a:off x="1028880" y="1198440"/>
              <a:ext cx="558720" cy="59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" name="Google Shape;262;p18"/>
          <p:cNvGrpSpPr/>
          <p:nvPr/>
        </p:nvGrpSpPr>
        <p:grpSpPr>
          <a:xfrm>
            <a:off x="1752480" y="1198440"/>
            <a:ext cx="558720" cy="591480"/>
            <a:chOff x="1752480" y="1198440"/>
            <a:chExt cx="558720" cy="591480"/>
          </a:xfrm>
        </p:grpSpPr>
        <p:sp>
          <p:nvSpPr>
            <p:cNvPr id="174" name="Google Shape;263;p18"/>
            <p:cNvSpPr/>
            <p:nvPr/>
          </p:nvSpPr>
          <p:spPr>
            <a:xfrm>
              <a:off x="1752480" y="1231200"/>
              <a:ext cx="558720" cy="558720"/>
            </a:xfrm>
            <a:custGeom>
              <a:avLst/>
              <a:gdLst>
                <a:gd name="textAreaLeft" fmla="*/ 0 w 558720"/>
                <a:gd name="textAreaRight" fmla="*/ 560520 w 558720"/>
                <a:gd name="textAreaTop" fmla="*/ 0 h 558720"/>
                <a:gd name="textAreaBottom" fmla="*/ 560520 h 55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Google Shape;264;p18"/>
            <p:cNvSpPr/>
            <p:nvPr/>
          </p:nvSpPr>
          <p:spPr>
            <a:xfrm>
              <a:off x="1752480" y="1198440"/>
              <a:ext cx="558720" cy="59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" name="Google Shape;265;p18"/>
          <p:cNvGrpSpPr/>
          <p:nvPr/>
        </p:nvGrpSpPr>
        <p:grpSpPr>
          <a:xfrm>
            <a:off x="2476080" y="1198440"/>
            <a:ext cx="558720" cy="591480"/>
            <a:chOff x="2476080" y="1198440"/>
            <a:chExt cx="558720" cy="591480"/>
          </a:xfrm>
        </p:grpSpPr>
        <p:sp>
          <p:nvSpPr>
            <p:cNvPr id="177" name="Google Shape;266;p18"/>
            <p:cNvSpPr/>
            <p:nvPr/>
          </p:nvSpPr>
          <p:spPr>
            <a:xfrm>
              <a:off x="2476080" y="1231200"/>
              <a:ext cx="558720" cy="558720"/>
            </a:xfrm>
            <a:custGeom>
              <a:avLst/>
              <a:gdLst>
                <a:gd name="textAreaLeft" fmla="*/ 0 w 558720"/>
                <a:gd name="textAreaRight" fmla="*/ 560520 w 558720"/>
                <a:gd name="textAreaTop" fmla="*/ 0 h 558720"/>
                <a:gd name="textAreaBottom" fmla="*/ 560520 h 558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" name="Google Shape;267;p18"/>
            <p:cNvSpPr/>
            <p:nvPr/>
          </p:nvSpPr>
          <p:spPr>
            <a:xfrm>
              <a:off x="2476080" y="1198440"/>
              <a:ext cx="558720" cy="59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9" name="Google Shape;268;p18"/>
          <p:cNvSpPr/>
          <p:nvPr/>
        </p:nvSpPr>
        <p:spPr>
          <a:xfrm>
            <a:off x="2313000" y="5916240"/>
            <a:ext cx="4582440" cy="11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Оценка рифмы — вручную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269;p18"/>
          <p:cNvSpPr/>
          <p:nvPr/>
        </p:nvSpPr>
        <p:spPr>
          <a:xfrm>
            <a:off x="2313000" y="2057400"/>
            <a:ext cx="45824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ИИ хромает в стихах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70;p18"/>
          <p:cNvSpPr/>
          <p:nvPr/>
        </p:nvSpPr>
        <p:spPr>
          <a:xfrm>
            <a:off x="1828800" y="2743200"/>
            <a:ext cx="5066640" cy="9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Созвучие оценивают «на слух»; объективно и масштабно — трудно.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271;p18"/>
          <p:cNvSpPr/>
          <p:nvPr/>
        </p:nvSpPr>
        <p:spPr>
          <a:xfrm>
            <a:off x="1371600" y="7086600"/>
            <a:ext cx="5523840" cy="9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Модели сильны в прозе, но в русском стихе плывут размер и рифма.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push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588;p29"/>
          <p:cNvSpPr/>
          <p:nvPr/>
        </p:nvSpPr>
        <p:spPr>
          <a:xfrm>
            <a:off x="9144000" y="3427560"/>
            <a:ext cx="15691320" cy="11022840"/>
          </a:xfrm>
          <a:custGeom>
            <a:avLst/>
            <a:gdLst>
              <a:gd name="textAreaLeft" fmla="*/ 0 w 15691320"/>
              <a:gd name="textAreaRight" fmla="*/ 15693120 w 15691320"/>
              <a:gd name="textAreaTop" fmla="*/ 0 h 11022840"/>
              <a:gd name="textAreaBottom" fmla="*/ 11024640 h 11022840"/>
            </a:gdLst>
            <a:ahLst/>
            <a:rect l="textAreaLeft" t="textAreaTop" r="textAreaRight" b="textAreaBottom"/>
            <a:pathLst>
              <a:path w="15693206" h="11024477">
                <a:moveTo>
                  <a:pt x="0" y="0"/>
                </a:moveTo>
                <a:lnTo>
                  <a:pt x="15693206" y="0"/>
                </a:lnTo>
                <a:lnTo>
                  <a:pt x="15693206" y="11024477"/>
                </a:lnTo>
                <a:lnTo>
                  <a:pt x="0" y="110244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589;p29"/>
          <p:cNvSpPr/>
          <p:nvPr/>
        </p:nvSpPr>
        <p:spPr>
          <a:xfrm>
            <a:off x="-1197720" y="-2233800"/>
            <a:ext cx="4092840" cy="8143560"/>
          </a:xfrm>
          <a:custGeom>
            <a:avLst/>
            <a:gdLst>
              <a:gd name="textAreaLeft" fmla="*/ 0 w 4092840"/>
              <a:gd name="textAreaRight" fmla="*/ 4094640 w 4092840"/>
              <a:gd name="textAreaTop" fmla="*/ 0 h 8143560"/>
              <a:gd name="textAreaBottom" fmla="*/ 8145360 h 8143560"/>
            </a:gdLst>
            <a:ahLst/>
            <a:rect l="textAreaLeft" t="textAreaTop" r="textAreaRight" b="textAreaBottom"/>
            <a:pathLst>
              <a:path w="4094599" h="8145347">
                <a:moveTo>
                  <a:pt x="0" y="0"/>
                </a:moveTo>
                <a:lnTo>
                  <a:pt x="4094599" y="0"/>
                </a:lnTo>
                <a:lnTo>
                  <a:pt x="4094599" y="8145347"/>
                </a:lnTo>
                <a:lnTo>
                  <a:pt x="0" y="81453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5" name="Google Shape;590;p29"/>
          <p:cNvGrpSpPr/>
          <p:nvPr/>
        </p:nvGrpSpPr>
        <p:grpSpPr>
          <a:xfrm>
            <a:off x="927000" y="2412720"/>
            <a:ext cx="7809480" cy="1302840"/>
            <a:chOff x="927000" y="2412720"/>
            <a:chExt cx="7809480" cy="1302840"/>
          </a:xfrm>
        </p:grpSpPr>
        <p:sp>
          <p:nvSpPr>
            <p:cNvPr id="186" name="Google Shape;591;p29"/>
            <p:cNvSpPr/>
            <p:nvPr/>
          </p:nvSpPr>
          <p:spPr>
            <a:xfrm>
              <a:off x="927000" y="2523960"/>
              <a:ext cx="7809480" cy="1191240"/>
            </a:xfrm>
            <a:custGeom>
              <a:avLst/>
              <a:gdLst>
                <a:gd name="textAreaLeft" fmla="*/ 0 w 7809480"/>
                <a:gd name="textAreaRight" fmla="*/ 7811280 w 7809480"/>
                <a:gd name="textAreaTop" fmla="*/ 0 h 1191240"/>
                <a:gd name="textAreaBottom" fmla="*/ 1193040 h 1191240"/>
              </a:gdLst>
              <a:ahLst/>
              <a:rect l="textAreaLeft" t="textAreaTop" r="textAreaRight" b="textAreaBottom"/>
              <a:pathLst>
                <a:path w="3340752" h="510278">
                  <a:moveTo>
                    <a:pt x="0" y="0"/>
                  </a:moveTo>
                  <a:lnTo>
                    <a:pt x="3340752" y="0"/>
                  </a:lnTo>
                  <a:lnTo>
                    <a:pt x="3340752" y="510278"/>
                  </a:lnTo>
                  <a:lnTo>
                    <a:pt x="0" y="510278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Google Shape;592;p29"/>
            <p:cNvSpPr/>
            <p:nvPr/>
          </p:nvSpPr>
          <p:spPr>
            <a:xfrm>
              <a:off x="927000" y="2412720"/>
              <a:ext cx="7809480" cy="130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8" name="Google Shape;593;p29"/>
          <p:cNvSpPr/>
          <p:nvPr/>
        </p:nvSpPr>
        <p:spPr>
          <a:xfrm>
            <a:off x="1028880" y="1679760"/>
            <a:ext cx="8113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Актуальность</a:t>
            </a:r>
            <a:endParaRPr b="0" lang="en-US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594;p29"/>
          <p:cNvSpPr/>
          <p:nvPr/>
        </p:nvSpPr>
        <p:spPr>
          <a:xfrm>
            <a:off x="10553760" y="2932560"/>
            <a:ext cx="3363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Социальная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595;p29"/>
          <p:cNvSpPr/>
          <p:nvPr/>
        </p:nvSpPr>
        <p:spPr>
          <a:xfrm>
            <a:off x="10553760" y="3886200"/>
            <a:ext cx="3363120" cy="18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Сохранить любовь к стихам средствами современных технологий.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1" name="Google Shape;596;p29"/>
          <p:cNvCxnSpPr/>
          <p:nvPr/>
        </p:nvCxnSpPr>
        <p:spPr>
          <a:xfrm flipV="1">
            <a:off x="10907280" y="2205360"/>
            <a:ext cx="3937680" cy="19080"/>
          </a:xfrm>
          <a:prstGeom prst="straightConnector1">
            <a:avLst/>
          </a:prstGeom>
          <a:ln w="47625">
            <a:solidFill>
              <a:srgbClr val="000000"/>
            </a:solidFill>
            <a:round/>
          </a:ln>
        </p:spPr>
      </p:cxnSp>
      <p:cxnSp>
        <p:nvCxnSpPr>
          <p:cNvPr id="192" name="Google Shape;597;p29"/>
          <p:cNvCxnSpPr/>
          <p:nvPr/>
        </p:nvCxnSpPr>
        <p:spPr>
          <a:xfrm>
            <a:off x="15197040" y="2204640"/>
            <a:ext cx="3935520" cy="7920"/>
          </a:xfrm>
          <a:prstGeom prst="straightConnector1">
            <a:avLst/>
          </a:prstGeom>
          <a:ln w="47625">
            <a:solidFill>
              <a:srgbClr val="000000"/>
            </a:solidFill>
            <a:round/>
          </a:ln>
        </p:spPr>
      </p:cxnSp>
      <p:cxnSp>
        <p:nvCxnSpPr>
          <p:cNvPr id="193" name="Google Shape;598;p29"/>
          <p:cNvCxnSpPr/>
          <p:nvPr/>
        </p:nvCxnSpPr>
        <p:spPr>
          <a:xfrm>
            <a:off x="7561800" y="7186680"/>
            <a:ext cx="6440400" cy="1800"/>
          </a:xfrm>
          <a:prstGeom prst="straightConnector1">
            <a:avLst/>
          </a:prstGeom>
          <a:ln w="47625">
            <a:solidFill>
              <a:srgbClr val="000000"/>
            </a:solidFill>
            <a:round/>
          </a:ln>
        </p:spPr>
      </p:cxnSp>
      <p:cxnSp>
        <p:nvCxnSpPr>
          <p:cNvPr id="194" name="Google Shape;599;p29"/>
          <p:cNvCxnSpPr/>
          <p:nvPr/>
        </p:nvCxnSpPr>
        <p:spPr>
          <a:xfrm>
            <a:off x="14353920" y="7187040"/>
            <a:ext cx="3935520" cy="7560"/>
          </a:xfrm>
          <a:prstGeom prst="straightConnector1">
            <a:avLst/>
          </a:prstGeom>
          <a:ln w="47625">
            <a:solidFill>
              <a:srgbClr val="000000"/>
            </a:solidFill>
            <a:round/>
          </a:ln>
        </p:spPr>
      </p:cxnSp>
      <p:sp>
        <p:nvSpPr>
          <p:cNvPr id="195" name="Google Shape;600;p29"/>
          <p:cNvSpPr/>
          <p:nvPr/>
        </p:nvSpPr>
        <p:spPr>
          <a:xfrm>
            <a:off x="14401800" y="2932560"/>
            <a:ext cx="38048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Государственная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Google Shape;601;p29"/>
          <p:cNvSpPr/>
          <p:nvPr/>
        </p:nvSpPr>
        <p:spPr>
          <a:xfrm>
            <a:off x="14466600" y="3886200"/>
            <a:ext cx="3363120" cy="14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Поддержка культуры и русского языка, культурный код.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602;p29"/>
          <p:cNvSpPr/>
          <p:nvPr/>
        </p:nvSpPr>
        <p:spPr>
          <a:xfrm>
            <a:off x="7086600" y="7772400"/>
            <a:ext cx="3363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Научная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603;p29"/>
          <p:cNvSpPr/>
          <p:nvPr/>
        </p:nvSpPr>
        <p:spPr>
          <a:xfrm>
            <a:off x="7086600" y="8422920"/>
            <a:ext cx="3363120" cy="14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ИИ, пишущих и оценивающих стихи на русском, почти нет.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604;p29"/>
          <p:cNvSpPr/>
          <p:nvPr/>
        </p:nvSpPr>
        <p:spPr>
          <a:xfrm>
            <a:off x="13918680" y="7772400"/>
            <a:ext cx="3363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Почему сейчас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605;p29"/>
          <p:cNvSpPr/>
          <p:nvPr/>
        </p:nvSpPr>
        <p:spPr>
          <a:xfrm>
            <a:off x="13918680" y="8422920"/>
            <a:ext cx="3363120" cy="14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Зрелые языковые модели и цифровое поколение.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1" name="Google Shape;606;p29"/>
          <p:cNvCxnSpPr/>
          <p:nvPr/>
        </p:nvCxnSpPr>
        <p:spPr>
          <a:xfrm>
            <a:off x="1123200" y="7162920"/>
            <a:ext cx="6086520" cy="24840"/>
          </a:xfrm>
          <a:prstGeom prst="straightConnector1">
            <a:avLst/>
          </a:prstGeom>
          <a:ln w="47625">
            <a:solidFill>
              <a:srgbClr val="000000"/>
            </a:solidFill>
            <a:round/>
          </a:ln>
        </p:spPr>
      </p:cxnSp>
      <p:sp>
        <p:nvSpPr>
          <p:cNvPr id="202" name="Google Shape;607;p29"/>
          <p:cNvSpPr/>
          <p:nvPr/>
        </p:nvSpPr>
        <p:spPr>
          <a:xfrm>
            <a:off x="1015200" y="7772400"/>
            <a:ext cx="3363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Итог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608;p29"/>
          <p:cNvSpPr/>
          <p:nvPr/>
        </p:nvSpPr>
        <p:spPr>
          <a:xfrm>
            <a:off x="1028880" y="8458200"/>
            <a:ext cx="3999240" cy="9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Мост между классикой и новыми технологиями.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4" name="Google Shape;609;p29"/>
          <p:cNvGrpSpPr/>
          <p:nvPr/>
        </p:nvGrpSpPr>
        <p:grpSpPr>
          <a:xfrm>
            <a:off x="10541520" y="1796760"/>
            <a:ext cx="729720" cy="772560"/>
            <a:chOff x="10541520" y="1796760"/>
            <a:chExt cx="729720" cy="772560"/>
          </a:xfrm>
        </p:grpSpPr>
        <p:sp>
          <p:nvSpPr>
            <p:cNvPr id="205" name="Google Shape;610;p29"/>
            <p:cNvSpPr/>
            <p:nvPr/>
          </p:nvSpPr>
          <p:spPr>
            <a:xfrm>
              <a:off x="10541520" y="183960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35e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" name="Google Shape;611;p29"/>
            <p:cNvSpPr/>
            <p:nvPr/>
          </p:nvSpPr>
          <p:spPr>
            <a:xfrm>
              <a:off x="10541520" y="179676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7" name="Google Shape;612;p29"/>
          <p:cNvGrpSpPr/>
          <p:nvPr/>
        </p:nvGrpSpPr>
        <p:grpSpPr>
          <a:xfrm>
            <a:off x="14653800" y="1796040"/>
            <a:ext cx="729720" cy="772560"/>
            <a:chOff x="14653800" y="1796040"/>
            <a:chExt cx="729720" cy="772560"/>
          </a:xfrm>
        </p:grpSpPr>
        <p:sp>
          <p:nvSpPr>
            <p:cNvPr id="208" name="Google Shape;613;p29"/>
            <p:cNvSpPr/>
            <p:nvPr/>
          </p:nvSpPr>
          <p:spPr>
            <a:xfrm>
              <a:off x="14653800" y="183888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Google Shape;614;p29"/>
            <p:cNvSpPr/>
            <p:nvPr/>
          </p:nvSpPr>
          <p:spPr>
            <a:xfrm>
              <a:off x="14653800" y="179604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" name="Google Shape;615;p29"/>
          <p:cNvGrpSpPr/>
          <p:nvPr/>
        </p:nvGrpSpPr>
        <p:grpSpPr>
          <a:xfrm>
            <a:off x="7038720" y="6754320"/>
            <a:ext cx="729720" cy="772560"/>
            <a:chOff x="7038720" y="6754320"/>
            <a:chExt cx="729720" cy="772560"/>
          </a:xfrm>
        </p:grpSpPr>
        <p:sp>
          <p:nvSpPr>
            <p:cNvPr id="211" name="Google Shape;616;p29"/>
            <p:cNvSpPr/>
            <p:nvPr/>
          </p:nvSpPr>
          <p:spPr>
            <a:xfrm>
              <a:off x="7038720" y="679716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e8c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2" name="Google Shape;617;p29"/>
            <p:cNvSpPr/>
            <p:nvPr/>
          </p:nvSpPr>
          <p:spPr>
            <a:xfrm>
              <a:off x="7038720" y="675432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" name="Google Shape;618;p29"/>
          <p:cNvGrpSpPr/>
          <p:nvPr/>
        </p:nvGrpSpPr>
        <p:grpSpPr>
          <a:xfrm>
            <a:off x="13918680" y="6754320"/>
            <a:ext cx="729720" cy="772560"/>
            <a:chOff x="13918680" y="6754320"/>
            <a:chExt cx="729720" cy="772560"/>
          </a:xfrm>
        </p:grpSpPr>
        <p:sp>
          <p:nvSpPr>
            <p:cNvPr id="214" name="Google Shape;619;p29"/>
            <p:cNvSpPr/>
            <p:nvPr/>
          </p:nvSpPr>
          <p:spPr>
            <a:xfrm>
              <a:off x="13918680" y="679716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" name="Google Shape;620;p29"/>
            <p:cNvSpPr/>
            <p:nvPr/>
          </p:nvSpPr>
          <p:spPr>
            <a:xfrm>
              <a:off x="13918680" y="675432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" name="Google Shape;621;p29"/>
          <p:cNvGrpSpPr/>
          <p:nvPr/>
        </p:nvGrpSpPr>
        <p:grpSpPr>
          <a:xfrm>
            <a:off x="1028880" y="6754320"/>
            <a:ext cx="729720" cy="772560"/>
            <a:chOff x="1028880" y="6754320"/>
            <a:chExt cx="729720" cy="772560"/>
          </a:xfrm>
        </p:grpSpPr>
        <p:sp>
          <p:nvSpPr>
            <p:cNvPr id="217" name="Google Shape;622;p29"/>
            <p:cNvSpPr/>
            <p:nvPr/>
          </p:nvSpPr>
          <p:spPr>
            <a:xfrm>
              <a:off x="1028880" y="679716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536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8" name="Google Shape;623;p29"/>
            <p:cNvSpPr/>
            <p:nvPr/>
          </p:nvSpPr>
          <p:spPr>
            <a:xfrm>
              <a:off x="1028880" y="675432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9" name="Google Shape;624;p29"/>
          <p:cNvGrpSpPr/>
          <p:nvPr/>
        </p:nvGrpSpPr>
        <p:grpSpPr>
          <a:xfrm>
            <a:off x="16040160" y="99720"/>
            <a:ext cx="3283560" cy="1374840"/>
            <a:chOff x="16040160" y="99720"/>
            <a:chExt cx="3283560" cy="1374840"/>
          </a:xfrm>
        </p:grpSpPr>
        <p:sp>
          <p:nvSpPr>
            <p:cNvPr id="220" name="Google Shape;625;p29"/>
            <p:cNvSpPr/>
            <p:nvPr/>
          </p:nvSpPr>
          <p:spPr>
            <a:xfrm>
              <a:off x="16040160" y="106164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Google Shape;626;p29"/>
            <p:cNvSpPr/>
            <p:nvPr/>
          </p:nvSpPr>
          <p:spPr>
            <a:xfrm>
              <a:off x="16040160" y="58068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Google Shape;627;p29"/>
            <p:cNvSpPr/>
            <p:nvPr/>
          </p:nvSpPr>
          <p:spPr>
            <a:xfrm>
              <a:off x="16040160" y="9972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push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8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358;p21"/>
          <p:cNvSpPr/>
          <p:nvPr/>
        </p:nvSpPr>
        <p:spPr>
          <a:xfrm rot="10800000">
            <a:off x="-5225040" y="4179960"/>
            <a:ext cx="10451520" cy="10451520"/>
          </a:xfrm>
          <a:custGeom>
            <a:avLst/>
            <a:gdLst>
              <a:gd name="textAreaLeft" fmla="*/ 0 w 10451520"/>
              <a:gd name="textAreaRight" fmla="*/ 10453320 w 10451520"/>
              <a:gd name="textAreaTop" fmla="*/ 0 h 10451520"/>
              <a:gd name="textAreaBottom" fmla="*/ 10453320 h 10451520"/>
            </a:gdLst>
            <a:ahLst/>
            <a:rect l="textAreaLeft" t="textAreaTop" r="textAreaRight" b="textAreaBottom"/>
            <a:pathLst>
              <a:path w="10453179" h="10453179">
                <a:moveTo>
                  <a:pt x="10453178" y="10453178"/>
                </a:moveTo>
                <a:lnTo>
                  <a:pt x="0" y="10453178"/>
                </a:lnTo>
                <a:lnTo>
                  <a:pt x="0" y="0"/>
                </a:lnTo>
                <a:lnTo>
                  <a:pt x="10453178" y="0"/>
                </a:lnTo>
                <a:lnTo>
                  <a:pt x="10453178" y="10453178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4" name="Google Shape;359;p21"/>
          <p:cNvGrpSpPr/>
          <p:nvPr/>
        </p:nvGrpSpPr>
        <p:grpSpPr>
          <a:xfrm>
            <a:off x="12938400" y="-1989000"/>
            <a:ext cx="7283160" cy="7283160"/>
            <a:chOff x="12938400" y="-1989000"/>
            <a:chExt cx="7283160" cy="7283160"/>
          </a:xfrm>
        </p:grpSpPr>
        <p:sp>
          <p:nvSpPr>
            <p:cNvPr id="225" name="Google Shape;360;p21"/>
            <p:cNvSpPr/>
            <p:nvPr/>
          </p:nvSpPr>
          <p:spPr>
            <a:xfrm>
              <a:off x="12938400" y="-1989000"/>
              <a:ext cx="7283160" cy="7283160"/>
            </a:xfrm>
            <a:custGeom>
              <a:avLst/>
              <a:gdLst>
                <a:gd name="textAreaLeft" fmla="*/ 0 w 7283160"/>
                <a:gd name="textAreaRight" fmla="*/ 7284960 w 7283160"/>
                <a:gd name="textAreaTop" fmla="*/ 0 h 7283160"/>
                <a:gd name="textAreaBottom" fmla="*/ 7284960 h 72831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" name="Google Shape;361;p21"/>
            <p:cNvSpPr/>
            <p:nvPr/>
          </p:nvSpPr>
          <p:spPr>
            <a:xfrm>
              <a:off x="13621320" y="-1732680"/>
              <a:ext cx="5917320" cy="634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7" name="Google Shape;362;p21"/>
          <p:cNvGrpSpPr/>
          <p:nvPr/>
        </p:nvGrpSpPr>
        <p:grpSpPr>
          <a:xfrm>
            <a:off x="15802920" y="3469680"/>
            <a:ext cx="2248200" cy="5367240"/>
            <a:chOff x="15802920" y="3469680"/>
            <a:chExt cx="2248200" cy="5367240"/>
          </a:xfrm>
        </p:grpSpPr>
        <p:sp>
          <p:nvSpPr>
            <p:cNvPr id="228" name="Google Shape;363;p21"/>
            <p:cNvSpPr/>
            <p:nvPr/>
          </p:nvSpPr>
          <p:spPr>
            <a:xfrm rot="16200000">
              <a:off x="15029280" y="5815080"/>
              <a:ext cx="5367240" cy="676080"/>
            </a:xfrm>
            <a:custGeom>
              <a:avLst/>
              <a:gdLst>
                <a:gd name="textAreaLeft" fmla="*/ 0 w 5367240"/>
                <a:gd name="textAreaRight" fmla="*/ 5369040 w 5367240"/>
                <a:gd name="textAreaTop" fmla="*/ 0 h 676080"/>
                <a:gd name="textAreaBottom" fmla="*/ 677880 h 676080"/>
              </a:gdLst>
              <a:ahLst/>
              <a:rect l="textAreaLeft" t="textAreaTop" r="textAreaRight" b="textAreaBottom"/>
              <a:pathLst>
                <a:path w="7158481" h="903758">
                  <a:moveTo>
                    <a:pt x="0" y="0"/>
                  </a:moveTo>
                  <a:lnTo>
                    <a:pt x="7158481" y="0"/>
                  </a:lnTo>
                  <a:lnTo>
                    <a:pt x="7158481" y="903759"/>
                  </a:lnTo>
                  <a:lnTo>
                    <a:pt x="0" y="90375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" name="Google Shape;364;p21"/>
            <p:cNvSpPr/>
            <p:nvPr/>
          </p:nvSpPr>
          <p:spPr>
            <a:xfrm rot="16200000">
              <a:off x="14243040" y="5815080"/>
              <a:ext cx="5367240" cy="676080"/>
            </a:xfrm>
            <a:custGeom>
              <a:avLst/>
              <a:gdLst>
                <a:gd name="textAreaLeft" fmla="*/ 0 w 5367240"/>
                <a:gd name="textAreaRight" fmla="*/ 5369040 w 5367240"/>
                <a:gd name="textAreaTop" fmla="*/ 0 h 676080"/>
                <a:gd name="textAreaBottom" fmla="*/ 677880 h 676080"/>
              </a:gdLst>
              <a:ahLst/>
              <a:rect l="textAreaLeft" t="textAreaTop" r="textAreaRight" b="textAreaBottom"/>
              <a:pathLst>
                <a:path w="7158481" h="903758">
                  <a:moveTo>
                    <a:pt x="0" y="0"/>
                  </a:moveTo>
                  <a:lnTo>
                    <a:pt x="7158481" y="0"/>
                  </a:lnTo>
                  <a:lnTo>
                    <a:pt x="7158481" y="903758"/>
                  </a:lnTo>
                  <a:lnTo>
                    <a:pt x="0" y="90375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" name="Google Shape;365;p21"/>
            <p:cNvSpPr/>
            <p:nvPr/>
          </p:nvSpPr>
          <p:spPr>
            <a:xfrm rot="16200000">
              <a:off x="13457160" y="5815080"/>
              <a:ext cx="5367240" cy="676080"/>
            </a:xfrm>
            <a:custGeom>
              <a:avLst/>
              <a:gdLst>
                <a:gd name="textAreaLeft" fmla="*/ 0 w 5367240"/>
                <a:gd name="textAreaRight" fmla="*/ 5369040 w 5367240"/>
                <a:gd name="textAreaTop" fmla="*/ 0 h 676080"/>
                <a:gd name="textAreaBottom" fmla="*/ 677880 h 676080"/>
              </a:gdLst>
              <a:ahLst/>
              <a:rect l="textAreaLeft" t="textAreaTop" r="textAreaRight" b="textAreaBottom"/>
              <a:pathLst>
                <a:path w="7158481" h="903758">
                  <a:moveTo>
                    <a:pt x="0" y="0"/>
                  </a:moveTo>
                  <a:lnTo>
                    <a:pt x="7158481" y="0"/>
                  </a:lnTo>
                  <a:lnTo>
                    <a:pt x="7158481" y="903758"/>
                  </a:lnTo>
                  <a:lnTo>
                    <a:pt x="0" y="90375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1" name="Google Shape;366;p21"/>
          <p:cNvGrpSpPr/>
          <p:nvPr/>
        </p:nvGrpSpPr>
        <p:grpSpPr>
          <a:xfrm>
            <a:off x="-822960" y="613440"/>
            <a:ext cx="3992400" cy="1671840"/>
            <a:chOff x="-822960" y="613440"/>
            <a:chExt cx="3992400" cy="1671840"/>
          </a:xfrm>
        </p:grpSpPr>
        <p:sp>
          <p:nvSpPr>
            <p:cNvPr id="232" name="Google Shape;367;p21"/>
            <p:cNvSpPr/>
            <p:nvPr/>
          </p:nvSpPr>
          <p:spPr>
            <a:xfrm>
              <a:off x="-822960" y="1782720"/>
              <a:ext cx="3992400" cy="502560"/>
            </a:xfrm>
            <a:custGeom>
              <a:avLst/>
              <a:gdLst>
                <a:gd name="textAreaLeft" fmla="*/ 0 w 3992400"/>
                <a:gd name="textAreaRight" fmla="*/ 3994200 w 3992400"/>
                <a:gd name="textAreaTop" fmla="*/ 0 h 502560"/>
                <a:gd name="textAreaBottom" fmla="*/ 504360 h 502560"/>
              </a:gdLst>
              <a:ahLst/>
              <a:rect l="textAreaLeft" t="textAreaTop" r="textAreaRight" b="textAreaBottom"/>
              <a:pathLst>
                <a:path w="5325375" h="672329">
                  <a:moveTo>
                    <a:pt x="0" y="0"/>
                  </a:moveTo>
                  <a:lnTo>
                    <a:pt x="5325375" y="0"/>
                  </a:lnTo>
                  <a:lnTo>
                    <a:pt x="5325375" y="672329"/>
                  </a:lnTo>
                  <a:lnTo>
                    <a:pt x="0" y="67232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" name="Google Shape;368;p21"/>
            <p:cNvSpPr/>
            <p:nvPr/>
          </p:nvSpPr>
          <p:spPr>
            <a:xfrm>
              <a:off x="-822960" y="1198080"/>
              <a:ext cx="3992400" cy="502560"/>
            </a:xfrm>
            <a:custGeom>
              <a:avLst/>
              <a:gdLst>
                <a:gd name="textAreaLeft" fmla="*/ 0 w 3992400"/>
                <a:gd name="textAreaRight" fmla="*/ 3994200 w 3992400"/>
                <a:gd name="textAreaTop" fmla="*/ 0 h 502560"/>
                <a:gd name="textAreaBottom" fmla="*/ 504360 h 502560"/>
              </a:gdLst>
              <a:ahLst/>
              <a:rect l="textAreaLeft" t="textAreaTop" r="textAreaRight" b="textAreaBottom"/>
              <a:pathLst>
                <a:path w="5325375" h="672329">
                  <a:moveTo>
                    <a:pt x="0" y="0"/>
                  </a:moveTo>
                  <a:lnTo>
                    <a:pt x="5325375" y="0"/>
                  </a:lnTo>
                  <a:lnTo>
                    <a:pt x="5325375" y="672328"/>
                  </a:lnTo>
                  <a:lnTo>
                    <a:pt x="0" y="67232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" name="Google Shape;369;p21"/>
            <p:cNvSpPr/>
            <p:nvPr/>
          </p:nvSpPr>
          <p:spPr>
            <a:xfrm>
              <a:off x="-822960" y="613440"/>
              <a:ext cx="3992400" cy="502560"/>
            </a:xfrm>
            <a:custGeom>
              <a:avLst/>
              <a:gdLst>
                <a:gd name="textAreaLeft" fmla="*/ 0 w 3992400"/>
                <a:gd name="textAreaRight" fmla="*/ 3994200 w 3992400"/>
                <a:gd name="textAreaTop" fmla="*/ 0 h 502560"/>
                <a:gd name="textAreaBottom" fmla="*/ 504360 h 502560"/>
              </a:gdLst>
              <a:ahLst/>
              <a:rect l="textAreaLeft" t="textAreaTop" r="textAreaRight" b="textAreaBottom"/>
              <a:pathLst>
                <a:path w="5325375" h="672329">
                  <a:moveTo>
                    <a:pt x="0" y="0"/>
                  </a:moveTo>
                  <a:lnTo>
                    <a:pt x="5325375" y="0"/>
                  </a:lnTo>
                  <a:lnTo>
                    <a:pt x="5325375" y="672329"/>
                  </a:lnTo>
                  <a:lnTo>
                    <a:pt x="0" y="67232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235" name="Google Shape;370;p21"/>
          <p:cNvGraphicFramePr/>
          <p:nvPr/>
        </p:nvGraphicFramePr>
        <p:xfrm>
          <a:off x="1360080" y="1450080"/>
          <a:ext cx="15566760" cy="7386480"/>
        </p:xfrm>
        <a:graphic>
          <a:graphicData uri="http://schemas.openxmlformats.org/drawingml/2006/table">
            <a:tbl>
              <a:tblPr/>
              <a:tblGrid>
                <a:gridCol w="7783560"/>
                <a:gridCol w="7783560"/>
              </a:tblGrid>
              <a:tr h="2165760">
                <a:tc gridSpan="2"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61036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b35eff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7536ff"/>
                    </a:solidFill>
                  </a:tcPr>
                </a:tc>
              </a:tr>
              <a:tr h="261036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ffc418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e30350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371;p21"/>
          <p:cNvSpPr/>
          <p:nvPr/>
        </p:nvSpPr>
        <p:spPr>
          <a:xfrm>
            <a:off x="2338200" y="1450080"/>
            <a:ext cx="13609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Цель и задачи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372;p21"/>
          <p:cNvSpPr/>
          <p:nvPr/>
        </p:nvSpPr>
        <p:spPr>
          <a:xfrm>
            <a:off x="3216600" y="3758400"/>
            <a:ext cx="3868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Цель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Google Shape;373;p21"/>
          <p:cNvSpPr/>
          <p:nvPr/>
        </p:nvSpPr>
        <p:spPr>
          <a:xfrm>
            <a:off x="2942640" y="4343400"/>
            <a:ext cx="4828680" cy="15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Генерировать стих и численно оценивать рифму, выбирая лучший из 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Google Shape;374;p21"/>
          <p:cNvSpPr/>
          <p:nvPr/>
        </p:nvSpPr>
        <p:spPr>
          <a:xfrm>
            <a:off x="10972800" y="3758400"/>
            <a:ext cx="4030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Генерация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Google Shape;375;p21"/>
          <p:cNvSpPr/>
          <p:nvPr/>
        </p:nvSpPr>
        <p:spPr>
          <a:xfrm>
            <a:off x="10774440" y="4419000"/>
            <a:ext cx="454068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LLM, best-of-N и проход самокоррекции по фидбэку.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Google Shape;376;p21"/>
          <p:cNvSpPr/>
          <p:nvPr/>
        </p:nvSpPr>
        <p:spPr>
          <a:xfrm>
            <a:off x="3171240" y="6501600"/>
            <a:ext cx="3868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Оценка рифмы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Google Shape;377;p21"/>
          <p:cNvSpPr/>
          <p:nvPr/>
        </p:nvSpPr>
        <p:spPr>
          <a:xfrm>
            <a:off x="11055600" y="6501600"/>
            <a:ext cx="4030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Интерфейс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Google Shape;378;p21"/>
          <p:cNvSpPr/>
          <p:nvPr/>
        </p:nvSpPr>
        <p:spPr>
          <a:xfrm>
            <a:off x="3171240" y="7086600"/>
            <a:ext cx="397836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Детектор рифмы и метрики качества.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Google Shape;379;p21"/>
          <p:cNvSpPr/>
          <p:nvPr/>
        </p:nvSpPr>
        <p:spPr>
          <a:xfrm>
            <a:off x="11003040" y="7062120"/>
            <a:ext cx="454068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ato"/>
                <a:ea typeface="Lato"/>
              </a:rPr>
              <a:t>Удобный UI с настройками и сохранением сессий.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8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632;p30"/>
          <p:cNvSpPr/>
          <p:nvPr/>
        </p:nvSpPr>
        <p:spPr>
          <a:xfrm>
            <a:off x="7105680" y="173520"/>
            <a:ext cx="16407360" cy="12592080"/>
          </a:xfrm>
          <a:custGeom>
            <a:avLst/>
            <a:gdLst>
              <a:gd name="textAreaLeft" fmla="*/ 0 w 16407360"/>
              <a:gd name="textAreaRight" fmla="*/ 16409160 w 16407360"/>
              <a:gd name="textAreaTop" fmla="*/ 0 h 12592080"/>
              <a:gd name="textAreaBottom" fmla="*/ 12593880 h 12592080"/>
            </a:gdLst>
            <a:ahLst/>
            <a:rect l="textAreaLeft" t="textAreaTop" r="textAreaRight" b="textAreaBottom"/>
            <a:pathLst>
              <a:path w="16409040" h="12593938">
                <a:moveTo>
                  <a:pt x="0" y="0"/>
                </a:moveTo>
                <a:lnTo>
                  <a:pt x="16409039" y="0"/>
                </a:lnTo>
                <a:lnTo>
                  <a:pt x="16409039" y="12593938"/>
                </a:lnTo>
                <a:lnTo>
                  <a:pt x="0" y="125939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633;p30"/>
          <p:cNvSpPr/>
          <p:nvPr/>
        </p:nvSpPr>
        <p:spPr>
          <a:xfrm>
            <a:off x="-2954520" y="-2872800"/>
            <a:ext cx="10818360" cy="10849680"/>
          </a:xfrm>
          <a:custGeom>
            <a:avLst/>
            <a:gdLst>
              <a:gd name="textAreaLeft" fmla="*/ 0 w 10818360"/>
              <a:gd name="textAreaRight" fmla="*/ 10820160 w 10818360"/>
              <a:gd name="textAreaTop" fmla="*/ 0 h 10849680"/>
              <a:gd name="textAreaBottom" fmla="*/ 10851480 h 10849680"/>
            </a:gdLst>
            <a:ahLst/>
            <a:rect l="textAreaLeft" t="textAreaTop" r="textAreaRight" b="textAreaBottom"/>
            <a:pathLst>
              <a:path w="4406900" h="4419600">
                <a:moveTo>
                  <a:pt x="4356100" y="2724150"/>
                </a:moveTo>
                <a:cubicBezTo>
                  <a:pt x="4406900" y="3200400"/>
                  <a:pt x="4152900" y="3619500"/>
                  <a:pt x="4152900" y="3619500"/>
                </a:cubicBezTo>
                <a:cubicBezTo>
                  <a:pt x="3898900" y="4038600"/>
                  <a:pt x="3422650" y="4159250"/>
                  <a:pt x="3422650" y="4159250"/>
                </a:cubicBezTo>
                <a:cubicBezTo>
                  <a:pt x="2946400" y="4279900"/>
                  <a:pt x="2527300" y="4051300"/>
                  <a:pt x="2527300" y="4051300"/>
                </a:cubicBezTo>
                <a:cubicBezTo>
                  <a:pt x="2108200" y="3822700"/>
                  <a:pt x="1657350" y="4121150"/>
                  <a:pt x="1657350" y="4121150"/>
                </a:cubicBezTo>
                <a:cubicBezTo>
                  <a:pt x="1206500" y="4419600"/>
                  <a:pt x="857250" y="4133850"/>
                  <a:pt x="857250" y="4133850"/>
                </a:cubicBezTo>
                <a:cubicBezTo>
                  <a:pt x="508000" y="3848100"/>
                  <a:pt x="577850" y="3352800"/>
                  <a:pt x="577850" y="3352800"/>
                </a:cubicBezTo>
                <a:cubicBezTo>
                  <a:pt x="647700" y="2857500"/>
                  <a:pt x="488950" y="2552700"/>
                  <a:pt x="488950" y="2552700"/>
                </a:cubicBezTo>
                <a:cubicBezTo>
                  <a:pt x="330200" y="2247900"/>
                  <a:pt x="165100" y="1809750"/>
                  <a:pt x="165100" y="1809750"/>
                </a:cubicBezTo>
                <a:cubicBezTo>
                  <a:pt x="0" y="1371600"/>
                  <a:pt x="247650" y="1003300"/>
                  <a:pt x="247650" y="1003300"/>
                </a:cubicBezTo>
                <a:cubicBezTo>
                  <a:pt x="495300" y="635000"/>
                  <a:pt x="895350" y="463550"/>
                  <a:pt x="895350" y="463550"/>
                </a:cubicBezTo>
                <a:cubicBezTo>
                  <a:pt x="1295400" y="292100"/>
                  <a:pt x="1701800" y="146050"/>
                  <a:pt x="1701800" y="146050"/>
                </a:cubicBezTo>
                <a:cubicBezTo>
                  <a:pt x="2108200" y="0"/>
                  <a:pt x="2552700" y="44450"/>
                  <a:pt x="2552700" y="44450"/>
                </a:cubicBezTo>
                <a:cubicBezTo>
                  <a:pt x="2997200" y="88900"/>
                  <a:pt x="3143250" y="577850"/>
                  <a:pt x="3143250" y="577850"/>
                </a:cubicBezTo>
                <a:cubicBezTo>
                  <a:pt x="3289300" y="1066800"/>
                  <a:pt x="3562350" y="1301750"/>
                  <a:pt x="3562350" y="1301750"/>
                </a:cubicBezTo>
                <a:cubicBezTo>
                  <a:pt x="3835400" y="1536700"/>
                  <a:pt x="4070350" y="1892300"/>
                  <a:pt x="4070350" y="1892300"/>
                </a:cubicBezTo>
                <a:cubicBezTo>
                  <a:pt x="4305300" y="2247900"/>
                  <a:pt x="4356100" y="2724150"/>
                  <a:pt x="4356100" y="2724150"/>
                </a:cubicBezTo>
                <a:close/>
              </a:path>
            </a:pathLst>
          </a:custGeom>
          <a:solidFill>
            <a:srgbClr val="e303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Google Shape;634;p30"/>
          <p:cNvSpPr/>
          <p:nvPr/>
        </p:nvSpPr>
        <p:spPr>
          <a:xfrm flipH="1" rot="10800000">
            <a:off x="13061520" y="2291760"/>
            <a:ext cx="10451520" cy="10451520"/>
          </a:xfrm>
          <a:custGeom>
            <a:avLst/>
            <a:gdLst>
              <a:gd name="textAreaLeft" fmla="*/ 1080 w 10451520"/>
              <a:gd name="textAreaRight" fmla="*/ 10454400 w 10451520"/>
              <a:gd name="textAreaTop" fmla="*/ 0 h 10451520"/>
              <a:gd name="textAreaBottom" fmla="*/ 10453320 h 10451520"/>
            </a:gdLst>
            <a:ahLst/>
            <a:rect l="textAreaLeft" t="textAreaTop" r="textAreaRight" b="textAreaBottom"/>
            <a:pathLst>
              <a:path w="10453179" h="10453179">
                <a:moveTo>
                  <a:pt x="0" y="10453179"/>
                </a:moveTo>
                <a:lnTo>
                  <a:pt x="10453178" y="10453179"/>
                </a:lnTo>
                <a:lnTo>
                  <a:pt x="10453178" y="0"/>
                </a:lnTo>
                <a:lnTo>
                  <a:pt x="0" y="0"/>
                </a:lnTo>
                <a:lnTo>
                  <a:pt x="0" y="10453179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8" name="Google Shape;635;p30"/>
          <p:cNvGrpSpPr/>
          <p:nvPr/>
        </p:nvGrpSpPr>
        <p:grpSpPr>
          <a:xfrm>
            <a:off x="1534320" y="2385360"/>
            <a:ext cx="15217560" cy="5514840"/>
            <a:chOff x="1534320" y="2385360"/>
            <a:chExt cx="15217560" cy="5514840"/>
          </a:xfrm>
        </p:grpSpPr>
        <p:sp>
          <p:nvSpPr>
            <p:cNvPr id="249" name="Google Shape;636;p30"/>
            <p:cNvSpPr/>
            <p:nvPr/>
          </p:nvSpPr>
          <p:spPr>
            <a:xfrm>
              <a:off x="1534320" y="2688120"/>
              <a:ext cx="15217560" cy="5211720"/>
            </a:xfrm>
            <a:custGeom>
              <a:avLst/>
              <a:gdLst>
                <a:gd name="textAreaLeft" fmla="*/ 0 w 15217560"/>
                <a:gd name="textAreaRight" fmla="*/ 15219360 w 15217560"/>
                <a:gd name="textAreaTop" fmla="*/ 0 h 5211720"/>
                <a:gd name="textAreaBottom" fmla="*/ 5213520 h 5211720"/>
              </a:gdLst>
              <a:ahLst/>
              <a:rect l="textAreaLeft" t="textAreaTop" r="textAreaRight" b="textAreaBottom"/>
              <a:pathLst>
                <a:path w="2392440" h="819571">
                  <a:moveTo>
                    <a:pt x="0" y="0"/>
                  </a:moveTo>
                  <a:lnTo>
                    <a:pt x="2392440" y="0"/>
                  </a:lnTo>
                  <a:lnTo>
                    <a:pt x="2392440" y="819571"/>
                  </a:lnTo>
                  <a:lnTo>
                    <a:pt x="0" y="819571"/>
                  </a:lnTo>
                  <a:close/>
                </a:path>
              </a:pathLst>
            </a:custGeom>
            <a:solidFill>
              <a:srgbClr val="ffffff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Google Shape;637;p30"/>
            <p:cNvSpPr/>
            <p:nvPr/>
          </p:nvSpPr>
          <p:spPr>
            <a:xfrm>
              <a:off x="1534320" y="2385360"/>
              <a:ext cx="15217560" cy="551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51" name="Google Shape;638;p30"/>
          <p:cNvSpPr/>
          <p:nvPr/>
        </p:nvSpPr>
        <p:spPr>
          <a:xfrm>
            <a:off x="-1058400" y="2697120"/>
            <a:ext cx="20346840" cy="16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1" strike="noStrike">
                <a:solidFill>
                  <a:srgbClr val="000000"/>
                </a:solidFill>
                <a:latin typeface="Bungee"/>
                <a:ea typeface="Bungee"/>
              </a:rPr>
              <a:t>Ценность и применимость</a:t>
            </a:r>
            <a:endParaRPr b="0" lang="en-US" sz="8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Google Shape;639;p30"/>
          <p:cNvSpPr/>
          <p:nvPr/>
        </p:nvSpPr>
        <p:spPr>
          <a:xfrm>
            <a:off x="2971800" y="4572000"/>
            <a:ext cx="15463800" cy="23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4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ato"/>
                <a:ea typeface="Lato"/>
              </a:rPr>
              <a:t>Помощник поэта и редактор стихов. Удобная подсветка рифм,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4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ato"/>
                <a:ea typeface="Lato"/>
              </a:rPr>
              <a:t>автоопределение размеров, сессии;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4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ato"/>
                <a:ea typeface="Lato"/>
              </a:rPr>
              <a:t>Образование: наглядная фонетика и стиховедение;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4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ato"/>
                <a:ea typeface="Lato"/>
              </a:rPr>
              <a:t>Платформа для объективной оценки генеративных моделей на поэзии.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Google Shape;640;p30"/>
          <p:cNvSpPr/>
          <p:nvPr/>
        </p:nvSpPr>
        <p:spPr>
          <a:xfrm>
            <a:off x="-274320" y="879840"/>
            <a:ext cx="3615480" cy="3615480"/>
          </a:xfrm>
          <a:custGeom>
            <a:avLst/>
            <a:gdLst>
              <a:gd name="textAreaLeft" fmla="*/ 0 w 3615480"/>
              <a:gd name="textAreaRight" fmla="*/ 3617280 w 3615480"/>
              <a:gd name="textAreaTop" fmla="*/ 0 h 3615480"/>
              <a:gd name="textAreaBottom" fmla="*/ 3617280 h 3615480"/>
            </a:gdLst>
            <a:ahLst/>
            <a:rect l="textAreaLeft" t="textAreaTop" r="textAreaRight" b="textAreaBottom"/>
            <a:pathLst>
              <a:path w="3617120" h="3617120">
                <a:moveTo>
                  <a:pt x="0" y="0"/>
                </a:moveTo>
                <a:lnTo>
                  <a:pt x="3617121" y="0"/>
                </a:lnTo>
                <a:lnTo>
                  <a:pt x="3617121" y="3617120"/>
                </a:lnTo>
                <a:lnTo>
                  <a:pt x="0" y="36171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4" name="Google Shape;641;p30"/>
          <p:cNvGrpSpPr/>
          <p:nvPr/>
        </p:nvGrpSpPr>
        <p:grpSpPr>
          <a:xfrm>
            <a:off x="7542000" y="7402320"/>
            <a:ext cx="892800" cy="945000"/>
            <a:chOff x="7542000" y="7402320"/>
            <a:chExt cx="892800" cy="945000"/>
          </a:xfrm>
        </p:grpSpPr>
        <p:sp>
          <p:nvSpPr>
            <p:cNvPr id="255" name="Google Shape;642;p30"/>
            <p:cNvSpPr/>
            <p:nvPr/>
          </p:nvSpPr>
          <p:spPr>
            <a:xfrm>
              <a:off x="7542000" y="7454520"/>
              <a:ext cx="892800" cy="892800"/>
            </a:xfrm>
            <a:custGeom>
              <a:avLst/>
              <a:gdLst>
                <a:gd name="textAreaLeft" fmla="*/ 0 w 892800"/>
                <a:gd name="textAreaRight" fmla="*/ 894600 w 892800"/>
                <a:gd name="textAreaTop" fmla="*/ 0 h 892800"/>
                <a:gd name="textAreaBottom" fmla="*/ 894600 h 8928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" name="Google Shape;643;p30"/>
            <p:cNvSpPr/>
            <p:nvPr/>
          </p:nvSpPr>
          <p:spPr>
            <a:xfrm>
              <a:off x="7542000" y="7402320"/>
              <a:ext cx="892800" cy="94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57" name="Google Shape;644;p30"/>
          <p:cNvGrpSpPr/>
          <p:nvPr/>
        </p:nvGrpSpPr>
        <p:grpSpPr>
          <a:xfrm>
            <a:off x="8696880" y="7402320"/>
            <a:ext cx="892800" cy="945000"/>
            <a:chOff x="8696880" y="7402320"/>
            <a:chExt cx="892800" cy="945000"/>
          </a:xfrm>
        </p:grpSpPr>
        <p:sp>
          <p:nvSpPr>
            <p:cNvPr id="258" name="Google Shape;645;p30"/>
            <p:cNvSpPr/>
            <p:nvPr/>
          </p:nvSpPr>
          <p:spPr>
            <a:xfrm>
              <a:off x="8696880" y="7454520"/>
              <a:ext cx="892800" cy="892800"/>
            </a:xfrm>
            <a:custGeom>
              <a:avLst/>
              <a:gdLst>
                <a:gd name="textAreaLeft" fmla="*/ 0 w 892800"/>
                <a:gd name="textAreaRight" fmla="*/ 894600 w 892800"/>
                <a:gd name="textAreaTop" fmla="*/ 0 h 892800"/>
                <a:gd name="textAreaBottom" fmla="*/ 894600 h 8928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" name="Google Shape;646;p30"/>
            <p:cNvSpPr/>
            <p:nvPr/>
          </p:nvSpPr>
          <p:spPr>
            <a:xfrm>
              <a:off x="8696880" y="7402320"/>
              <a:ext cx="892800" cy="94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0" name="Google Shape;647;p30"/>
          <p:cNvGrpSpPr/>
          <p:nvPr/>
        </p:nvGrpSpPr>
        <p:grpSpPr>
          <a:xfrm>
            <a:off x="9851400" y="7402320"/>
            <a:ext cx="892800" cy="945000"/>
            <a:chOff x="9851400" y="7402320"/>
            <a:chExt cx="892800" cy="945000"/>
          </a:xfrm>
        </p:grpSpPr>
        <p:sp>
          <p:nvSpPr>
            <p:cNvPr id="261" name="Google Shape;648;p30"/>
            <p:cNvSpPr/>
            <p:nvPr/>
          </p:nvSpPr>
          <p:spPr>
            <a:xfrm>
              <a:off x="9851400" y="7454520"/>
              <a:ext cx="892800" cy="892800"/>
            </a:xfrm>
            <a:custGeom>
              <a:avLst/>
              <a:gdLst>
                <a:gd name="textAreaLeft" fmla="*/ 0 w 892800"/>
                <a:gd name="textAreaRight" fmla="*/ 894600 w 892800"/>
                <a:gd name="textAreaTop" fmla="*/ 0 h 892800"/>
                <a:gd name="textAreaBottom" fmla="*/ 894600 h 8928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2" name="Google Shape;649;p30"/>
            <p:cNvSpPr/>
            <p:nvPr/>
          </p:nvSpPr>
          <p:spPr>
            <a:xfrm>
              <a:off x="9851400" y="7402320"/>
              <a:ext cx="892800" cy="94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63" name="Google Shape;650;p30"/>
          <p:cNvSpPr/>
          <p:nvPr/>
        </p:nvSpPr>
        <p:spPr>
          <a:xfrm>
            <a:off x="5856840" y="9300600"/>
            <a:ext cx="2837880" cy="540360"/>
          </a:xfrm>
          <a:custGeom>
            <a:avLst/>
            <a:gdLst>
              <a:gd name="textAreaLeft" fmla="*/ 0 w 2837880"/>
              <a:gd name="textAreaRight" fmla="*/ 2839680 w 2837880"/>
              <a:gd name="textAreaTop" fmla="*/ 0 h 540360"/>
              <a:gd name="textAreaBottom" fmla="*/ 542160 h 540360"/>
            </a:gdLst>
            <a:ahLst/>
            <a:rect l="textAreaLeft" t="textAreaTop" r="textAreaRight" b="textAreaBottom"/>
            <a:pathLst>
              <a:path w="2839717" h="542128">
                <a:moveTo>
                  <a:pt x="0" y="0"/>
                </a:moveTo>
                <a:lnTo>
                  <a:pt x="2839717" y="0"/>
                </a:lnTo>
                <a:lnTo>
                  <a:pt x="2839717" y="542128"/>
                </a:lnTo>
                <a:lnTo>
                  <a:pt x="0" y="5421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651;p30"/>
          <p:cNvSpPr/>
          <p:nvPr/>
        </p:nvSpPr>
        <p:spPr>
          <a:xfrm>
            <a:off x="5856840" y="8673840"/>
            <a:ext cx="2837880" cy="540360"/>
          </a:xfrm>
          <a:custGeom>
            <a:avLst/>
            <a:gdLst>
              <a:gd name="textAreaLeft" fmla="*/ 0 w 2837880"/>
              <a:gd name="textAreaRight" fmla="*/ 2839680 w 2837880"/>
              <a:gd name="textAreaTop" fmla="*/ 0 h 540360"/>
              <a:gd name="textAreaBottom" fmla="*/ 542160 h 540360"/>
            </a:gdLst>
            <a:ahLst/>
            <a:rect l="textAreaLeft" t="textAreaTop" r="textAreaRight" b="textAreaBottom"/>
            <a:pathLst>
              <a:path w="2839717" h="542128">
                <a:moveTo>
                  <a:pt x="0" y="0"/>
                </a:moveTo>
                <a:lnTo>
                  <a:pt x="2839717" y="0"/>
                </a:lnTo>
                <a:lnTo>
                  <a:pt x="2839717" y="542128"/>
                </a:lnTo>
                <a:lnTo>
                  <a:pt x="0" y="5421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5" name="Google Shape;652;p30"/>
          <p:cNvGrpSpPr/>
          <p:nvPr/>
        </p:nvGrpSpPr>
        <p:grpSpPr>
          <a:xfrm>
            <a:off x="12510360" y="615600"/>
            <a:ext cx="3283560" cy="1374840"/>
            <a:chOff x="12510360" y="615600"/>
            <a:chExt cx="3283560" cy="1374840"/>
          </a:xfrm>
        </p:grpSpPr>
        <p:sp>
          <p:nvSpPr>
            <p:cNvPr id="266" name="Google Shape;653;p30"/>
            <p:cNvSpPr/>
            <p:nvPr/>
          </p:nvSpPr>
          <p:spPr>
            <a:xfrm>
              <a:off x="12510360" y="157752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" name="Google Shape;654;p30"/>
            <p:cNvSpPr/>
            <p:nvPr/>
          </p:nvSpPr>
          <p:spPr>
            <a:xfrm>
              <a:off x="12510360" y="109656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" name="Google Shape;655;p30"/>
            <p:cNvSpPr/>
            <p:nvPr/>
          </p:nvSpPr>
          <p:spPr>
            <a:xfrm>
              <a:off x="12510360" y="61560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push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536;p27"/>
          <p:cNvSpPr/>
          <p:nvPr/>
        </p:nvSpPr>
        <p:spPr>
          <a:xfrm rot="10800000">
            <a:off x="-4592160" y="-1718640"/>
            <a:ext cx="9185760" cy="9185760"/>
          </a:xfrm>
          <a:custGeom>
            <a:avLst/>
            <a:gdLst>
              <a:gd name="textAreaLeft" fmla="*/ 0 w 9185760"/>
              <a:gd name="textAreaRight" fmla="*/ 9187560 w 9185760"/>
              <a:gd name="textAreaTop" fmla="*/ 0 h 9185760"/>
              <a:gd name="textAreaBottom" fmla="*/ 9187560 h 9185760"/>
            </a:gdLst>
            <a:ahLst/>
            <a:rect l="textAreaLeft" t="textAreaTop" r="textAreaRight" b="textAreaBottom"/>
            <a:pathLst>
              <a:path w="9187489" h="9187489">
                <a:moveTo>
                  <a:pt x="9187488" y="9187489"/>
                </a:moveTo>
                <a:lnTo>
                  <a:pt x="0" y="9187489"/>
                </a:lnTo>
                <a:lnTo>
                  <a:pt x="0" y="0"/>
                </a:lnTo>
                <a:lnTo>
                  <a:pt x="9187488" y="0"/>
                </a:lnTo>
                <a:lnTo>
                  <a:pt x="9187488" y="9187489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Google Shape;537;p27"/>
          <p:cNvSpPr/>
          <p:nvPr/>
        </p:nvSpPr>
        <p:spPr>
          <a:xfrm>
            <a:off x="16702200" y="5987880"/>
            <a:ext cx="3169440" cy="6306840"/>
          </a:xfrm>
          <a:custGeom>
            <a:avLst/>
            <a:gdLst>
              <a:gd name="textAreaLeft" fmla="*/ 0 w 3169440"/>
              <a:gd name="textAreaRight" fmla="*/ 3171240 w 3169440"/>
              <a:gd name="textAreaTop" fmla="*/ 0 h 6306840"/>
              <a:gd name="textAreaBottom" fmla="*/ 6308640 h 6306840"/>
            </a:gdLst>
            <a:ahLst/>
            <a:rect l="textAreaLeft" t="textAreaTop" r="textAreaRight" b="textAreaBottom"/>
            <a:pathLst>
              <a:path w="3171388" h="6308811">
                <a:moveTo>
                  <a:pt x="0" y="0"/>
                </a:moveTo>
                <a:lnTo>
                  <a:pt x="3171388" y="0"/>
                </a:lnTo>
                <a:lnTo>
                  <a:pt x="3171388" y="6308812"/>
                </a:lnTo>
                <a:lnTo>
                  <a:pt x="0" y="63088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1" name="Google Shape;538;p27"/>
          <p:cNvGrpSpPr/>
          <p:nvPr/>
        </p:nvGrpSpPr>
        <p:grpSpPr>
          <a:xfrm>
            <a:off x="757800" y="441360"/>
            <a:ext cx="8384400" cy="4214520"/>
            <a:chOff x="757800" y="441360"/>
            <a:chExt cx="8384400" cy="4214520"/>
          </a:xfrm>
        </p:grpSpPr>
        <p:sp>
          <p:nvSpPr>
            <p:cNvPr id="272" name="Google Shape;539;p27"/>
            <p:cNvSpPr/>
            <p:nvPr/>
          </p:nvSpPr>
          <p:spPr>
            <a:xfrm>
              <a:off x="757800" y="637560"/>
              <a:ext cx="8384400" cy="4018320"/>
            </a:xfrm>
            <a:custGeom>
              <a:avLst/>
              <a:gdLst>
                <a:gd name="textAreaLeft" fmla="*/ 0 w 8384400"/>
                <a:gd name="textAreaRight" fmla="*/ 8386200 w 8384400"/>
                <a:gd name="textAreaTop" fmla="*/ 0 h 4018320"/>
                <a:gd name="textAreaBottom" fmla="*/ 4020120 h 4018320"/>
              </a:gdLst>
              <a:ahLst/>
              <a:rect l="textAreaLeft" t="textAreaTop" r="textAreaRight" b="textAreaBottom"/>
              <a:pathLst>
                <a:path w="2033314" h="974701">
                  <a:moveTo>
                    <a:pt x="0" y="0"/>
                  </a:moveTo>
                  <a:lnTo>
                    <a:pt x="2033314" y="0"/>
                  </a:lnTo>
                  <a:lnTo>
                    <a:pt x="2033314" y="974701"/>
                  </a:lnTo>
                  <a:lnTo>
                    <a:pt x="0" y="974701"/>
                  </a:lnTo>
                  <a:close/>
                </a:path>
              </a:pathLst>
            </a:custGeom>
            <a:solidFill>
              <a:srgbClr val="ffc418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" name="Google Shape;540;p27"/>
            <p:cNvSpPr/>
            <p:nvPr/>
          </p:nvSpPr>
          <p:spPr>
            <a:xfrm>
              <a:off x="757800" y="441360"/>
              <a:ext cx="8384400" cy="421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74" name="Google Shape;541;p27" descr=""/>
          <p:cNvPicPr/>
          <p:nvPr/>
        </p:nvPicPr>
        <p:blipFill>
          <a:blip r:embed="rId3"/>
          <a:srcRect l="0" t="16796" r="0" b="16796"/>
          <a:stretch/>
        </p:blipFill>
        <p:spPr>
          <a:xfrm>
            <a:off x="1034280" y="915120"/>
            <a:ext cx="7831080" cy="3463560"/>
          </a:xfrm>
          <a:prstGeom prst="rect">
            <a:avLst/>
          </a:prstGeom>
          <a:ln w="0">
            <a:noFill/>
          </a:ln>
        </p:spPr>
      </p:pic>
      <p:grpSp>
        <p:nvGrpSpPr>
          <p:cNvPr id="275" name="Google Shape;542;p27"/>
          <p:cNvGrpSpPr/>
          <p:nvPr/>
        </p:nvGrpSpPr>
        <p:grpSpPr>
          <a:xfrm>
            <a:off x="9372600" y="1692360"/>
            <a:ext cx="8311680" cy="1302840"/>
            <a:chOff x="9372600" y="1692360"/>
            <a:chExt cx="8311680" cy="1302840"/>
          </a:xfrm>
        </p:grpSpPr>
        <p:sp>
          <p:nvSpPr>
            <p:cNvPr id="276" name="Google Shape;543;p27"/>
            <p:cNvSpPr/>
            <p:nvPr/>
          </p:nvSpPr>
          <p:spPr>
            <a:xfrm>
              <a:off x="9372600" y="1803600"/>
              <a:ext cx="8311680" cy="1191240"/>
            </a:xfrm>
            <a:custGeom>
              <a:avLst/>
              <a:gdLst>
                <a:gd name="textAreaLeft" fmla="*/ 0 w 8311680"/>
                <a:gd name="textAreaRight" fmla="*/ 8313480 w 8311680"/>
                <a:gd name="textAreaTop" fmla="*/ 0 h 1191240"/>
                <a:gd name="textAreaBottom" fmla="*/ 1193040 h 1191240"/>
              </a:gdLst>
              <a:ahLst/>
              <a:rect l="textAreaLeft" t="textAreaTop" r="textAreaRight" b="textAreaBottom"/>
              <a:pathLst>
                <a:path w="3340752" h="510278">
                  <a:moveTo>
                    <a:pt x="0" y="0"/>
                  </a:moveTo>
                  <a:lnTo>
                    <a:pt x="3340752" y="0"/>
                  </a:lnTo>
                  <a:lnTo>
                    <a:pt x="3340752" y="510278"/>
                  </a:lnTo>
                  <a:lnTo>
                    <a:pt x="0" y="510278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7" name="Google Shape;544;p27"/>
            <p:cNvSpPr/>
            <p:nvPr/>
          </p:nvSpPr>
          <p:spPr>
            <a:xfrm>
              <a:off x="9372600" y="1692360"/>
              <a:ext cx="8311680" cy="130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8" name="Google Shape;545;p27"/>
          <p:cNvSpPr/>
          <p:nvPr/>
        </p:nvSpPr>
        <p:spPr>
          <a:xfrm>
            <a:off x="9372600" y="1142640"/>
            <a:ext cx="8869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RPST алгоритм</a:t>
            </a:r>
            <a:endParaRPr b="0" lang="en-US" sz="9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9" name="Google Shape;546;p27"/>
          <p:cNvGrpSpPr/>
          <p:nvPr/>
        </p:nvGrpSpPr>
        <p:grpSpPr>
          <a:xfrm>
            <a:off x="757800" y="5260680"/>
            <a:ext cx="8384400" cy="4214520"/>
            <a:chOff x="757800" y="5260680"/>
            <a:chExt cx="8384400" cy="4214520"/>
          </a:xfrm>
        </p:grpSpPr>
        <p:sp>
          <p:nvSpPr>
            <p:cNvPr id="280" name="Google Shape;547;p27"/>
            <p:cNvSpPr/>
            <p:nvPr/>
          </p:nvSpPr>
          <p:spPr>
            <a:xfrm>
              <a:off x="757800" y="5456880"/>
              <a:ext cx="8384400" cy="4018320"/>
            </a:xfrm>
            <a:custGeom>
              <a:avLst/>
              <a:gdLst>
                <a:gd name="textAreaLeft" fmla="*/ 0 w 8384400"/>
                <a:gd name="textAreaRight" fmla="*/ 8386200 w 8384400"/>
                <a:gd name="textAreaTop" fmla="*/ 0 h 4018320"/>
                <a:gd name="textAreaBottom" fmla="*/ 4020120 h 4018320"/>
              </a:gdLst>
              <a:ahLst/>
              <a:rect l="textAreaLeft" t="textAreaTop" r="textAreaRight" b="textAreaBottom"/>
              <a:pathLst>
                <a:path w="2033314" h="974701">
                  <a:moveTo>
                    <a:pt x="0" y="0"/>
                  </a:moveTo>
                  <a:lnTo>
                    <a:pt x="2033314" y="0"/>
                  </a:lnTo>
                  <a:lnTo>
                    <a:pt x="2033314" y="974701"/>
                  </a:lnTo>
                  <a:lnTo>
                    <a:pt x="0" y="974701"/>
                  </a:lnTo>
                  <a:close/>
                </a:path>
              </a:pathLst>
            </a:custGeom>
            <a:solidFill>
              <a:srgbClr val="ffc418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" name="Google Shape;548;p27"/>
            <p:cNvSpPr/>
            <p:nvPr/>
          </p:nvSpPr>
          <p:spPr>
            <a:xfrm>
              <a:off x="757800" y="5260680"/>
              <a:ext cx="8384400" cy="421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82" name="Google Shape;549;p27" descr=""/>
          <p:cNvPicPr/>
          <p:nvPr/>
        </p:nvPicPr>
        <p:blipFill>
          <a:blip r:embed="rId4"/>
          <a:srcRect l="0" t="16844" r="0" b="16844"/>
          <a:stretch/>
        </p:blipFill>
        <p:spPr>
          <a:xfrm>
            <a:off x="1034280" y="5734440"/>
            <a:ext cx="7831080" cy="3463560"/>
          </a:xfrm>
          <a:prstGeom prst="rect">
            <a:avLst/>
          </a:prstGeom>
          <a:ln w="0">
            <a:noFill/>
          </a:ln>
        </p:spPr>
      </p:pic>
      <p:sp>
        <p:nvSpPr>
          <p:cNvPr id="283" name="Google Shape;550;p27"/>
          <p:cNvSpPr/>
          <p:nvPr/>
        </p:nvSpPr>
        <p:spPr>
          <a:xfrm>
            <a:off x="9829800" y="3429000"/>
            <a:ext cx="4433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Разметка ударений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551;p27"/>
          <p:cNvSpPr/>
          <p:nvPr/>
        </p:nvSpPr>
        <p:spPr>
          <a:xfrm>
            <a:off x="9829800" y="5257800"/>
            <a:ext cx="4433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Размер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552;p27"/>
          <p:cNvSpPr/>
          <p:nvPr/>
        </p:nvSpPr>
        <p:spPr>
          <a:xfrm>
            <a:off x="9874800" y="7086600"/>
            <a:ext cx="4433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Схема и score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Google Shape;553;p27"/>
          <p:cNvSpPr/>
          <p:nvPr/>
        </p:nvSpPr>
        <p:spPr>
          <a:xfrm>
            <a:off x="9874800" y="8454960"/>
            <a:ext cx="4433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Точность по схеме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554;p27"/>
          <p:cNvSpPr/>
          <p:nvPr/>
        </p:nvSpPr>
        <p:spPr>
          <a:xfrm>
            <a:off x="9829800" y="4114800"/>
            <a:ext cx="7809480" cy="9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Готовая модель скансии размечает ударения по словам (align).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Google Shape;555;p27"/>
          <p:cNvSpPr/>
          <p:nvPr/>
        </p:nvSpPr>
        <p:spPr>
          <a:xfrm>
            <a:off x="9829800" y="5987880"/>
            <a:ext cx="7809480" cy="93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Определяет стихотворный размер: ямб, хорей, дактиль…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Google Shape;556;p27"/>
          <p:cNvSpPr/>
          <p:nvPr/>
        </p:nvSpPr>
        <p:spPr>
          <a:xfrm>
            <a:off x="9874800" y="7889760"/>
            <a:ext cx="78094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Схема рифмовки и оценка поэтичности (score).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557;p27"/>
          <p:cNvSpPr/>
          <p:nvPr/>
        </p:nvSpPr>
        <p:spPr>
          <a:xfrm>
            <a:off x="9874800" y="9094680"/>
            <a:ext cx="78094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Хвост строки → сравнение клаузул → точность по схеме.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558;p27"/>
          <p:cNvSpPr/>
          <p:nvPr/>
        </p:nvSpPr>
        <p:spPr>
          <a:xfrm flipH="1" rot="19204800">
            <a:off x="16934760" y="4433040"/>
            <a:ext cx="2680560" cy="2680200"/>
          </a:xfrm>
          <a:custGeom>
            <a:avLst/>
            <a:gdLst>
              <a:gd name="textAreaLeft" fmla="*/ 1080 w 2680560"/>
              <a:gd name="textAreaRight" fmla="*/ 2683440 w 2680560"/>
              <a:gd name="textAreaTop" fmla="*/ 0 h 2680200"/>
              <a:gd name="textAreaBottom" fmla="*/ 2681640 h 2680200"/>
            </a:gdLst>
            <a:ahLst/>
            <a:rect l="textAreaLeft" t="textAreaTop" r="textAreaRight" b="textAreaBottom"/>
            <a:pathLst>
              <a:path w="2682202" h="2682202">
                <a:moveTo>
                  <a:pt x="0" y="2682202"/>
                </a:moveTo>
                <a:lnTo>
                  <a:pt x="2682202" y="2682202"/>
                </a:lnTo>
                <a:lnTo>
                  <a:pt x="2682202" y="0"/>
                </a:lnTo>
                <a:lnTo>
                  <a:pt x="0" y="0"/>
                </a:lnTo>
                <a:lnTo>
                  <a:pt x="0" y="2682202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2" name="Google Shape;559;p27"/>
          <p:cNvGrpSpPr/>
          <p:nvPr/>
        </p:nvGrpSpPr>
        <p:grpSpPr>
          <a:xfrm>
            <a:off x="8168760" y="8586720"/>
            <a:ext cx="1368360" cy="1368360"/>
            <a:chOff x="8168760" y="8586720"/>
            <a:chExt cx="1368360" cy="1368360"/>
          </a:xfrm>
        </p:grpSpPr>
        <p:sp>
          <p:nvSpPr>
            <p:cNvPr id="293" name="Google Shape;560;p27"/>
            <p:cNvSpPr/>
            <p:nvPr/>
          </p:nvSpPr>
          <p:spPr>
            <a:xfrm>
              <a:off x="8168760" y="8586720"/>
              <a:ext cx="1368360" cy="1368360"/>
            </a:xfrm>
            <a:custGeom>
              <a:avLst/>
              <a:gdLst>
                <a:gd name="textAreaLeft" fmla="*/ 0 w 1368360"/>
                <a:gd name="textAreaRight" fmla="*/ 1370160 w 1368360"/>
                <a:gd name="textAreaTop" fmla="*/ 0 h 1368360"/>
                <a:gd name="textAreaBottom" fmla="*/ 1370160 h 13683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8c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4" name="Google Shape;561;p27"/>
            <p:cNvSpPr/>
            <p:nvPr/>
          </p:nvSpPr>
          <p:spPr>
            <a:xfrm>
              <a:off x="8297280" y="8634600"/>
              <a:ext cx="1111680" cy="11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5" name="Google Shape;562;p27"/>
          <p:cNvGrpSpPr/>
          <p:nvPr/>
        </p:nvGrpSpPr>
        <p:grpSpPr>
          <a:xfrm>
            <a:off x="16736400" y="-182160"/>
            <a:ext cx="819720" cy="818280"/>
            <a:chOff x="16736400" y="-182160"/>
            <a:chExt cx="819720" cy="818280"/>
          </a:xfrm>
        </p:grpSpPr>
        <p:sp>
          <p:nvSpPr>
            <p:cNvPr id="296" name="Google Shape;563;p27"/>
            <p:cNvSpPr/>
            <p:nvPr/>
          </p:nvSpPr>
          <p:spPr>
            <a:xfrm>
              <a:off x="16736400" y="-164880"/>
              <a:ext cx="819720" cy="801000"/>
            </a:xfrm>
            <a:custGeom>
              <a:avLst/>
              <a:gdLst>
                <a:gd name="textAreaLeft" fmla="*/ 0 w 819720"/>
                <a:gd name="textAreaRight" fmla="*/ 821520 w 819720"/>
                <a:gd name="textAreaTop" fmla="*/ 0 h 801000"/>
                <a:gd name="textAreaBottom" fmla="*/ 802800 h 801000"/>
              </a:gdLst>
              <a:ahLst/>
              <a:rect l="textAreaLeft" t="textAreaTop" r="textAreaRight" b="textAreaBottom"/>
              <a:pathLst>
                <a:path w="2252854" h="2201436">
                  <a:moveTo>
                    <a:pt x="0" y="0"/>
                  </a:moveTo>
                  <a:lnTo>
                    <a:pt x="2252854" y="0"/>
                  </a:lnTo>
                  <a:lnTo>
                    <a:pt x="2252854" y="2201436"/>
                  </a:lnTo>
                  <a:lnTo>
                    <a:pt x="0" y="2201436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7" name="Google Shape;564;p27"/>
            <p:cNvSpPr/>
            <p:nvPr/>
          </p:nvSpPr>
          <p:spPr>
            <a:xfrm>
              <a:off x="16736400" y="-182160"/>
              <a:ext cx="819720" cy="81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8" name="Google Shape;565;p27"/>
          <p:cNvGrpSpPr/>
          <p:nvPr/>
        </p:nvGrpSpPr>
        <p:grpSpPr>
          <a:xfrm>
            <a:off x="17769960" y="-182160"/>
            <a:ext cx="819720" cy="818280"/>
            <a:chOff x="17769960" y="-182160"/>
            <a:chExt cx="819720" cy="818280"/>
          </a:xfrm>
        </p:grpSpPr>
        <p:sp>
          <p:nvSpPr>
            <p:cNvPr id="299" name="Google Shape;566;p27"/>
            <p:cNvSpPr/>
            <p:nvPr/>
          </p:nvSpPr>
          <p:spPr>
            <a:xfrm>
              <a:off x="17769960" y="-164880"/>
              <a:ext cx="819720" cy="801000"/>
            </a:xfrm>
            <a:custGeom>
              <a:avLst/>
              <a:gdLst>
                <a:gd name="textAreaLeft" fmla="*/ 0 w 819720"/>
                <a:gd name="textAreaRight" fmla="*/ 821520 w 819720"/>
                <a:gd name="textAreaTop" fmla="*/ 0 h 801000"/>
                <a:gd name="textAreaBottom" fmla="*/ 802800 h 801000"/>
              </a:gdLst>
              <a:ahLst/>
              <a:rect l="textAreaLeft" t="textAreaTop" r="textAreaRight" b="textAreaBottom"/>
              <a:pathLst>
                <a:path w="2252854" h="2201436">
                  <a:moveTo>
                    <a:pt x="0" y="0"/>
                  </a:moveTo>
                  <a:lnTo>
                    <a:pt x="2252854" y="0"/>
                  </a:lnTo>
                  <a:lnTo>
                    <a:pt x="2252854" y="2201436"/>
                  </a:lnTo>
                  <a:lnTo>
                    <a:pt x="0" y="2201436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0" name="Google Shape;567;p27"/>
            <p:cNvSpPr/>
            <p:nvPr/>
          </p:nvSpPr>
          <p:spPr>
            <a:xfrm>
              <a:off x="17769960" y="-182160"/>
              <a:ext cx="819720" cy="81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1" name="Google Shape;568;p27"/>
          <p:cNvGrpSpPr/>
          <p:nvPr/>
        </p:nvGrpSpPr>
        <p:grpSpPr>
          <a:xfrm>
            <a:off x="15697080" y="-182160"/>
            <a:ext cx="819720" cy="818280"/>
            <a:chOff x="15697080" y="-182160"/>
            <a:chExt cx="819720" cy="818280"/>
          </a:xfrm>
        </p:grpSpPr>
        <p:sp>
          <p:nvSpPr>
            <p:cNvPr id="302" name="Google Shape;569;p27"/>
            <p:cNvSpPr/>
            <p:nvPr/>
          </p:nvSpPr>
          <p:spPr>
            <a:xfrm>
              <a:off x="15697080" y="-164880"/>
              <a:ext cx="819720" cy="801000"/>
            </a:xfrm>
            <a:custGeom>
              <a:avLst/>
              <a:gdLst>
                <a:gd name="textAreaLeft" fmla="*/ 0 w 819720"/>
                <a:gd name="textAreaRight" fmla="*/ 821520 w 819720"/>
                <a:gd name="textAreaTop" fmla="*/ 0 h 801000"/>
                <a:gd name="textAreaBottom" fmla="*/ 802800 h 801000"/>
              </a:gdLst>
              <a:ahLst/>
              <a:rect l="textAreaLeft" t="textAreaTop" r="textAreaRight" b="textAreaBottom"/>
              <a:pathLst>
                <a:path w="2252854" h="2201436">
                  <a:moveTo>
                    <a:pt x="0" y="0"/>
                  </a:moveTo>
                  <a:lnTo>
                    <a:pt x="2252854" y="0"/>
                  </a:lnTo>
                  <a:lnTo>
                    <a:pt x="2252854" y="2201436"/>
                  </a:lnTo>
                  <a:lnTo>
                    <a:pt x="0" y="2201436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3" name="Google Shape;570;p27"/>
            <p:cNvSpPr/>
            <p:nvPr/>
          </p:nvSpPr>
          <p:spPr>
            <a:xfrm>
              <a:off x="15697080" y="-182160"/>
              <a:ext cx="819720" cy="81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push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30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24;p20"/>
          <p:cNvSpPr/>
          <p:nvPr/>
        </p:nvSpPr>
        <p:spPr>
          <a:xfrm>
            <a:off x="1650960" y="2122200"/>
            <a:ext cx="11832480" cy="9081000"/>
          </a:xfrm>
          <a:custGeom>
            <a:avLst/>
            <a:gdLst>
              <a:gd name="textAreaLeft" fmla="*/ 0 w 11832480"/>
              <a:gd name="textAreaRight" fmla="*/ 11834280 w 11832480"/>
              <a:gd name="textAreaTop" fmla="*/ 0 h 9081000"/>
              <a:gd name="textAreaBottom" fmla="*/ 9082800 h 9081000"/>
            </a:gdLst>
            <a:ahLst/>
            <a:rect l="textAreaLeft" t="textAreaTop" r="textAreaRight" b="textAreaBottom"/>
            <a:pathLst>
              <a:path w="11834176" h="9082730">
                <a:moveTo>
                  <a:pt x="0" y="0"/>
                </a:moveTo>
                <a:lnTo>
                  <a:pt x="11834177" y="0"/>
                </a:lnTo>
                <a:lnTo>
                  <a:pt x="11834177" y="9082730"/>
                </a:lnTo>
                <a:lnTo>
                  <a:pt x="0" y="90827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325;p20"/>
          <p:cNvSpPr/>
          <p:nvPr/>
        </p:nvSpPr>
        <p:spPr>
          <a:xfrm rot="16200000">
            <a:off x="2179080" y="-526320"/>
            <a:ext cx="8434080" cy="9490320"/>
          </a:xfrm>
          <a:custGeom>
            <a:avLst/>
            <a:gdLst>
              <a:gd name="textAreaLeft" fmla="*/ 0 w 8434080"/>
              <a:gd name="textAreaRight" fmla="*/ 8435880 w 8434080"/>
              <a:gd name="textAreaTop" fmla="*/ 0 h 9490320"/>
              <a:gd name="textAreaBottom" fmla="*/ 9492120 h 9490320"/>
            </a:gdLst>
            <a:ahLst/>
            <a:rect l="textAreaLeft" t="textAreaTop" r="textAreaRight" b="textAreaBottom"/>
            <a:pathLst>
              <a:path w="8435965" h="9491943">
                <a:moveTo>
                  <a:pt x="0" y="0"/>
                </a:moveTo>
                <a:lnTo>
                  <a:pt x="8435964" y="0"/>
                </a:lnTo>
                <a:lnTo>
                  <a:pt x="8435964" y="9491943"/>
                </a:lnTo>
                <a:lnTo>
                  <a:pt x="0" y="94919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326;p20"/>
          <p:cNvSpPr/>
          <p:nvPr/>
        </p:nvSpPr>
        <p:spPr>
          <a:xfrm>
            <a:off x="10601280" y="1780200"/>
            <a:ext cx="14520960" cy="10200600"/>
          </a:xfrm>
          <a:custGeom>
            <a:avLst/>
            <a:gdLst>
              <a:gd name="textAreaLeft" fmla="*/ 0 w 14520960"/>
              <a:gd name="textAreaRight" fmla="*/ 14522760 w 14520960"/>
              <a:gd name="textAreaTop" fmla="*/ 0 h 10200600"/>
              <a:gd name="textAreaBottom" fmla="*/ 10202400 h 10200600"/>
            </a:gdLst>
            <a:ahLst/>
            <a:rect l="textAreaLeft" t="textAreaTop" r="textAreaRight" b="textAreaBottom"/>
            <a:pathLst>
              <a:path w="14522752" h="10202233">
                <a:moveTo>
                  <a:pt x="0" y="0"/>
                </a:moveTo>
                <a:lnTo>
                  <a:pt x="14522752" y="0"/>
                </a:lnTo>
                <a:lnTo>
                  <a:pt x="14522752" y="10202234"/>
                </a:lnTo>
                <a:lnTo>
                  <a:pt x="0" y="102022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327;p20"/>
          <p:cNvSpPr/>
          <p:nvPr/>
        </p:nvSpPr>
        <p:spPr>
          <a:xfrm>
            <a:off x="-2370960" y="583200"/>
            <a:ext cx="7983000" cy="8006040"/>
          </a:xfrm>
          <a:custGeom>
            <a:avLst/>
            <a:gdLst>
              <a:gd name="textAreaLeft" fmla="*/ 0 w 7983000"/>
              <a:gd name="textAreaRight" fmla="*/ 7984800 w 7983000"/>
              <a:gd name="textAreaTop" fmla="*/ 0 h 8006040"/>
              <a:gd name="textAreaBottom" fmla="*/ 8007840 h 8006040"/>
            </a:gdLst>
            <a:ahLst/>
            <a:rect l="textAreaLeft" t="textAreaTop" r="textAreaRight" b="textAreaBottom"/>
            <a:pathLst>
              <a:path w="4406900" h="4419600">
                <a:moveTo>
                  <a:pt x="4356100" y="2724150"/>
                </a:moveTo>
                <a:cubicBezTo>
                  <a:pt x="4406900" y="3200400"/>
                  <a:pt x="4152900" y="3619500"/>
                  <a:pt x="4152900" y="3619500"/>
                </a:cubicBezTo>
                <a:cubicBezTo>
                  <a:pt x="3898900" y="4038600"/>
                  <a:pt x="3422650" y="4159250"/>
                  <a:pt x="3422650" y="4159250"/>
                </a:cubicBezTo>
                <a:cubicBezTo>
                  <a:pt x="2946400" y="4279900"/>
                  <a:pt x="2527300" y="4051300"/>
                  <a:pt x="2527300" y="4051300"/>
                </a:cubicBezTo>
                <a:cubicBezTo>
                  <a:pt x="2108200" y="3822700"/>
                  <a:pt x="1657350" y="4121150"/>
                  <a:pt x="1657350" y="4121150"/>
                </a:cubicBezTo>
                <a:cubicBezTo>
                  <a:pt x="1206500" y="4419600"/>
                  <a:pt x="857250" y="4133850"/>
                  <a:pt x="857250" y="4133850"/>
                </a:cubicBezTo>
                <a:cubicBezTo>
                  <a:pt x="508000" y="3848100"/>
                  <a:pt x="577850" y="3352800"/>
                  <a:pt x="577850" y="3352800"/>
                </a:cubicBezTo>
                <a:cubicBezTo>
                  <a:pt x="647700" y="2857500"/>
                  <a:pt x="488950" y="2552700"/>
                  <a:pt x="488950" y="2552700"/>
                </a:cubicBezTo>
                <a:cubicBezTo>
                  <a:pt x="330200" y="2247900"/>
                  <a:pt x="165100" y="1809750"/>
                  <a:pt x="165100" y="1809750"/>
                </a:cubicBezTo>
                <a:cubicBezTo>
                  <a:pt x="0" y="1371600"/>
                  <a:pt x="247650" y="1003300"/>
                  <a:pt x="247650" y="1003300"/>
                </a:cubicBezTo>
                <a:cubicBezTo>
                  <a:pt x="495300" y="635000"/>
                  <a:pt x="895350" y="463550"/>
                  <a:pt x="895350" y="463550"/>
                </a:cubicBezTo>
                <a:cubicBezTo>
                  <a:pt x="1295400" y="292100"/>
                  <a:pt x="1701800" y="146050"/>
                  <a:pt x="1701800" y="146050"/>
                </a:cubicBezTo>
                <a:cubicBezTo>
                  <a:pt x="2108200" y="0"/>
                  <a:pt x="2552700" y="44450"/>
                  <a:pt x="2552700" y="44450"/>
                </a:cubicBezTo>
                <a:cubicBezTo>
                  <a:pt x="2997200" y="88900"/>
                  <a:pt x="3143250" y="577850"/>
                  <a:pt x="3143250" y="577850"/>
                </a:cubicBezTo>
                <a:cubicBezTo>
                  <a:pt x="3289300" y="1066800"/>
                  <a:pt x="3562350" y="1301750"/>
                  <a:pt x="3562350" y="1301750"/>
                </a:cubicBezTo>
                <a:cubicBezTo>
                  <a:pt x="3835400" y="1536700"/>
                  <a:pt x="4070350" y="1892300"/>
                  <a:pt x="4070350" y="1892300"/>
                </a:cubicBezTo>
                <a:cubicBezTo>
                  <a:pt x="4305300" y="2247900"/>
                  <a:pt x="4356100" y="2724150"/>
                  <a:pt x="4356100" y="2724150"/>
                </a:cubicBezTo>
                <a:close/>
              </a:path>
            </a:pathLst>
          </a:custGeom>
          <a:solidFill>
            <a:srgbClr val="ffc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328;p20"/>
          <p:cNvSpPr/>
          <p:nvPr/>
        </p:nvSpPr>
        <p:spPr>
          <a:xfrm rot="16200000">
            <a:off x="10084680" y="502560"/>
            <a:ext cx="8434080" cy="9490320"/>
          </a:xfrm>
          <a:custGeom>
            <a:avLst/>
            <a:gdLst>
              <a:gd name="textAreaLeft" fmla="*/ 0 w 8434080"/>
              <a:gd name="textAreaRight" fmla="*/ 8435880 w 8434080"/>
              <a:gd name="textAreaTop" fmla="*/ 0 h 9490320"/>
              <a:gd name="textAreaBottom" fmla="*/ 9492120 h 9490320"/>
            </a:gdLst>
            <a:ahLst/>
            <a:rect l="textAreaLeft" t="textAreaTop" r="textAreaRight" b="textAreaBottom"/>
            <a:pathLst>
              <a:path w="8435965" h="9491943">
                <a:moveTo>
                  <a:pt x="0" y="0"/>
                </a:moveTo>
                <a:lnTo>
                  <a:pt x="8435965" y="0"/>
                </a:lnTo>
                <a:lnTo>
                  <a:pt x="8435965" y="9491943"/>
                </a:lnTo>
                <a:lnTo>
                  <a:pt x="0" y="94919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9" name="Google Shape;329;p20"/>
          <p:cNvGrpSpPr/>
          <p:nvPr/>
        </p:nvGrpSpPr>
        <p:grpSpPr>
          <a:xfrm>
            <a:off x="3091680" y="2598480"/>
            <a:ext cx="11942640" cy="5924160"/>
            <a:chOff x="3091680" y="2598480"/>
            <a:chExt cx="11942640" cy="5924160"/>
          </a:xfrm>
        </p:grpSpPr>
        <p:sp>
          <p:nvSpPr>
            <p:cNvPr id="310" name="Google Shape;330;p20"/>
            <p:cNvSpPr/>
            <p:nvPr/>
          </p:nvSpPr>
          <p:spPr>
            <a:xfrm>
              <a:off x="3091680" y="2901600"/>
              <a:ext cx="11942640" cy="5621040"/>
            </a:xfrm>
            <a:custGeom>
              <a:avLst/>
              <a:gdLst>
                <a:gd name="textAreaLeft" fmla="*/ 0 w 11942640"/>
                <a:gd name="textAreaRight" fmla="*/ 11944440 w 11942640"/>
                <a:gd name="textAreaTop" fmla="*/ 0 h 5621040"/>
                <a:gd name="textAreaBottom" fmla="*/ 5622840 h 5621040"/>
              </a:gdLst>
              <a:ahLst/>
              <a:rect l="textAreaLeft" t="textAreaTop" r="textAreaRight" b="textAreaBottom"/>
              <a:pathLst>
                <a:path w="1877620" h="883880">
                  <a:moveTo>
                    <a:pt x="0" y="0"/>
                  </a:moveTo>
                  <a:lnTo>
                    <a:pt x="1877620" y="0"/>
                  </a:lnTo>
                  <a:lnTo>
                    <a:pt x="1877620" y="883880"/>
                  </a:lnTo>
                  <a:lnTo>
                    <a:pt x="0" y="883880"/>
                  </a:lnTo>
                  <a:close/>
                </a:path>
              </a:pathLst>
            </a:custGeom>
            <a:solidFill>
              <a:srgbClr val="ffffff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" name="Google Shape;331;p20"/>
            <p:cNvSpPr/>
            <p:nvPr/>
          </p:nvSpPr>
          <p:spPr>
            <a:xfrm>
              <a:off x="3091680" y="2598480"/>
              <a:ext cx="11942640" cy="592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2" name="Google Shape;332;p20"/>
          <p:cNvGrpSpPr/>
          <p:nvPr/>
        </p:nvGrpSpPr>
        <p:grpSpPr>
          <a:xfrm>
            <a:off x="6856560" y="2235240"/>
            <a:ext cx="4727880" cy="3963240"/>
            <a:chOff x="6856560" y="2235240"/>
            <a:chExt cx="4727880" cy="3963240"/>
          </a:xfrm>
        </p:grpSpPr>
        <p:sp>
          <p:nvSpPr>
            <p:cNvPr id="313" name="Google Shape;333;p20"/>
            <p:cNvSpPr/>
            <p:nvPr/>
          </p:nvSpPr>
          <p:spPr>
            <a:xfrm>
              <a:off x="6856560" y="2235240"/>
              <a:ext cx="4727880" cy="3963240"/>
            </a:xfrm>
            <a:custGeom>
              <a:avLst/>
              <a:gdLst>
                <a:gd name="textAreaLeft" fmla="*/ 0 w 4727880"/>
                <a:gd name="textAreaRight" fmla="*/ 4729680 w 4727880"/>
                <a:gd name="textAreaTop" fmla="*/ 0 h 3963240"/>
                <a:gd name="textAreaBottom" fmla="*/ 3965040 h 3963240"/>
              </a:gdLst>
              <a:ahLst/>
              <a:rect l="textAreaLeft" t="textAreaTop" r="textAreaRight" b="textAreaBottom"/>
              <a:pathLst>
                <a:path w="2488913" h="2086611">
                  <a:moveTo>
                    <a:pt x="1244456" y="0"/>
                  </a:moveTo>
                  <a:cubicBezTo>
                    <a:pt x="557162" y="0"/>
                    <a:pt x="0" y="467104"/>
                    <a:pt x="0" y="1043306"/>
                  </a:cubicBezTo>
                  <a:cubicBezTo>
                    <a:pt x="0" y="1619507"/>
                    <a:pt x="557162" y="2086611"/>
                    <a:pt x="1244456" y="2086611"/>
                  </a:cubicBezTo>
                  <a:cubicBezTo>
                    <a:pt x="1931750" y="2086611"/>
                    <a:pt x="2488913" y="1619507"/>
                    <a:pt x="2488913" y="1043306"/>
                  </a:cubicBezTo>
                  <a:cubicBezTo>
                    <a:pt x="2488913" y="467104"/>
                    <a:pt x="1931750" y="0"/>
                    <a:pt x="1244456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4" name="Google Shape;334;p20"/>
            <p:cNvSpPr/>
            <p:nvPr/>
          </p:nvSpPr>
          <p:spPr>
            <a:xfrm>
              <a:off x="7299720" y="2263320"/>
              <a:ext cx="3841200" cy="356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9000" spc="-1" strike="noStrike">
                  <a:solidFill>
                    <a:srgbClr val="000000"/>
                  </a:solidFill>
                  <a:latin typeface="Bungee"/>
                  <a:ea typeface="Bungee"/>
                </a:rPr>
                <a:t>02.</a:t>
              </a:r>
              <a:endParaRPr b="0" lang="en-US" sz="9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aphicFrame>
        <p:nvGraphicFramePr>
          <p:cNvPr id="315" name="Google Shape;335;p20"/>
          <p:cNvGraphicFramePr/>
          <p:nvPr/>
        </p:nvGraphicFramePr>
        <p:xfrm>
          <a:off x="0" y="6480"/>
          <a:ext cx="18297000" cy="1773720"/>
        </p:xfrm>
        <a:graphic>
          <a:graphicData uri="http://schemas.openxmlformats.org/drawingml/2006/table">
            <a:tbl>
              <a:tblPr/>
              <a:tblGrid>
                <a:gridCol w="6099120"/>
                <a:gridCol w="6099120"/>
                <a:gridCol w="6099120"/>
              </a:tblGrid>
              <a:tr h="177372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0e8cfe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ffc418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0e8cfe"/>
                    </a:solidFill>
                  </a:tcPr>
                </a:tc>
              </a:tr>
            </a:tbl>
          </a:graphicData>
        </a:graphic>
      </p:graphicFrame>
      <p:grpSp>
        <p:nvGrpSpPr>
          <p:cNvPr id="316" name="Google Shape;336;p20"/>
          <p:cNvGrpSpPr/>
          <p:nvPr/>
        </p:nvGrpSpPr>
        <p:grpSpPr>
          <a:xfrm>
            <a:off x="7286040" y="2524320"/>
            <a:ext cx="866520" cy="866520"/>
            <a:chOff x="7286040" y="2524320"/>
            <a:chExt cx="866520" cy="866520"/>
          </a:xfrm>
        </p:grpSpPr>
        <p:sp>
          <p:nvSpPr>
            <p:cNvPr id="317" name="Google Shape;337;p20"/>
            <p:cNvSpPr/>
            <p:nvPr/>
          </p:nvSpPr>
          <p:spPr>
            <a:xfrm>
              <a:off x="7286040" y="2524320"/>
              <a:ext cx="866520" cy="866520"/>
            </a:xfrm>
            <a:custGeom>
              <a:avLst/>
              <a:gdLst>
                <a:gd name="textAreaLeft" fmla="*/ 0 w 866520"/>
                <a:gd name="textAreaRight" fmla="*/ 868320 w 866520"/>
                <a:gd name="textAreaTop" fmla="*/ 0 h 866520"/>
                <a:gd name="textAreaBottom" fmla="*/ 868320 h 866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315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8" name="Google Shape;338;p20"/>
            <p:cNvSpPr/>
            <p:nvPr/>
          </p:nvSpPr>
          <p:spPr>
            <a:xfrm>
              <a:off x="7367400" y="2554920"/>
              <a:ext cx="703800" cy="75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19" name="Google Shape;339;p20"/>
          <p:cNvSpPr/>
          <p:nvPr/>
        </p:nvSpPr>
        <p:spPr>
          <a:xfrm>
            <a:off x="3745800" y="4841640"/>
            <a:ext cx="108043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Как это работает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Google Shape;340;p20"/>
          <p:cNvSpPr/>
          <p:nvPr/>
        </p:nvSpPr>
        <p:spPr>
          <a:xfrm>
            <a:off x="4303440" y="6629400"/>
            <a:ext cx="9869040" cy="12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Архитектура, RPST целиком, авторский алгоритм и сравнение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Google Shape;341;p20"/>
          <p:cNvSpPr/>
          <p:nvPr/>
        </p:nvSpPr>
        <p:spPr>
          <a:xfrm>
            <a:off x="1304280" y="639000"/>
            <a:ext cx="316728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3200" spc="-1" strike="sngStrike">
                <a:solidFill>
                  <a:srgbClr val="000000"/>
                </a:solidFill>
                <a:latin typeface="Lato"/>
                <a:ea typeface="Lato"/>
              </a:rPr>
              <a:t>ЗАЧЕМ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342;p20"/>
          <p:cNvSpPr/>
          <p:nvPr/>
        </p:nvSpPr>
        <p:spPr>
          <a:xfrm>
            <a:off x="6856560" y="639000"/>
            <a:ext cx="45828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КАК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Google Shape;343;p20"/>
          <p:cNvSpPr/>
          <p:nvPr/>
        </p:nvSpPr>
        <p:spPr>
          <a:xfrm>
            <a:off x="13456440" y="647640"/>
            <a:ext cx="368568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ИТОГ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24" name="Google Shape;344;p20"/>
          <p:cNvGrpSpPr/>
          <p:nvPr/>
        </p:nvGrpSpPr>
        <p:grpSpPr>
          <a:xfrm>
            <a:off x="8709840" y="2505240"/>
            <a:ext cx="866520" cy="866520"/>
            <a:chOff x="8709840" y="2505240"/>
            <a:chExt cx="866520" cy="866520"/>
          </a:xfrm>
        </p:grpSpPr>
        <p:sp>
          <p:nvSpPr>
            <p:cNvPr id="325" name="Google Shape;345;p20"/>
            <p:cNvSpPr/>
            <p:nvPr/>
          </p:nvSpPr>
          <p:spPr>
            <a:xfrm>
              <a:off x="8709840" y="2505240"/>
              <a:ext cx="866520" cy="866520"/>
            </a:xfrm>
            <a:custGeom>
              <a:avLst/>
              <a:gdLst>
                <a:gd name="textAreaLeft" fmla="*/ 0 w 866520"/>
                <a:gd name="textAreaRight" fmla="*/ 868320 w 866520"/>
                <a:gd name="textAreaTop" fmla="*/ 0 h 866520"/>
                <a:gd name="textAreaBottom" fmla="*/ 868320 h 866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" name="Google Shape;346;p20"/>
            <p:cNvSpPr/>
            <p:nvPr/>
          </p:nvSpPr>
          <p:spPr>
            <a:xfrm>
              <a:off x="8791200" y="2535840"/>
              <a:ext cx="703800" cy="75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27" name="Google Shape;347;p20"/>
          <p:cNvGrpSpPr/>
          <p:nvPr/>
        </p:nvGrpSpPr>
        <p:grpSpPr>
          <a:xfrm>
            <a:off x="10133640" y="2486160"/>
            <a:ext cx="866520" cy="866520"/>
            <a:chOff x="10133640" y="2486160"/>
            <a:chExt cx="866520" cy="866520"/>
          </a:xfrm>
        </p:grpSpPr>
        <p:sp>
          <p:nvSpPr>
            <p:cNvPr id="328" name="Google Shape;348;p20"/>
            <p:cNvSpPr/>
            <p:nvPr/>
          </p:nvSpPr>
          <p:spPr>
            <a:xfrm>
              <a:off x="10133640" y="2486160"/>
              <a:ext cx="866520" cy="866520"/>
            </a:xfrm>
            <a:custGeom>
              <a:avLst/>
              <a:gdLst>
                <a:gd name="textAreaLeft" fmla="*/ 0 w 866520"/>
                <a:gd name="textAreaRight" fmla="*/ 868320 w 866520"/>
                <a:gd name="textAreaTop" fmla="*/ 0 h 866520"/>
                <a:gd name="textAreaBottom" fmla="*/ 868320 h 866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315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9" name="Google Shape;349;p20"/>
            <p:cNvSpPr/>
            <p:nvPr/>
          </p:nvSpPr>
          <p:spPr>
            <a:xfrm>
              <a:off x="10215000" y="2516760"/>
              <a:ext cx="703800" cy="75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0" name="Google Shape;350;p20"/>
          <p:cNvGrpSpPr/>
          <p:nvPr/>
        </p:nvGrpSpPr>
        <p:grpSpPr>
          <a:xfrm>
            <a:off x="1650960" y="7765920"/>
            <a:ext cx="3283560" cy="1374840"/>
            <a:chOff x="1650960" y="7765920"/>
            <a:chExt cx="3283560" cy="1374840"/>
          </a:xfrm>
        </p:grpSpPr>
        <p:sp>
          <p:nvSpPr>
            <p:cNvPr id="331" name="Google Shape;351;p20"/>
            <p:cNvSpPr/>
            <p:nvPr/>
          </p:nvSpPr>
          <p:spPr>
            <a:xfrm>
              <a:off x="1650960" y="872784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2" name="Google Shape;352;p20"/>
            <p:cNvSpPr/>
            <p:nvPr/>
          </p:nvSpPr>
          <p:spPr>
            <a:xfrm>
              <a:off x="1650960" y="824688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" name="Google Shape;353;p20"/>
            <p:cNvSpPr/>
            <p:nvPr/>
          </p:nvSpPr>
          <p:spPr>
            <a:xfrm>
              <a:off x="1650960" y="776592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push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53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436;p24"/>
          <p:cNvSpPr/>
          <p:nvPr/>
        </p:nvSpPr>
        <p:spPr>
          <a:xfrm>
            <a:off x="-1286640" y="-7313400"/>
            <a:ext cx="25325280" cy="17790480"/>
          </a:xfrm>
          <a:custGeom>
            <a:avLst/>
            <a:gdLst>
              <a:gd name="textAreaLeft" fmla="*/ 0 w 25325280"/>
              <a:gd name="textAreaRight" fmla="*/ 25327080 w 25325280"/>
              <a:gd name="textAreaTop" fmla="*/ 0 h 17790480"/>
              <a:gd name="textAreaBottom" fmla="*/ 17792280 h 17790480"/>
            </a:gdLst>
            <a:ahLst/>
            <a:rect l="textAreaLeft" t="textAreaTop" r="textAreaRight" b="textAreaBottom"/>
            <a:pathLst>
              <a:path w="25327108" h="17792293">
                <a:moveTo>
                  <a:pt x="0" y="0"/>
                </a:moveTo>
                <a:lnTo>
                  <a:pt x="25327108" y="0"/>
                </a:lnTo>
                <a:lnTo>
                  <a:pt x="25327108" y="17792293"/>
                </a:lnTo>
                <a:lnTo>
                  <a:pt x="0" y="1779229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35" name="Google Shape;437;p24"/>
          <p:cNvGraphicFramePr/>
          <p:nvPr/>
        </p:nvGraphicFramePr>
        <p:xfrm>
          <a:off x="393840" y="1262160"/>
          <a:ext cx="3974760" cy="8091000"/>
        </p:xfrm>
        <a:graphic>
          <a:graphicData uri="http://schemas.openxmlformats.org/drawingml/2006/table">
            <a:tbl>
              <a:tblPr/>
              <a:tblGrid>
                <a:gridCol w="3975120"/>
              </a:tblGrid>
              <a:tr h="1071720">
                <a:tc>
                  <a:txBody>
                    <a:bodyPr lIns="190440" rIns="190440" anchor="ctr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</a:rPr>
                        <a:t>1</a:t>
                      </a:r>
                      <a:endParaRPr b="0" lang="en-US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b35eff"/>
                    </a:solidFill>
                  </a:tcPr>
                </a:tc>
              </a:tr>
              <a:tr h="1071720">
                <a:tc>
                  <a:txBody>
                    <a:bodyPr lIns="190440" rIns="190440" anchor="ctr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</a:rPr>
                        <a:t>Поток волн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756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6" name="Google Shape;438;p24"/>
          <p:cNvGraphicFramePr/>
          <p:nvPr/>
        </p:nvGraphicFramePr>
        <p:xfrm>
          <a:off x="4860000" y="1262160"/>
          <a:ext cx="3974760" cy="8091000"/>
        </p:xfrm>
        <a:graphic>
          <a:graphicData uri="http://schemas.openxmlformats.org/drawingml/2006/table">
            <a:tbl>
              <a:tblPr/>
              <a:tblGrid>
                <a:gridCol w="3975120"/>
              </a:tblGrid>
              <a:tr h="1071720">
                <a:tc>
                  <a:txBody>
                    <a:bodyPr lIns="190440" rIns="190440" anchor="ctr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</a:rPr>
                        <a:t>2</a:t>
                      </a:r>
                      <a:endParaRPr b="0" lang="en-US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e30350"/>
                    </a:solidFill>
                  </a:tcPr>
                </a:tc>
              </a:tr>
              <a:tr h="1071720">
                <a:tc>
                  <a:txBody>
                    <a:bodyPr lIns="190440" rIns="190440" anchor="ctr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800" spc="-1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</a:rPr>
                        <a:t>Потенциал Юкавы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756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7" name="Google Shape;439;p24"/>
          <p:cNvGraphicFramePr/>
          <p:nvPr/>
        </p:nvGraphicFramePr>
        <p:xfrm>
          <a:off x="9326160" y="1262160"/>
          <a:ext cx="3974760" cy="8091000"/>
        </p:xfrm>
        <a:graphic>
          <a:graphicData uri="http://schemas.openxmlformats.org/drawingml/2006/table">
            <a:tbl>
              <a:tblPr/>
              <a:tblGrid>
                <a:gridCol w="3975120"/>
              </a:tblGrid>
              <a:tr h="1071720">
                <a:tc>
                  <a:txBody>
                    <a:bodyPr lIns="190440" rIns="190440" anchor="ctr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</a:rPr>
                        <a:t>3</a:t>
                      </a:r>
                      <a:endParaRPr b="0" lang="en-US" sz="3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0e8cfe"/>
                    </a:solidFill>
                  </a:tcPr>
                </a:tc>
              </a:tr>
              <a:tr h="1071720">
                <a:tc>
                  <a:txBody>
                    <a:bodyPr lIns="190440" rIns="190440" anchor="ctr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</a:rPr>
                        <a:t>Резонанс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756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8" name="Google Shape;440;p24"/>
          <p:cNvGraphicFramePr/>
          <p:nvPr/>
        </p:nvGraphicFramePr>
        <p:xfrm>
          <a:off x="13792320" y="1262160"/>
          <a:ext cx="3893400" cy="8091000"/>
        </p:xfrm>
        <a:graphic>
          <a:graphicData uri="http://schemas.openxmlformats.org/drawingml/2006/table">
            <a:tbl>
              <a:tblPr/>
              <a:tblGrid>
                <a:gridCol w="3893760"/>
              </a:tblGrid>
              <a:tr h="1071720">
                <a:tc>
                  <a:txBody>
                    <a:bodyPr lIns="190440" rIns="190440" anchor="ctr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</a:rPr>
                        <a:t>4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ffc418"/>
                    </a:solidFill>
                  </a:tcPr>
                </a:tc>
              </a:tr>
              <a:tr h="1071720">
                <a:tc>
                  <a:txBody>
                    <a:bodyPr lIns="190440" rIns="190440" anchor="ctr">
                      <a:noAutofit/>
                    </a:bodyPr>
                    <a:p>
                      <a:pPr algn="ctr">
                        <a:lnSpc>
                          <a:spcPct val="140000"/>
                        </a:lnSpc>
                        <a:tabLst>
                          <a:tab algn="l" pos="0"/>
                        </a:tabLst>
                      </a:pPr>
                      <a:r>
                        <a:rPr b="1" lang="en-US" sz="3200" spc="-1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</a:rPr>
                        <a:t>Группы рифм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756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38160">
                      <a:solidFill>
                        <a:srgbClr val="000000"/>
                      </a:solidFill>
                      <a:prstDash val="solid"/>
                    </a:lnL>
                    <a:lnR w="38160">
                      <a:solidFill>
                        <a:srgbClr val="000000"/>
                      </a:solidFill>
                      <a:prstDash val="solid"/>
                    </a:lnR>
                    <a:lnT w="38160">
                      <a:solidFill>
                        <a:srgbClr val="000000"/>
                      </a:solidFill>
                      <a:prstDash val="solid"/>
                    </a:lnT>
                    <a:lnB w="381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441;p24"/>
          <p:cNvSpPr/>
          <p:nvPr/>
        </p:nvSpPr>
        <p:spPr>
          <a:xfrm>
            <a:off x="601560" y="3542400"/>
            <a:ext cx="3684240" cy="14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Стих — поток волн; каждый слог излучает поле созвучия.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Google Shape;442;p24"/>
          <p:cNvSpPr/>
          <p:nvPr/>
        </p:nvSpPr>
        <p:spPr>
          <a:xfrm>
            <a:off x="5134320" y="3542400"/>
            <a:ext cx="3573000" cy="18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Связь слогов гаснет с расстоянием: K(d)=e^(−λd)/d (экранирование).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Google Shape;443;p24"/>
          <p:cNvSpPr/>
          <p:nvPr/>
        </p:nvSpPr>
        <p:spPr>
          <a:xfrm>
            <a:off x="9614880" y="3542400"/>
            <a:ext cx="3522240" cy="18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Общие созвучные «соседи» усиливают связь — волны складываются.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Google Shape;444;p24"/>
          <p:cNvSpPr/>
          <p:nvPr/>
        </p:nvSpPr>
        <p:spPr>
          <a:xfrm>
            <a:off x="14085000" y="3542400"/>
            <a:ext cx="3517560" cy="18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Схожесть слогов — косинус фонетических векторов; сильные связи → группы рифм.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43" name="Google Shape;445;p24"/>
          <p:cNvGrpSpPr/>
          <p:nvPr/>
        </p:nvGrpSpPr>
        <p:grpSpPr>
          <a:xfrm>
            <a:off x="2079000" y="8849520"/>
            <a:ext cx="729720" cy="772920"/>
            <a:chOff x="2079000" y="8849520"/>
            <a:chExt cx="729720" cy="772920"/>
          </a:xfrm>
        </p:grpSpPr>
        <p:sp>
          <p:nvSpPr>
            <p:cNvPr id="344" name="Google Shape;446;p24"/>
            <p:cNvSpPr/>
            <p:nvPr/>
          </p:nvSpPr>
          <p:spPr>
            <a:xfrm>
              <a:off x="2079000" y="889272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35e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5" name="Google Shape;447;p24"/>
            <p:cNvSpPr/>
            <p:nvPr/>
          </p:nvSpPr>
          <p:spPr>
            <a:xfrm>
              <a:off x="2079000" y="884952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46" name="Google Shape;448;p24"/>
          <p:cNvGrpSpPr/>
          <p:nvPr/>
        </p:nvGrpSpPr>
        <p:grpSpPr>
          <a:xfrm>
            <a:off x="6545160" y="8849520"/>
            <a:ext cx="729720" cy="772920"/>
            <a:chOff x="6545160" y="8849520"/>
            <a:chExt cx="729720" cy="772920"/>
          </a:xfrm>
        </p:grpSpPr>
        <p:sp>
          <p:nvSpPr>
            <p:cNvPr id="347" name="Google Shape;449;p24"/>
            <p:cNvSpPr/>
            <p:nvPr/>
          </p:nvSpPr>
          <p:spPr>
            <a:xfrm>
              <a:off x="6545160" y="889272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8" name="Google Shape;450;p24"/>
            <p:cNvSpPr/>
            <p:nvPr/>
          </p:nvSpPr>
          <p:spPr>
            <a:xfrm>
              <a:off x="6545160" y="884952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49" name="Google Shape;451;p24"/>
          <p:cNvGrpSpPr/>
          <p:nvPr/>
        </p:nvGrpSpPr>
        <p:grpSpPr>
          <a:xfrm>
            <a:off x="11011320" y="8849520"/>
            <a:ext cx="729720" cy="772920"/>
            <a:chOff x="11011320" y="8849520"/>
            <a:chExt cx="729720" cy="772920"/>
          </a:xfrm>
        </p:grpSpPr>
        <p:sp>
          <p:nvSpPr>
            <p:cNvPr id="350" name="Google Shape;452;p24"/>
            <p:cNvSpPr/>
            <p:nvPr/>
          </p:nvSpPr>
          <p:spPr>
            <a:xfrm>
              <a:off x="11011320" y="889272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e8c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1" name="Google Shape;453;p24"/>
            <p:cNvSpPr/>
            <p:nvPr/>
          </p:nvSpPr>
          <p:spPr>
            <a:xfrm>
              <a:off x="11011320" y="884952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2" name="Google Shape;454;p24"/>
          <p:cNvGrpSpPr/>
          <p:nvPr/>
        </p:nvGrpSpPr>
        <p:grpSpPr>
          <a:xfrm>
            <a:off x="15477480" y="8849520"/>
            <a:ext cx="729720" cy="772920"/>
            <a:chOff x="15477480" y="8849520"/>
            <a:chExt cx="729720" cy="772920"/>
          </a:xfrm>
        </p:grpSpPr>
        <p:sp>
          <p:nvSpPr>
            <p:cNvPr id="353" name="Google Shape;455;p24"/>
            <p:cNvSpPr/>
            <p:nvPr/>
          </p:nvSpPr>
          <p:spPr>
            <a:xfrm>
              <a:off x="15477480" y="8892720"/>
              <a:ext cx="729720" cy="729720"/>
            </a:xfrm>
            <a:custGeom>
              <a:avLst/>
              <a:gdLst>
                <a:gd name="textAreaLeft" fmla="*/ 0 w 729720"/>
                <a:gd name="textAreaRight" fmla="*/ 731520 w 729720"/>
                <a:gd name="textAreaTop" fmla="*/ 0 h 729720"/>
                <a:gd name="textAreaBottom" fmla="*/ 731520 h 7297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" name="Google Shape;456;p24"/>
            <p:cNvSpPr/>
            <p:nvPr/>
          </p:nvSpPr>
          <p:spPr>
            <a:xfrm>
              <a:off x="15477480" y="8849520"/>
              <a:ext cx="729720" cy="77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55" name="Google Shape;371;p21"/>
          <p:cNvSpPr/>
          <p:nvPr/>
        </p:nvSpPr>
        <p:spPr>
          <a:xfrm>
            <a:off x="640080" y="137160"/>
            <a:ext cx="16457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Bungee"/>
                <a:ea typeface="Bungee"/>
              </a:rPr>
              <a:t>Авторский алгоритм: идея – рифмы – есть затухание слоговых волн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push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35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413;p23"/>
          <p:cNvGrpSpPr/>
          <p:nvPr/>
        </p:nvGrpSpPr>
        <p:grpSpPr>
          <a:xfrm>
            <a:off x="16367040" y="2221200"/>
            <a:ext cx="5258160" cy="5258160"/>
            <a:chOff x="16367040" y="2221200"/>
            <a:chExt cx="5258160" cy="5258160"/>
          </a:xfrm>
        </p:grpSpPr>
        <p:sp>
          <p:nvSpPr>
            <p:cNvPr id="357" name="Google Shape;414;p23"/>
            <p:cNvSpPr/>
            <p:nvPr/>
          </p:nvSpPr>
          <p:spPr>
            <a:xfrm>
              <a:off x="16367040" y="2221200"/>
              <a:ext cx="5258160" cy="5258160"/>
            </a:xfrm>
            <a:custGeom>
              <a:avLst/>
              <a:gdLst>
                <a:gd name="textAreaLeft" fmla="*/ 0 w 5258160"/>
                <a:gd name="textAreaRight" fmla="*/ 5259960 w 5258160"/>
                <a:gd name="textAreaTop" fmla="*/ 0 h 5258160"/>
                <a:gd name="textAreaBottom" fmla="*/ 5259960 h 52581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303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8" name="Google Shape;415;p23"/>
            <p:cNvSpPr/>
            <p:nvPr/>
          </p:nvSpPr>
          <p:spPr>
            <a:xfrm>
              <a:off x="16860240" y="2406240"/>
              <a:ext cx="4272120" cy="458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59" name="Google Shape;416;p23"/>
          <p:cNvSpPr/>
          <p:nvPr/>
        </p:nvSpPr>
        <p:spPr>
          <a:xfrm rot="16200000">
            <a:off x="13203720" y="2223000"/>
            <a:ext cx="5141880" cy="5141880"/>
          </a:xfrm>
          <a:custGeom>
            <a:avLst/>
            <a:gdLst>
              <a:gd name="textAreaLeft" fmla="*/ 0 w 5141880"/>
              <a:gd name="textAreaRight" fmla="*/ 5143680 w 5141880"/>
              <a:gd name="textAreaTop" fmla="*/ 0 h 5141880"/>
              <a:gd name="textAreaBottom" fmla="*/ 5143680 h 5141880"/>
            </a:gdLst>
            <a:ahLst/>
            <a:rect l="textAreaLeft" t="textAreaTop" r="textAreaRight" b="textAreaBottom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0" name="Google Shape;417;p23"/>
          <p:cNvGraphicFramePr/>
          <p:nvPr/>
        </p:nvGraphicFramePr>
        <p:xfrm>
          <a:off x="8785080" y="4730760"/>
          <a:ext cx="8818200" cy="4374720"/>
        </p:xfrm>
        <a:graphic>
          <a:graphicData uri="http://schemas.openxmlformats.org/drawingml/2006/table">
            <a:tbl>
              <a:tblPr/>
              <a:tblGrid>
                <a:gridCol w="8818560"/>
              </a:tblGrid>
              <a:tr h="437472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418;p23"/>
          <p:cNvSpPr/>
          <p:nvPr/>
        </p:nvSpPr>
        <p:spPr>
          <a:xfrm flipH="1" rot="10800000">
            <a:off x="-360" y="-7200"/>
            <a:ext cx="3965400" cy="3965400"/>
          </a:xfrm>
          <a:custGeom>
            <a:avLst/>
            <a:gdLst>
              <a:gd name="textAreaLeft" fmla="*/ -1080 w 3965400"/>
              <a:gd name="textAreaRight" fmla="*/ 3966120 w 3965400"/>
              <a:gd name="textAreaTop" fmla="*/ 0 h 3965400"/>
              <a:gd name="textAreaBottom" fmla="*/ 3967200 h 3965400"/>
            </a:gdLst>
            <a:ahLst/>
            <a:rect l="textAreaLeft" t="textAreaTop" r="textAreaRight" b="textAreaBottom"/>
            <a:pathLst>
              <a:path w="3967365" h="3967365">
                <a:moveTo>
                  <a:pt x="0" y="3967365"/>
                </a:moveTo>
                <a:lnTo>
                  <a:pt x="3967365" y="3967365"/>
                </a:lnTo>
                <a:lnTo>
                  <a:pt x="3967365" y="0"/>
                </a:lnTo>
                <a:lnTo>
                  <a:pt x="0" y="0"/>
                </a:lnTo>
                <a:lnTo>
                  <a:pt x="0" y="3967365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2" name="Google Shape;419;p23"/>
          <p:cNvGraphicFramePr/>
          <p:nvPr/>
        </p:nvGraphicFramePr>
        <p:xfrm>
          <a:off x="676800" y="1462320"/>
          <a:ext cx="8818200" cy="4374720"/>
        </p:xfrm>
        <a:graphic>
          <a:graphicData uri="http://schemas.openxmlformats.org/drawingml/2006/table">
            <a:tbl>
              <a:tblPr/>
              <a:tblGrid>
                <a:gridCol w="8818560"/>
              </a:tblGrid>
              <a:tr h="437472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3" name="Google Shape;422;p23"/>
          <p:cNvSpPr/>
          <p:nvPr/>
        </p:nvSpPr>
        <p:spPr>
          <a:xfrm>
            <a:off x="1188720" y="1920240"/>
            <a:ext cx="7588080" cy="18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RPST.  Надёжная разметка ударений; даёт размер, схему и оценку поэтичности. Работает на уровне строки. Цена — тяжёлые модели и медленная первая загрузка (~15–30 с).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Google Shape;423;p23"/>
          <p:cNvSpPr/>
          <p:nvPr/>
        </p:nvSpPr>
        <p:spPr>
          <a:xfrm>
            <a:off x="9271440" y="6072840"/>
            <a:ext cx="7588080" cy="14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Юкава.  Послоговая карта созвучий; новизна и тонкая настройка без машинного обучения. Работает на уровне слога. Цена — шум на длинных текстах.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65" name="Google Shape;424;p23"/>
          <p:cNvGrpSpPr/>
          <p:nvPr/>
        </p:nvGrpSpPr>
        <p:grpSpPr>
          <a:xfrm>
            <a:off x="385920" y="6842160"/>
            <a:ext cx="8300160" cy="1302840"/>
            <a:chOff x="385920" y="6842160"/>
            <a:chExt cx="8300160" cy="1302840"/>
          </a:xfrm>
        </p:grpSpPr>
        <p:sp>
          <p:nvSpPr>
            <p:cNvPr id="366" name="Google Shape;425;p23"/>
            <p:cNvSpPr/>
            <p:nvPr/>
          </p:nvSpPr>
          <p:spPr>
            <a:xfrm>
              <a:off x="385920" y="6953400"/>
              <a:ext cx="8300160" cy="1191240"/>
            </a:xfrm>
            <a:custGeom>
              <a:avLst/>
              <a:gdLst>
                <a:gd name="textAreaLeft" fmla="*/ 0 w 8300160"/>
                <a:gd name="textAreaRight" fmla="*/ 8301960 w 8300160"/>
                <a:gd name="textAreaTop" fmla="*/ 0 h 1191240"/>
                <a:gd name="textAreaBottom" fmla="*/ 1193040 h 1191240"/>
              </a:gdLst>
              <a:ahLst/>
              <a:rect l="textAreaLeft" t="textAreaTop" r="textAreaRight" b="textAreaBottom"/>
              <a:pathLst>
                <a:path w="3386195" h="510278">
                  <a:moveTo>
                    <a:pt x="0" y="0"/>
                  </a:moveTo>
                  <a:lnTo>
                    <a:pt x="3386195" y="0"/>
                  </a:lnTo>
                  <a:lnTo>
                    <a:pt x="3386195" y="510278"/>
                  </a:lnTo>
                  <a:lnTo>
                    <a:pt x="0" y="510278"/>
                  </a:ln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7" name="Google Shape;426;p23"/>
            <p:cNvSpPr/>
            <p:nvPr/>
          </p:nvSpPr>
          <p:spPr>
            <a:xfrm>
              <a:off x="385920" y="6842160"/>
              <a:ext cx="8300160" cy="130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68" name="Google Shape;427;p23"/>
          <p:cNvSpPr/>
          <p:nvPr/>
        </p:nvSpPr>
        <p:spPr>
          <a:xfrm>
            <a:off x="448200" y="6335280"/>
            <a:ext cx="9838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RPST vs Юкава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69" name="Google Shape;428;p23"/>
          <p:cNvGrpSpPr/>
          <p:nvPr/>
        </p:nvGrpSpPr>
        <p:grpSpPr>
          <a:xfrm>
            <a:off x="8229600" y="1298880"/>
            <a:ext cx="3992400" cy="1672200"/>
            <a:chOff x="8229600" y="1298880"/>
            <a:chExt cx="3992400" cy="1672200"/>
          </a:xfrm>
        </p:grpSpPr>
        <p:sp>
          <p:nvSpPr>
            <p:cNvPr id="370" name="Google Shape;429;p23"/>
            <p:cNvSpPr/>
            <p:nvPr/>
          </p:nvSpPr>
          <p:spPr>
            <a:xfrm>
              <a:off x="8229600" y="2468520"/>
              <a:ext cx="3992400" cy="502560"/>
            </a:xfrm>
            <a:custGeom>
              <a:avLst/>
              <a:gdLst>
                <a:gd name="textAreaLeft" fmla="*/ 0 w 3992400"/>
                <a:gd name="textAreaRight" fmla="*/ 3994200 w 3992400"/>
                <a:gd name="textAreaTop" fmla="*/ 0 h 502560"/>
                <a:gd name="textAreaBottom" fmla="*/ 504360 h 502560"/>
              </a:gdLst>
              <a:ahLst/>
              <a:rect l="textAreaLeft" t="textAreaTop" r="textAreaRight" b="textAreaBottom"/>
              <a:pathLst>
                <a:path w="5325375" h="672329">
                  <a:moveTo>
                    <a:pt x="0" y="0"/>
                  </a:moveTo>
                  <a:lnTo>
                    <a:pt x="5325375" y="0"/>
                  </a:lnTo>
                  <a:lnTo>
                    <a:pt x="5325375" y="672329"/>
                  </a:lnTo>
                  <a:lnTo>
                    <a:pt x="0" y="67232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1" name="Google Shape;430;p23"/>
            <p:cNvSpPr/>
            <p:nvPr/>
          </p:nvSpPr>
          <p:spPr>
            <a:xfrm>
              <a:off x="8229600" y="1883880"/>
              <a:ext cx="3992400" cy="502560"/>
            </a:xfrm>
            <a:custGeom>
              <a:avLst/>
              <a:gdLst>
                <a:gd name="textAreaLeft" fmla="*/ 0 w 3992400"/>
                <a:gd name="textAreaRight" fmla="*/ 3994200 w 3992400"/>
                <a:gd name="textAreaTop" fmla="*/ 0 h 502560"/>
                <a:gd name="textAreaBottom" fmla="*/ 504360 h 502560"/>
              </a:gdLst>
              <a:ahLst/>
              <a:rect l="textAreaLeft" t="textAreaTop" r="textAreaRight" b="textAreaBottom"/>
              <a:pathLst>
                <a:path w="5325375" h="672329">
                  <a:moveTo>
                    <a:pt x="0" y="0"/>
                  </a:moveTo>
                  <a:lnTo>
                    <a:pt x="5325375" y="0"/>
                  </a:lnTo>
                  <a:lnTo>
                    <a:pt x="5325375" y="672328"/>
                  </a:lnTo>
                  <a:lnTo>
                    <a:pt x="0" y="67232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" name="Google Shape;431;p23"/>
            <p:cNvSpPr/>
            <p:nvPr/>
          </p:nvSpPr>
          <p:spPr>
            <a:xfrm>
              <a:off x="8229600" y="1298880"/>
              <a:ext cx="3992400" cy="502560"/>
            </a:xfrm>
            <a:custGeom>
              <a:avLst/>
              <a:gdLst>
                <a:gd name="textAreaLeft" fmla="*/ 0 w 3992400"/>
                <a:gd name="textAreaRight" fmla="*/ 3994200 w 3992400"/>
                <a:gd name="textAreaTop" fmla="*/ 0 h 502560"/>
                <a:gd name="textAreaBottom" fmla="*/ 504360 h 502560"/>
              </a:gdLst>
              <a:ahLst/>
              <a:rect l="textAreaLeft" t="textAreaTop" r="textAreaRight" b="textAreaBottom"/>
              <a:pathLst>
                <a:path w="5325375" h="672329">
                  <a:moveTo>
                    <a:pt x="0" y="0"/>
                  </a:moveTo>
                  <a:lnTo>
                    <a:pt x="5325375" y="0"/>
                  </a:lnTo>
                  <a:lnTo>
                    <a:pt x="5325375" y="672329"/>
                  </a:lnTo>
                  <a:lnTo>
                    <a:pt x="0" y="67232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push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Picture 1" descr="bg.png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ln w="0">
            <a:noFill/>
          </a:ln>
        </p:spPr>
      </p:pic>
      <p:sp>
        <p:nvSpPr>
          <p:cNvPr id="374" name="Rounded Rectangle 2"/>
          <p:cNvSpPr/>
          <p:nvPr/>
        </p:nvSpPr>
        <p:spPr>
          <a:xfrm>
            <a:off x="1097280" y="457200"/>
            <a:ext cx="16093080" cy="888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Как мы работаем с ИИ: оценка → коррекция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Rounded Rectangle 3"/>
          <p:cNvSpPr/>
          <p:nvPr/>
        </p:nvSpPr>
        <p:spPr>
          <a:xfrm>
            <a:off x="1097280" y="1905120"/>
            <a:ext cx="3748680" cy="565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1e293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rIns="1522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ec4899"/>
                </a:solidFill>
                <a:latin typeface="Arial"/>
              </a:rPr>
              <a:t>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1e293b"/>
                </a:solidFill>
                <a:latin typeface="Arial"/>
              </a:rPr>
              <a:t>Генерация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f2937"/>
                </a:solidFill>
                <a:latin typeface="Arial"/>
              </a:rPr>
              <a:t>ИИ пишет N вариантов стиха (best-of-N).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ounded Rectangle 4"/>
          <p:cNvSpPr/>
          <p:nvPr/>
        </p:nvSpPr>
        <p:spPr>
          <a:xfrm>
            <a:off x="5212080" y="1905120"/>
            <a:ext cx="3748680" cy="565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1e293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rIns="1522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ec4899"/>
                </a:solidFill>
                <a:latin typeface="Arial"/>
              </a:rPr>
              <a:t>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1e293b"/>
                </a:solidFill>
                <a:latin typeface="Arial"/>
              </a:rPr>
              <a:t>Оценка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f2937"/>
                </a:solidFill>
                <a:latin typeface="Arial"/>
              </a:rPr>
              <a:t>Наши метрики численно оценивают рифму (RPST / Юкава).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Rounded Rectangle 5"/>
          <p:cNvSpPr/>
          <p:nvPr/>
        </p:nvSpPr>
        <p:spPr>
          <a:xfrm>
            <a:off x="9326880" y="1905120"/>
            <a:ext cx="3748680" cy="565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1e293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rIns="1522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ec4899"/>
                </a:solidFill>
                <a:latin typeface="Arial"/>
              </a:rPr>
              <a:t>3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1e293b"/>
                </a:solidFill>
                <a:latin typeface="Arial"/>
              </a:rPr>
              <a:t>Разметка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f2937"/>
                </a:solidFill>
                <a:latin typeface="Arial"/>
              </a:rPr>
              <a:t>Метим окончания: где рифма есть — оставить, где нет — переписать.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ounded Rectangle 6"/>
          <p:cNvSpPr/>
          <p:nvPr/>
        </p:nvSpPr>
        <p:spPr>
          <a:xfrm>
            <a:off x="13441680" y="1905120"/>
            <a:ext cx="3748680" cy="565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1e293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rIns="1522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ec4899"/>
                </a:solidFill>
                <a:latin typeface="Arial"/>
              </a:rPr>
              <a:t>4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1e293b"/>
                </a:solidFill>
                <a:latin typeface="Arial"/>
              </a:rPr>
              <a:t>Коррекция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f2937"/>
                </a:solidFill>
                <a:latin typeface="Arial"/>
              </a:rPr>
              <a:t>Просим ИИ перерифмовать плохое, сохранив хорошее, и проверить читаемость и форму.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Rounded Rectangle 7"/>
          <p:cNvSpPr/>
          <p:nvPr/>
        </p:nvSpPr>
        <p:spPr>
          <a:xfrm>
            <a:off x="1097280" y="8435520"/>
            <a:ext cx="16093080" cy="6854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bbf24"/>
                </a:solidFill>
                <a:latin typeface="Arial"/>
              </a:rPr>
              <a:t>ИИ — инструмент; ядро работы — математика оценки рифмы, которая и направляет правки.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30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502;p26"/>
          <p:cNvSpPr/>
          <p:nvPr/>
        </p:nvSpPr>
        <p:spPr>
          <a:xfrm>
            <a:off x="1650960" y="2122200"/>
            <a:ext cx="11832480" cy="9081000"/>
          </a:xfrm>
          <a:custGeom>
            <a:avLst/>
            <a:gdLst>
              <a:gd name="textAreaLeft" fmla="*/ 0 w 11832480"/>
              <a:gd name="textAreaRight" fmla="*/ 11834280 w 11832480"/>
              <a:gd name="textAreaTop" fmla="*/ 0 h 9081000"/>
              <a:gd name="textAreaBottom" fmla="*/ 9082800 h 9081000"/>
            </a:gdLst>
            <a:ahLst/>
            <a:rect l="textAreaLeft" t="textAreaTop" r="textAreaRight" b="textAreaBottom"/>
            <a:pathLst>
              <a:path w="11834176" h="9082730">
                <a:moveTo>
                  <a:pt x="0" y="0"/>
                </a:moveTo>
                <a:lnTo>
                  <a:pt x="11834177" y="0"/>
                </a:lnTo>
                <a:lnTo>
                  <a:pt x="11834177" y="9082730"/>
                </a:lnTo>
                <a:lnTo>
                  <a:pt x="0" y="90827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Google Shape;503;p26"/>
          <p:cNvSpPr/>
          <p:nvPr/>
        </p:nvSpPr>
        <p:spPr>
          <a:xfrm rot="16200000">
            <a:off x="2179080" y="-526320"/>
            <a:ext cx="8434080" cy="9490320"/>
          </a:xfrm>
          <a:custGeom>
            <a:avLst/>
            <a:gdLst>
              <a:gd name="textAreaLeft" fmla="*/ 0 w 8434080"/>
              <a:gd name="textAreaRight" fmla="*/ 8435880 w 8434080"/>
              <a:gd name="textAreaTop" fmla="*/ 0 h 9490320"/>
              <a:gd name="textAreaBottom" fmla="*/ 9492120 h 9490320"/>
            </a:gdLst>
            <a:ahLst/>
            <a:rect l="textAreaLeft" t="textAreaTop" r="textAreaRight" b="textAreaBottom"/>
            <a:pathLst>
              <a:path w="8435965" h="9491943">
                <a:moveTo>
                  <a:pt x="0" y="0"/>
                </a:moveTo>
                <a:lnTo>
                  <a:pt x="8435964" y="0"/>
                </a:lnTo>
                <a:lnTo>
                  <a:pt x="8435964" y="9491943"/>
                </a:lnTo>
                <a:lnTo>
                  <a:pt x="0" y="94919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Google Shape;504;p26"/>
          <p:cNvSpPr/>
          <p:nvPr/>
        </p:nvSpPr>
        <p:spPr>
          <a:xfrm>
            <a:off x="10601280" y="1780200"/>
            <a:ext cx="14520960" cy="10200600"/>
          </a:xfrm>
          <a:custGeom>
            <a:avLst/>
            <a:gdLst>
              <a:gd name="textAreaLeft" fmla="*/ 0 w 14520960"/>
              <a:gd name="textAreaRight" fmla="*/ 14522760 w 14520960"/>
              <a:gd name="textAreaTop" fmla="*/ 0 h 10200600"/>
              <a:gd name="textAreaBottom" fmla="*/ 10202400 h 10200600"/>
            </a:gdLst>
            <a:ahLst/>
            <a:rect l="textAreaLeft" t="textAreaTop" r="textAreaRight" b="textAreaBottom"/>
            <a:pathLst>
              <a:path w="14522752" h="10202233">
                <a:moveTo>
                  <a:pt x="0" y="0"/>
                </a:moveTo>
                <a:lnTo>
                  <a:pt x="14522752" y="0"/>
                </a:lnTo>
                <a:lnTo>
                  <a:pt x="14522752" y="10202234"/>
                </a:lnTo>
                <a:lnTo>
                  <a:pt x="0" y="102022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505;p26"/>
          <p:cNvSpPr/>
          <p:nvPr/>
        </p:nvSpPr>
        <p:spPr>
          <a:xfrm>
            <a:off x="-2370960" y="583200"/>
            <a:ext cx="7983000" cy="8006040"/>
          </a:xfrm>
          <a:custGeom>
            <a:avLst/>
            <a:gdLst>
              <a:gd name="textAreaLeft" fmla="*/ 0 w 7983000"/>
              <a:gd name="textAreaRight" fmla="*/ 7984800 w 7983000"/>
              <a:gd name="textAreaTop" fmla="*/ 0 h 8006040"/>
              <a:gd name="textAreaBottom" fmla="*/ 8007840 h 8006040"/>
            </a:gdLst>
            <a:ahLst/>
            <a:rect l="textAreaLeft" t="textAreaTop" r="textAreaRight" b="textAreaBottom"/>
            <a:pathLst>
              <a:path w="4406900" h="4419600">
                <a:moveTo>
                  <a:pt x="4356100" y="2724150"/>
                </a:moveTo>
                <a:cubicBezTo>
                  <a:pt x="4406900" y="3200400"/>
                  <a:pt x="4152900" y="3619500"/>
                  <a:pt x="4152900" y="3619500"/>
                </a:cubicBezTo>
                <a:cubicBezTo>
                  <a:pt x="3898900" y="4038600"/>
                  <a:pt x="3422650" y="4159250"/>
                  <a:pt x="3422650" y="4159250"/>
                </a:cubicBezTo>
                <a:cubicBezTo>
                  <a:pt x="2946400" y="4279900"/>
                  <a:pt x="2527300" y="4051300"/>
                  <a:pt x="2527300" y="4051300"/>
                </a:cubicBezTo>
                <a:cubicBezTo>
                  <a:pt x="2108200" y="3822700"/>
                  <a:pt x="1657350" y="4121150"/>
                  <a:pt x="1657350" y="4121150"/>
                </a:cubicBezTo>
                <a:cubicBezTo>
                  <a:pt x="1206500" y="4419600"/>
                  <a:pt x="857250" y="4133850"/>
                  <a:pt x="857250" y="4133850"/>
                </a:cubicBezTo>
                <a:cubicBezTo>
                  <a:pt x="508000" y="3848100"/>
                  <a:pt x="577850" y="3352800"/>
                  <a:pt x="577850" y="3352800"/>
                </a:cubicBezTo>
                <a:cubicBezTo>
                  <a:pt x="647700" y="2857500"/>
                  <a:pt x="488950" y="2552700"/>
                  <a:pt x="488950" y="2552700"/>
                </a:cubicBezTo>
                <a:cubicBezTo>
                  <a:pt x="330200" y="2247900"/>
                  <a:pt x="165100" y="1809750"/>
                  <a:pt x="165100" y="1809750"/>
                </a:cubicBezTo>
                <a:cubicBezTo>
                  <a:pt x="0" y="1371600"/>
                  <a:pt x="247650" y="1003300"/>
                  <a:pt x="247650" y="1003300"/>
                </a:cubicBezTo>
                <a:cubicBezTo>
                  <a:pt x="495300" y="635000"/>
                  <a:pt x="895350" y="463550"/>
                  <a:pt x="895350" y="463550"/>
                </a:cubicBezTo>
                <a:cubicBezTo>
                  <a:pt x="1295400" y="292100"/>
                  <a:pt x="1701800" y="146050"/>
                  <a:pt x="1701800" y="146050"/>
                </a:cubicBezTo>
                <a:cubicBezTo>
                  <a:pt x="2108200" y="0"/>
                  <a:pt x="2552700" y="44450"/>
                  <a:pt x="2552700" y="44450"/>
                </a:cubicBezTo>
                <a:cubicBezTo>
                  <a:pt x="2997200" y="88900"/>
                  <a:pt x="3143250" y="577850"/>
                  <a:pt x="3143250" y="577850"/>
                </a:cubicBezTo>
                <a:cubicBezTo>
                  <a:pt x="3289300" y="1066800"/>
                  <a:pt x="3562350" y="1301750"/>
                  <a:pt x="3562350" y="1301750"/>
                </a:cubicBezTo>
                <a:cubicBezTo>
                  <a:pt x="3835400" y="1536700"/>
                  <a:pt x="4070350" y="1892300"/>
                  <a:pt x="4070350" y="1892300"/>
                </a:cubicBezTo>
                <a:cubicBezTo>
                  <a:pt x="4305300" y="2247900"/>
                  <a:pt x="4356100" y="2724150"/>
                  <a:pt x="4356100" y="2724150"/>
                </a:cubicBezTo>
                <a:close/>
              </a:path>
            </a:pathLst>
          </a:custGeom>
          <a:solidFill>
            <a:srgbClr val="ffc4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Google Shape;506;p26"/>
          <p:cNvSpPr/>
          <p:nvPr/>
        </p:nvSpPr>
        <p:spPr>
          <a:xfrm rot="16200000">
            <a:off x="10084680" y="502560"/>
            <a:ext cx="8434080" cy="9490320"/>
          </a:xfrm>
          <a:custGeom>
            <a:avLst/>
            <a:gdLst>
              <a:gd name="textAreaLeft" fmla="*/ 0 w 8434080"/>
              <a:gd name="textAreaRight" fmla="*/ 8435880 w 8434080"/>
              <a:gd name="textAreaTop" fmla="*/ 0 h 9490320"/>
              <a:gd name="textAreaBottom" fmla="*/ 9492120 h 9490320"/>
            </a:gdLst>
            <a:ahLst/>
            <a:rect l="textAreaLeft" t="textAreaTop" r="textAreaRight" b="textAreaBottom"/>
            <a:pathLst>
              <a:path w="8435965" h="9491943">
                <a:moveTo>
                  <a:pt x="0" y="0"/>
                </a:moveTo>
                <a:lnTo>
                  <a:pt x="8435965" y="0"/>
                </a:lnTo>
                <a:lnTo>
                  <a:pt x="8435965" y="9491943"/>
                </a:lnTo>
                <a:lnTo>
                  <a:pt x="0" y="94919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5" name="Google Shape;507;p26"/>
          <p:cNvGrpSpPr/>
          <p:nvPr/>
        </p:nvGrpSpPr>
        <p:grpSpPr>
          <a:xfrm>
            <a:off x="3091680" y="2598480"/>
            <a:ext cx="11942640" cy="5924160"/>
            <a:chOff x="3091680" y="2598480"/>
            <a:chExt cx="11942640" cy="5924160"/>
          </a:xfrm>
        </p:grpSpPr>
        <p:sp>
          <p:nvSpPr>
            <p:cNvPr id="386" name="Google Shape;508;p26"/>
            <p:cNvSpPr/>
            <p:nvPr/>
          </p:nvSpPr>
          <p:spPr>
            <a:xfrm>
              <a:off x="3091680" y="2901600"/>
              <a:ext cx="11942640" cy="5621040"/>
            </a:xfrm>
            <a:custGeom>
              <a:avLst/>
              <a:gdLst>
                <a:gd name="textAreaLeft" fmla="*/ 0 w 11942640"/>
                <a:gd name="textAreaRight" fmla="*/ 11944440 w 11942640"/>
                <a:gd name="textAreaTop" fmla="*/ 0 h 5621040"/>
                <a:gd name="textAreaBottom" fmla="*/ 5622840 h 5621040"/>
              </a:gdLst>
              <a:ahLst/>
              <a:rect l="textAreaLeft" t="textAreaTop" r="textAreaRight" b="textAreaBottom"/>
              <a:pathLst>
                <a:path w="1877620" h="883880">
                  <a:moveTo>
                    <a:pt x="0" y="0"/>
                  </a:moveTo>
                  <a:lnTo>
                    <a:pt x="1877620" y="0"/>
                  </a:lnTo>
                  <a:lnTo>
                    <a:pt x="1877620" y="883880"/>
                  </a:lnTo>
                  <a:lnTo>
                    <a:pt x="0" y="883880"/>
                  </a:lnTo>
                  <a:close/>
                </a:path>
              </a:pathLst>
            </a:custGeom>
            <a:solidFill>
              <a:srgbClr val="ffffff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7" name="Google Shape;509;p26"/>
            <p:cNvSpPr/>
            <p:nvPr/>
          </p:nvSpPr>
          <p:spPr>
            <a:xfrm>
              <a:off x="3091680" y="2598480"/>
              <a:ext cx="11942640" cy="592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88" name="Google Shape;510;p26"/>
          <p:cNvGrpSpPr/>
          <p:nvPr/>
        </p:nvGrpSpPr>
        <p:grpSpPr>
          <a:xfrm>
            <a:off x="6783840" y="2486160"/>
            <a:ext cx="4727880" cy="3963240"/>
            <a:chOff x="6783840" y="2486160"/>
            <a:chExt cx="4727880" cy="3963240"/>
          </a:xfrm>
        </p:grpSpPr>
        <p:sp>
          <p:nvSpPr>
            <p:cNvPr id="389" name="Google Shape;511;p26"/>
            <p:cNvSpPr/>
            <p:nvPr/>
          </p:nvSpPr>
          <p:spPr>
            <a:xfrm>
              <a:off x="6783840" y="2486160"/>
              <a:ext cx="4727880" cy="3963240"/>
            </a:xfrm>
            <a:custGeom>
              <a:avLst/>
              <a:gdLst>
                <a:gd name="textAreaLeft" fmla="*/ 0 w 4727880"/>
                <a:gd name="textAreaRight" fmla="*/ 4729680 w 4727880"/>
                <a:gd name="textAreaTop" fmla="*/ 0 h 3963240"/>
                <a:gd name="textAreaBottom" fmla="*/ 3965040 h 3963240"/>
              </a:gdLst>
              <a:ahLst/>
              <a:rect l="textAreaLeft" t="textAreaTop" r="textAreaRight" b="textAreaBottom"/>
              <a:pathLst>
                <a:path w="2488913" h="2086611">
                  <a:moveTo>
                    <a:pt x="1244456" y="0"/>
                  </a:moveTo>
                  <a:cubicBezTo>
                    <a:pt x="557162" y="0"/>
                    <a:pt x="0" y="467104"/>
                    <a:pt x="0" y="1043306"/>
                  </a:cubicBezTo>
                  <a:cubicBezTo>
                    <a:pt x="0" y="1619507"/>
                    <a:pt x="557162" y="2086611"/>
                    <a:pt x="1244456" y="2086611"/>
                  </a:cubicBezTo>
                  <a:cubicBezTo>
                    <a:pt x="1931750" y="2086611"/>
                    <a:pt x="2488913" y="1619507"/>
                    <a:pt x="2488913" y="1043306"/>
                  </a:cubicBezTo>
                  <a:cubicBezTo>
                    <a:pt x="2488913" y="467104"/>
                    <a:pt x="1931750" y="0"/>
                    <a:pt x="1244456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0" name="Google Shape;512;p26"/>
            <p:cNvSpPr/>
            <p:nvPr/>
          </p:nvSpPr>
          <p:spPr>
            <a:xfrm>
              <a:off x="7227360" y="2514240"/>
              <a:ext cx="3841200" cy="356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9000" spc="-1" strike="noStrike">
                  <a:solidFill>
                    <a:srgbClr val="000000"/>
                  </a:solidFill>
                  <a:latin typeface="Bungee"/>
                  <a:ea typeface="Bungee"/>
                </a:rPr>
                <a:t>03.</a:t>
              </a:r>
              <a:endParaRPr b="0" lang="en-US" sz="9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aphicFrame>
        <p:nvGraphicFramePr>
          <p:cNvPr id="391" name="Google Shape;513;p26"/>
          <p:cNvGraphicFramePr/>
          <p:nvPr/>
        </p:nvGraphicFramePr>
        <p:xfrm>
          <a:off x="0" y="6480"/>
          <a:ext cx="18297000" cy="1773720"/>
        </p:xfrm>
        <a:graphic>
          <a:graphicData uri="http://schemas.openxmlformats.org/drawingml/2006/table">
            <a:tbl>
              <a:tblPr/>
              <a:tblGrid>
                <a:gridCol w="6099120"/>
                <a:gridCol w="6099120"/>
                <a:gridCol w="6099120"/>
              </a:tblGrid>
              <a:tr h="1773720"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0e8cfe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0e8cfe"/>
                    </a:solidFill>
                  </a:tcPr>
                </a:tc>
                <a:tc>
                  <a:txBody>
                    <a:bodyPr lIns="190440" rIns="19044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90440" marR="190440">
                    <a:lnL w="47520">
                      <a:solidFill>
                        <a:srgbClr val="000000"/>
                      </a:solidFill>
                      <a:prstDash val="solid"/>
                    </a:lnL>
                    <a:lnR w="47520">
                      <a:solidFill>
                        <a:srgbClr val="000000"/>
                      </a:solidFill>
                      <a:prstDash val="solid"/>
                    </a:lnR>
                    <a:lnT w="47520">
                      <a:solidFill>
                        <a:srgbClr val="000000"/>
                      </a:solidFill>
                      <a:prstDash val="solid"/>
                    </a:lnT>
                    <a:lnB w="47520">
                      <a:solidFill>
                        <a:srgbClr val="000000"/>
                      </a:solidFill>
                      <a:prstDash val="solid"/>
                    </a:lnB>
                    <a:solidFill>
                      <a:srgbClr val="ffc418"/>
                    </a:solidFill>
                  </a:tcPr>
                </a:tc>
              </a:tr>
            </a:tbl>
          </a:graphicData>
        </a:graphic>
      </p:graphicFrame>
      <p:grpSp>
        <p:nvGrpSpPr>
          <p:cNvPr id="392" name="Google Shape;514;p26"/>
          <p:cNvGrpSpPr/>
          <p:nvPr/>
        </p:nvGrpSpPr>
        <p:grpSpPr>
          <a:xfrm>
            <a:off x="7286040" y="2524320"/>
            <a:ext cx="866520" cy="866520"/>
            <a:chOff x="7286040" y="2524320"/>
            <a:chExt cx="866520" cy="866520"/>
          </a:xfrm>
        </p:grpSpPr>
        <p:sp>
          <p:nvSpPr>
            <p:cNvPr id="393" name="Google Shape;515;p26"/>
            <p:cNvSpPr/>
            <p:nvPr/>
          </p:nvSpPr>
          <p:spPr>
            <a:xfrm>
              <a:off x="7286040" y="2524320"/>
              <a:ext cx="866520" cy="866520"/>
            </a:xfrm>
            <a:custGeom>
              <a:avLst/>
              <a:gdLst>
                <a:gd name="textAreaLeft" fmla="*/ 0 w 866520"/>
                <a:gd name="textAreaRight" fmla="*/ 868320 w 866520"/>
                <a:gd name="textAreaTop" fmla="*/ 0 h 866520"/>
                <a:gd name="textAreaBottom" fmla="*/ 868320 h 866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315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4" name="Google Shape;516;p26"/>
            <p:cNvSpPr/>
            <p:nvPr/>
          </p:nvSpPr>
          <p:spPr>
            <a:xfrm>
              <a:off x="7367400" y="2554920"/>
              <a:ext cx="703800" cy="75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95" name="Google Shape;517;p26"/>
          <p:cNvSpPr/>
          <p:nvPr/>
        </p:nvSpPr>
        <p:spPr>
          <a:xfrm>
            <a:off x="3293640" y="5410440"/>
            <a:ext cx="11392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Итог?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518;p26"/>
          <p:cNvSpPr/>
          <p:nvPr/>
        </p:nvSpPr>
        <p:spPr>
          <a:xfrm>
            <a:off x="4208400" y="7372800"/>
            <a:ext cx="9869040" cy="6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Демонстрация, результаты и выводы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Google Shape;519;p26"/>
          <p:cNvSpPr/>
          <p:nvPr/>
        </p:nvSpPr>
        <p:spPr>
          <a:xfrm>
            <a:off x="1304280" y="639000"/>
            <a:ext cx="316728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3200" spc="-1" strike="sngStrike">
                <a:solidFill>
                  <a:srgbClr val="000000"/>
                </a:solidFill>
                <a:latin typeface="Lato"/>
                <a:ea typeface="Lato"/>
              </a:rPr>
              <a:t>ЗАЧЕМ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520;p26"/>
          <p:cNvSpPr/>
          <p:nvPr/>
        </p:nvSpPr>
        <p:spPr>
          <a:xfrm>
            <a:off x="6856560" y="639000"/>
            <a:ext cx="45828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3200" spc="-1" strike="sngStrike">
                <a:solidFill>
                  <a:srgbClr val="000000"/>
                </a:solidFill>
                <a:latin typeface="Lato"/>
                <a:ea typeface="Lato"/>
              </a:rPr>
              <a:t>КАК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Google Shape;521;p26"/>
          <p:cNvSpPr/>
          <p:nvPr/>
        </p:nvSpPr>
        <p:spPr>
          <a:xfrm>
            <a:off x="13456440" y="647640"/>
            <a:ext cx="368568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ИТОГ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00" name="Google Shape;522;p26"/>
          <p:cNvGrpSpPr/>
          <p:nvPr/>
        </p:nvGrpSpPr>
        <p:grpSpPr>
          <a:xfrm>
            <a:off x="8709840" y="2505240"/>
            <a:ext cx="866520" cy="866520"/>
            <a:chOff x="8709840" y="2505240"/>
            <a:chExt cx="866520" cy="866520"/>
          </a:xfrm>
        </p:grpSpPr>
        <p:sp>
          <p:nvSpPr>
            <p:cNvPr id="401" name="Google Shape;523;p26"/>
            <p:cNvSpPr/>
            <p:nvPr/>
          </p:nvSpPr>
          <p:spPr>
            <a:xfrm>
              <a:off x="8709840" y="2505240"/>
              <a:ext cx="866520" cy="866520"/>
            </a:xfrm>
            <a:custGeom>
              <a:avLst/>
              <a:gdLst>
                <a:gd name="textAreaLeft" fmla="*/ 0 w 866520"/>
                <a:gd name="textAreaRight" fmla="*/ 868320 w 866520"/>
                <a:gd name="textAreaTop" fmla="*/ 0 h 866520"/>
                <a:gd name="textAreaBottom" fmla="*/ 868320 h 866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315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2" name="Google Shape;524;p26"/>
            <p:cNvSpPr/>
            <p:nvPr/>
          </p:nvSpPr>
          <p:spPr>
            <a:xfrm>
              <a:off x="8791200" y="2535840"/>
              <a:ext cx="703800" cy="75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3" name="Google Shape;525;p26"/>
          <p:cNvGrpSpPr/>
          <p:nvPr/>
        </p:nvGrpSpPr>
        <p:grpSpPr>
          <a:xfrm>
            <a:off x="10133640" y="2486160"/>
            <a:ext cx="866520" cy="866520"/>
            <a:chOff x="10133640" y="2486160"/>
            <a:chExt cx="866520" cy="866520"/>
          </a:xfrm>
        </p:grpSpPr>
        <p:sp>
          <p:nvSpPr>
            <p:cNvPr id="404" name="Google Shape;526;p26"/>
            <p:cNvSpPr/>
            <p:nvPr/>
          </p:nvSpPr>
          <p:spPr>
            <a:xfrm>
              <a:off x="10133640" y="2486160"/>
              <a:ext cx="866520" cy="866520"/>
            </a:xfrm>
            <a:custGeom>
              <a:avLst/>
              <a:gdLst>
                <a:gd name="textAreaLeft" fmla="*/ 0 w 866520"/>
                <a:gd name="textAreaRight" fmla="*/ 868320 w 866520"/>
                <a:gd name="textAreaTop" fmla="*/ 0 h 866520"/>
                <a:gd name="textAreaBottom" fmla="*/ 868320 h 866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5" name="Google Shape;527;p26"/>
            <p:cNvSpPr/>
            <p:nvPr/>
          </p:nvSpPr>
          <p:spPr>
            <a:xfrm>
              <a:off x="10215000" y="2516760"/>
              <a:ext cx="703800" cy="75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6" name="Google Shape;528;p26"/>
          <p:cNvGrpSpPr/>
          <p:nvPr/>
        </p:nvGrpSpPr>
        <p:grpSpPr>
          <a:xfrm>
            <a:off x="13393080" y="7652520"/>
            <a:ext cx="3283560" cy="1374840"/>
            <a:chOff x="13393080" y="7652520"/>
            <a:chExt cx="3283560" cy="1374840"/>
          </a:xfrm>
        </p:grpSpPr>
        <p:sp>
          <p:nvSpPr>
            <p:cNvPr id="407" name="Google Shape;529;p26"/>
            <p:cNvSpPr/>
            <p:nvPr/>
          </p:nvSpPr>
          <p:spPr>
            <a:xfrm>
              <a:off x="13393080" y="861444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8" name="Google Shape;530;p26"/>
            <p:cNvSpPr/>
            <p:nvPr/>
          </p:nvSpPr>
          <p:spPr>
            <a:xfrm>
              <a:off x="13393080" y="813348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9" name="Google Shape;531;p26"/>
            <p:cNvSpPr/>
            <p:nvPr/>
          </p:nvSpPr>
          <p:spPr>
            <a:xfrm>
              <a:off x="13393080" y="7652520"/>
              <a:ext cx="3283560" cy="412920"/>
            </a:xfrm>
            <a:custGeom>
              <a:avLst/>
              <a:gdLst>
                <a:gd name="textAreaLeft" fmla="*/ 0 w 3283560"/>
                <a:gd name="textAreaRight" fmla="*/ 3285360 w 3283560"/>
                <a:gd name="textAreaTop" fmla="*/ 0 h 412920"/>
                <a:gd name="textAreaBottom" fmla="*/ 414720 h 412920"/>
              </a:gdLst>
              <a:ahLst/>
              <a:rect l="textAreaLeft" t="textAreaTop" r="textAreaRight" b="textAreaBottom"/>
              <a:pathLst>
                <a:path w="4380549" h="553044">
                  <a:moveTo>
                    <a:pt x="0" y="0"/>
                  </a:moveTo>
                  <a:lnTo>
                    <a:pt x="4380549" y="0"/>
                  </a:lnTo>
                  <a:lnTo>
                    <a:pt x="4380549" y="553044"/>
                  </a:lnTo>
                  <a:lnTo>
                    <a:pt x="0" y="5530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push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Rounded Rectangle 1"/>
          <p:cNvSpPr/>
          <p:nvPr/>
        </p:nvSpPr>
        <p:spPr>
          <a:xfrm>
            <a:off x="1064520" y="1143000"/>
            <a:ext cx="3507480" cy="8229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Демонстрация: Оценка рифм (RPST)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1" name="" descr=""/>
          <p:cNvPicPr/>
          <p:nvPr/>
        </p:nvPicPr>
        <p:blipFill>
          <a:blip r:embed="rId1"/>
          <a:stretch/>
        </p:blipFill>
        <p:spPr>
          <a:xfrm>
            <a:off x="5509800" y="-31320"/>
            <a:ext cx="12801600" cy="1031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ounded Rectangle 8"/>
          <p:cNvSpPr/>
          <p:nvPr/>
        </p:nvSpPr>
        <p:spPr>
          <a:xfrm>
            <a:off x="1064520" y="1143000"/>
            <a:ext cx="3507480" cy="8229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Демонстрация: Оценка рифм (мой алгоритм)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3" name="" descr=""/>
          <p:cNvPicPr/>
          <p:nvPr/>
        </p:nvPicPr>
        <p:blipFill>
          <a:blip r:embed="rId1"/>
          <a:stretch/>
        </p:blipFill>
        <p:spPr>
          <a:xfrm>
            <a:off x="5525280" y="0"/>
            <a:ext cx="12762720" cy="1028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ounded Rectangle 2"/>
          <p:cNvSpPr/>
          <p:nvPr/>
        </p:nvSpPr>
        <p:spPr>
          <a:xfrm>
            <a:off x="1064520" y="1143000"/>
            <a:ext cx="3507480" cy="8229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Демонстрация: Генерация стиха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5" name="" descr=""/>
          <p:cNvPicPr/>
          <p:nvPr/>
        </p:nvPicPr>
        <p:blipFill>
          <a:blip r:embed="rId1"/>
          <a:stretch/>
        </p:blipFill>
        <p:spPr>
          <a:xfrm>
            <a:off x="5486400" y="-31320"/>
            <a:ext cx="12801600" cy="1031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ounded Rectangle 9"/>
          <p:cNvSpPr/>
          <p:nvPr/>
        </p:nvSpPr>
        <p:spPr>
          <a:xfrm>
            <a:off x="1064520" y="1143000"/>
            <a:ext cx="3507480" cy="8229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Демонстрация: Улучшение определения рифмовки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7" name="" descr=""/>
          <p:cNvPicPr/>
          <p:nvPr/>
        </p:nvPicPr>
        <p:blipFill>
          <a:blip r:embed="rId1"/>
          <a:stretch/>
        </p:blipFill>
        <p:spPr>
          <a:xfrm>
            <a:off x="5486400" y="-31320"/>
            <a:ext cx="12801600" cy="1031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ounded Rectangle 10"/>
          <p:cNvSpPr/>
          <p:nvPr/>
        </p:nvSpPr>
        <p:spPr>
          <a:xfrm>
            <a:off x="-1143000" y="-1143000"/>
            <a:ext cx="22402800" cy="121158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Rounded Rectangle 2"/>
          <p:cNvSpPr/>
          <p:nvPr/>
        </p:nvSpPr>
        <p:spPr>
          <a:xfrm>
            <a:off x="868680" y="914400"/>
            <a:ext cx="3931920" cy="82296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Демонстрация: тёмная тема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0" name="" descr=""/>
          <p:cNvPicPr/>
          <p:nvPr/>
        </p:nvPicPr>
        <p:blipFill>
          <a:blip r:embed="rId1"/>
          <a:stretch/>
        </p:blipFill>
        <p:spPr>
          <a:xfrm>
            <a:off x="5715000" y="381240"/>
            <a:ext cx="11439000" cy="921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ounded Rectangle 2"/>
          <p:cNvSpPr/>
          <p:nvPr/>
        </p:nvSpPr>
        <p:spPr>
          <a:xfrm>
            <a:off x="1097280" y="457200"/>
            <a:ext cx="16093080" cy="8884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</a:rPr>
              <a:t>Демонстрация: настройки (провайдер и ключ)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2" name="Picture 3" descr="04_settings.png"/>
          <p:cNvPicPr/>
          <p:nvPr/>
        </p:nvPicPr>
        <p:blipFill>
          <a:blip r:embed="rId1"/>
          <a:stretch/>
        </p:blipFill>
        <p:spPr>
          <a:xfrm>
            <a:off x="4841280" y="1851840"/>
            <a:ext cx="8605080" cy="761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575;p28" descr=""/>
          <p:cNvPicPr/>
          <p:nvPr/>
        </p:nvPicPr>
        <p:blipFill>
          <a:blip r:embed="rId1"/>
          <a:srcRect l="0" t="15719" r="0" b="0"/>
          <a:stretch/>
        </p:blipFill>
        <p:spPr>
          <a:xfrm>
            <a:off x="0" y="0"/>
            <a:ext cx="18286200" cy="10285200"/>
          </a:xfrm>
          <a:prstGeom prst="rect">
            <a:avLst/>
          </a:prstGeom>
          <a:ln w="0">
            <a:noFill/>
          </a:ln>
        </p:spPr>
      </p:pic>
      <p:grpSp>
        <p:nvGrpSpPr>
          <p:cNvPr id="424" name="Google Shape;576;p28"/>
          <p:cNvGrpSpPr/>
          <p:nvPr/>
        </p:nvGrpSpPr>
        <p:grpSpPr>
          <a:xfrm>
            <a:off x="3886200" y="134280"/>
            <a:ext cx="10743480" cy="3979800"/>
            <a:chOff x="3886200" y="134280"/>
            <a:chExt cx="10743480" cy="3979800"/>
          </a:xfrm>
        </p:grpSpPr>
        <p:sp>
          <p:nvSpPr>
            <p:cNvPr id="425" name="Google Shape;577;p28"/>
            <p:cNvSpPr/>
            <p:nvPr/>
          </p:nvSpPr>
          <p:spPr>
            <a:xfrm>
              <a:off x="3886200" y="860040"/>
              <a:ext cx="10743480" cy="3254040"/>
            </a:xfrm>
            <a:custGeom>
              <a:avLst/>
              <a:gdLst>
                <a:gd name="textAreaLeft" fmla="*/ 0 w 10743480"/>
                <a:gd name="textAreaRight" fmla="*/ 10744920 w 10743480"/>
                <a:gd name="textAreaTop" fmla="*/ 0 h 3254040"/>
                <a:gd name="textAreaBottom" fmla="*/ 3256560 h 3254040"/>
              </a:gdLst>
              <a:ahLst/>
              <a:rect l="textAreaLeft" t="textAreaTop" r="textAreaRight" b="textAreaBottom"/>
              <a:pathLst>
                <a:path w="2392440" h="213918">
                  <a:moveTo>
                    <a:pt x="0" y="0"/>
                  </a:moveTo>
                  <a:lnTo>
                    <a:pt x="2392440" y="0"/>
                  </a:lnTo>
                  <a:lnTo>
                    <a:pt x="2392440" y="213918"/>
                  </a:lnTo>
                  <a:lnTo>
                    <a:pt x="0" y="213918"/>
                  </a:lnTo>
                  <a:close/>
                </a:path>
              </a:pathLst>
            </a:custGeom>
            <a:solidFill>
              <a:srgbClr val="ffc418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6" name="Google Shape;578;p28"/>
            <p:cNvSpPr/>
            <p:nvPr/>
          </p:nvSpPr>
          <p:spPr>
            <a:xfrm>
              <a:off x="3886200" y="134280"/>
              <a:ext cx="10743480" cy="397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7" name="Google Shape;579;p28"/>
          <p:cNvSpPr/>
          <p:nvPr/>
        </p:nvSpPr>
        <p:spPr>
          <a:xfrm>
            <a:off x="4074840" y="865440"/>
            <a:ext cx="10136880" cy="29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Lato"/>
                <a:ea typeface="Lato"/>
              </a:rPr>
              <a:t>Результаты: прототип готов — генерация, два детектора рифмы и удобный UI с сессиями. Новизна — алгоритм Юкавы и фонетическая векторизация. Дальше — дообучение модели и редактор стихов.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8" name="Google Shape;580;p28"/>
          <p:cNvGrpSpPr/>
          <p:nvPr/>
        </p:nvGrpSpPr>
        <p:grpSpPr>
          <a:xfrm>
            <a:off x="15436080" y="1360440"/>
            <a:ext cx="2633400" cy="1102680"/>
            <a:chOff x="15436080" y="1360440"/>
            <a:chExt cx="2633400" cy="1102680"/>
          </a:xfrm>
        </p:grpSpPr>
        <p:sp>
          <p:nvSpPr>
            <p:cNvPr id="429" name="Google Shape;581;p28"/>
            <p:cNvSpPr/>
            <p:nvPr/>
          </p:nvSpPr>
          <p:spPr>
            <a:xfrm>
              <a:off x="15436080" y="2132280"/>
              <a:ext cx="2633400" cy="330840"/>
            </a:xfrm>
            <a:custGeom>
              <a:avLst/>
              <a:gdLst>
                <a:gd name="textAreaLeft" fmla="*/ 0 w 2633400"/>
                <a:gd name="textAreaRight" fmla="*/ 2635200 w 2633400"/>
                <a:gd name="textAreaTop" fmla="*/ 0 h 330840"/>
                <a:gd name="textAreaBottom" fmla="*/ 332640 h 330840"/>
              </a:gdLst>
              <a:ahLst/>
              <a:rect l="textAreaLeft" t="textAreaTop" r="textAreaRight" b="textAreaBottom"/>
              <a:pathLst>
                <a:path w="3513608" h="443593">
                  <a:moveTo>
                    <a:pt x="0" y="0"/>
                  </a:moveTo>
                  <a:lnTo>
                    <a:pt x="3513608" y="0"/>
                  </a:lnTo>
                  <a:lnTo>
                    <a:pt x="3513608" y="443593"/>
                  </a:lnTo>
                  <a:lnTo>
                    <a:pt x="0" y="44359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0" name="Google Shape;582;p28"/>
            <p:cNvSpPr/>
            <p:nvPr/>
          </p:nvSpPr>
          <p:spPr>
            <a:xfrm>
              <a:off x="15436080" y="1746360"/>
              <a:ext cx="2633400" cy="330840"/>
            </a:xfrm>
            <a:custGeom>
              <a:avLst/>
              <a:gdLst>
                <a:gd name="textAreaLeft" fmla="*/ 0 w 2633400"/>
                <a:gd name="textAreaRight" fmla="*/ 2635200 w 2633400"/>
                <a:gd name="textAreaTop" fmla="*/ 0 h 330840"/>
                <a:gd name="textAreaBottom" fmla="*/ 332640 h 330840"/>
              </a:gdLst>
              <a:ahLst/>
              <a:rect l="textAreaLeft" t="textAreaTop" r="textAreaRight" b="textAreaBottom"/>
              <a:pathLst>
                <a:path w="3513608" h="443593">
                  <a:moveTo>
                    <a:pt x="0" y="0"/>
                  </a:moveTo>
                  <a:lnTo>
                    <a:pt x="3513608" y="0"/>
                  </a:lnTo>
                  <a:lnTo>
                    <a:pt x="3513608" y="443593"/>
                  </a:lnTo>
                  <a:lnTo>
                    <a:pt x="0" y="44359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1" name="Google Shape;583;p28"/>
            <p:cNvSpPr/>
            <p:nvPr/>
          </p:nvSpPr>
          <p:spPr>
            <a:xfrm>
              <a:off x="15436080" y="1360440"/>
              <a:ext cx="2633400" cy="330840"/>
            </a:xfrm>
            <a:custGeom>
              <a:avLst/>
              <a:gdLst>
                <a:gd name="textAreaLeft" fmla="*/ 0 w 2633400"/>
                <a:gd name="textAreaRight" fmla="*/ 2635200 w 2633400"/>
                <a:gd name="textAreaTop" fmla="*/ 0 h 330840"/>
                <a:gd name="textAreaBottom" fmla="*/ 332640 h 330840"/>
              </a:gdLst>
              <a:ahLst/>
              <a:rect l="textAreaLeft" t="textAreaTop" r="textAreaRight" b="textAreaBottom"/>
              <a:pathLst>
                <a:path w="3513608" h="443593">
                  <a:moveTo>
                    <a:pt x="0" y="0"/>
                  </a:moveTo>
                  <a:lnTo>
                    <a:pt x="3513608" y="0"/>
                  </a:lnTo>
                  <a:lnTo>
                    <a:pt x="3513608" y="443593"/>
                  </a:lnTo>
                  <a:lnTo>
                    <a:pt x="0" y="44359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32" name="" descr=""/>
          <p:cNvPicPr/>
          <p:nvPr/>
        </p:nvPicPr>
        <p:blipFill>
          <a:blip r:embed="rId5"/>
          <a:stretch/>
        </p:blipFill>
        <p:spPr>
          <a:xfrm rot="25800">
            <a:off x="11443680" y="5113800"/>
            <a:ext cx="3423600" cy="2514600"/>
          </a:xfrm>
          <a:prstGeom prst="rect">
            <a:avLst/>
          </a:prstGeom>
          <a:ln w="0">
            <a:noFill/>
          </a:ln>
        </p:spPr>
      </p:pic>
      <p:pic>
        <p:nvPicPr>
          <p:cNvPr id="433" name="" descr=""/>
          <p:cNvPicPr/>
          <p:nvPr/>
        </p:nvPicPr>
        <p:blipFill>
          <a:blip r:embed="rId6"/>
          <a:stretch/>
        </p:blipFill>
        <p:spPr>
          <a:xfrm rot="10800">
            <a:off x="10440720" y="5103000"/>
            <a:ext cx="3427200" cy="2514600"/>
          </a:xfrm>
          <a:prstGeom prst="rect">
            <a:avLst/>
          </a:prstGeom>
          <a:ln w="0">
            <a:noFill/>
          </a:ln>
        </p:spPr>
      </p:pic>
    </p:spTree>
  </p:cSld>
  <p:transition>
    <p:push dir="r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35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698;p32"/>
          <p:cNvGrpSpPr/>
          <p:nvPr/>
        </p:nvGrpSpPr>
        <p:grpSpPr>
          <a:xfrm>
            <a:off x="12427200" y="-1531440"/>
            <a:ext cx="7018200" cy="7018200"/>
            <a:chOff x="12427200" y="-1531440"/>
            <a:chExt cx="7018200" cy="7018200"/>
          </a:xfrm>
        </p:grpSpPr>
        <p:sp>
          <p:nvSpPr>
            <p:cNvPr id="435" name="Google Shape;699;p32"/>
            <p:cNvSpPr/>
            <p:nvPr/>
          </p:nvSpPr>
          <p:spPr>
            <a:xfrm>
              <a:off x="12427200" y="-1531440"/>
              <a:ext cx="7018200" cy="7018200"/>
            </a:xfrm>
            <a:custGeom>
              <a:avLst/>
              <a:gdLst>
                <a:gd name="textAreaLeft" fmla="*/ 0 w 7018200"/>
                <a:gd name="textAreaRight" fmla="*/ 7020000 w 7018200"/>
                <a:gd name="textAreaTop" fmla="*/ 0 h 7018200"/>
                <a:gd name="textAreaBottom" fmla="*/ 7020000 h 701820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8c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6" name="Google Shape;700;p32"/>
            <p:cNvSpPr/>
            <p:nvPr/>
          </p:nvSpPr>
          <p:spPr>
            <a:xfrm>
              <a:off x="13085280" y="-1284480"/>
              <a:ext cx="5701680" cy="611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37" name="Google Shape;701;p32"/>
          <p:cNvSpPr/>
          <p:nvPr/>
        </p:nvSpPr>
        <p:spPr>
          <a:xfrm>
            <a:off x="-2333160" y="4780080"/>
            <a:ext cx="4664880" cy="5898600"/>
          </a:xfrm>
          <a:custGeom>
            <a:avLst/>
            <a:gdLst>
              <a:gd name="textAreaLeft" fmla="*/ 0 w 4664880"/>
              <a:gd name="textAreaRight" fmla="*/ 4666680 w 4664880"/>
              <a:gd name="textAreaTop" fmla="*/ 0 h 5898600"/>
              <a:gd name="textAreaBottom" fmla="*/ 5900400 h 5898600"/>
            </a:gdLst>
            <a:ahLst/>
            <a:rect l="textAreaLeft" t="textAreaTop" r="textAreaRight" b="textAreaBottom"/>
            <a:pathLst>
              <a:path w="4666552" h="5900238">
                <a:moveTo>
                  <a:pt x="0" y="0"/>
                </a:moveTo>
                <a:lnTo>
                  <a:pt x="4666552" y="0"/>
                </a:lnTo>
                <a:lnTo>
                  <a:pt x="4666552" y="5900238"/>
                </a:lnTo>
                <a:lnTo>
                  <a:pt x="0" y="59002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8" name="Google Shape;702;p32"/>
          <p:cNvGrpSpPr/>
          <p:nvPr/>
        </p:nvGrpSpPr>
        <p:grpSpPr>
          <a:xfrm>
            <a:off x="-306360" y="2422800"/>
            <a:ext cx="11942640" cy="5305680"/>
            <a:chOff x="-306360" y="2422800"/>
            <a:chExt cx="11942640" cy="5305680"/>
          </a:xfrm>
        </p:grpSpPr>
        <p:sp>
          <p:nvSpPr>
            <p:cNvPr id="439" name="Google Shape;703;p32"/>
            <p:cNvSpPr/>
            <p:nvPr/>
          </p:nvSpPr>
          <p:spPr>
            <a:xfrm>
              <a:off x="-306360" y="2725920"/>
              <a:ext cx="11942640" cy="5002560"/>
            </a:xfrm>
            <a:custGeom>
              <a:avLst/>
              <a:gdLst>
                <a:gd name="textAreaLeft" fmla="*/ 0 w 11942640"/>
                <a:gd name="textAreaRight" fmla="*/ 11944440 w 11942640"/>
                <a:gd name="textAreaTop" fmla="*/ 0 h 5002560"/>
                <a:gd name="textAreaBottom" fmla="*/ 5004360 h 5002560"/>
              </a:gdLst>
              <a:ahLst/>
              <a:rect l="textAreaLeft" t="textAreaTop" r="textAreaRight" b="textAreaBottom"/>
              <a:pathLst>
                <a:path w="1877620" h="786662">
                  <a:moveTo>
                    <a:pt x="0" y="0"/>
                  </a:moveTo>
                  <a:lnTo>
                    <a:pt x="1877620" y="0"/>
                  </a:lnTo>
                  <a:lnTo>
                    <a:pt x="1877620" y="786662"/>
                  </a:lnTo>
                  <a:lnTo>
                    <a:pt x="0" y="786662"/>
                  </a:lnTo>
                  <a:close/>
                </a:path>
              </a:pathLst>
            </a:custGeom>
            <a:solidFill>
              <a:srgbClr val="ffffff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0" name="Google Shape;704;p32"/>
            <p:cNvSpPr/>
            <p:nvPr/>
          </p:nvSpPr>
          <p:spPr>
            <a:xfrm>
              <a:off x="-306360" y="2422800"/>
              <a:ext cx="11942640" cy="530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41" name="Google Shape;705;p32"/>
          <p:cNvSpPr/>
          <p:nvPr/>
        </p:nvSpPr>
        <p:spPr>
          <a:xfrm rot="16200000">
            <a:off x="8128080" y="-1529640"/>
            <a:ext cx="7018200" cy="7018200"/>
          </a:xfrm>
          <a:custGeom>
            <a:avLst/>
            <a:gdLst>
              <a:gd name="textAreaLeft" fmla="*/ 0 w 7018200"/>
              <a:gd name="textAreaRight" fmla="*/ 7020000 w 7018200"/>
              <a:gd name="textAreaTop" fmla="*/ 0 h 7018200"/>
              <a:gd name="textAreaBottom" fmla="*/ 7020000 h 7018200"/>
            </a:gdLst>
            <a:ahLst/>
            <a:rect l="textAreaLeft" t="textAreaTop" r="textAreaRight" b="textAreaBottom"/>
            <a:pathLst>
              <a:path w="7019871" h="7019871">
                <a:moveTo>
                  <a:pt x="0" y="0"/>
                </a:moveTo>
                <a:lnTo>
                  <a:pt x="7019871" y="0"/>
                </a:lnTo>
                <a:lnTo>
                  <a:pt x="7019871" y="7019871"/>
                </a:lnTo>
                <a:lnTo>
                  <a:pt x="0" y="70198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706;p32"/>
          <p:cNvSpPr/>
          <p:nvPr/>
        </p:nvSpPr>
        <p:spPr>
          <a:xfrm>
            <a:off x="386640" y="3109320"/>
            <a:ext cx="1039176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Спасибо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Bungee"/>
                <a:ea typeface="Bungee"/>
              </a:rPr>
              <a:t>за внимание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3" name="Google Shape;709;p32"/>
          <p:cNvGrpSpPr/>
          <p:nvPr/>
        </p:nvGrpSpPr>
        <p:grpSpPr>
          <a:xfrm>
            <a:off x="-306360" y="7865280"/>
            <a:ext cx="11942640" cy="1559880"/>
            <a:chOff x="-306360" y="7865280"/>
            <a:chExt cx="11942640" cy="1559880"/>
          </a:xfrm>
        </p:grpSpPr>
        <p:sp>
          <p:nvSpPr>
            <p:cNvPr id="444" name="Google Shape;710;p32"/>
            <p:cNvSpPr/>
            <p:nvPr/>
          </p:nvSpPr>
          <p:spPr>
            <a:xfrm>
              <a:off x="-306360" y="8168400"/>
              <a:ext cx="11942640" cy="1256760"/>
            </a:xfrm>
            <a:custGeom>
              <a:avLst/>
              <a:gdLst>
                <a:gd name="textAreaLeft" fmla="*/ 0 w 11942640"/>
                <a:gd name="textAreaRight" fmla="*/ 11944440 w 11942640"/>
                <a:gd name="textAreaTop" fmla="*/ 0 h 1256760"/>
                <a:gd name="textAreaBottom" fmla="*/ 1258560 h 1256760"/>
              </a:gdLst>
              <a:ahLst/>
              <a:rect l="textAreaLeft" t="textAreaTop" r="textAreaRight" b="textAreaBottom"/>
              <a:pathLst>
                <a:path w="1877620" h="197832">
                  <a:moveTo>
                    <a:pt x="0" y="0"/>
                  </a:moveTo>
                  <a:lnTo>
                    <a:pt x="1877620" y="0"/>
                  </a:lnTo>
                  <a:lnTo>
                    <a:pt x="1877620" y="197832"/>
                  </a:lnTo>
                  <a:lnTo>
                    <a:pt x="0" y="197832"/>
                  </a:lnTo>
                  <a:close/>
                </a:path>
              </a:pathLst>
            </a:custGeom>
            <a:solidFill>
              <a:srgbClr val="ffc418"/>
            </a:solidFill>
            <a:ln cap="sq" w="476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5" name="Google Shape;711;p32"/>
            <p:cNvSpPr/>
            <p:nvPr/>
          </p:nvSpPr>
          <p:spPr>
            <a:xfrm>
              <a:off x="-306360" y="7865280"/>
              <a:ext cx="11942640" cy="155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46" name="Google Shape;712;p32"/>
          <p:cNvSpPr/>
          <p:nvPr/>
        </p:nvSpPr>
        <p:spPr>
          <a:xfrm>
            <a:off x="386640" y="8509680"/>
            <a:ext cx="8070840" cy="6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Bungee"/>
                <a:ea typeface="Bungee"/>
              </a:rPr>
              <a:t>Готов ответить на ваши вопросы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Google Shape;713;p32"/>
          <p:cNvSpPr/>
          <p:nvPr/>
        </p:nvSpPr>
        <p:spPr>
          <a:xfrm>
            <a:off x="13557240" y="7187040"/>
            <a:ext cx="7402320" cy="1411560"/>
          </a:xfrm>
          <a:custGeom>
            <a:avLst/>
            <a:gdLst>
              <a:gd name="textAreaLeft" fmla="*/ 0 w 7402320"/>
              <a:gd name="textAreaRight" fmla="*/ 7404120 w 7402320"/>
              <a:gd name="textAreaTop" fmla="*/ 0 h 1411560"/>
              <a:gd name="textAreaBottom" fmla="*/ 1413360 h 1411560"/>
            </a:gdLst>
            <a:ahLst/>
            <a:rect l="textAreaLeft" t="textAreaTop" r="textAreaRight" b="textAreaBottom"/>
            <a:pathLst>
              <a:path w="7404134" h="1413516">
                <a:moveTo>
                  <a:pt x="0" y="0"/>
                </a:moveTo>
                <a:lnTo>
                  <a:pt x="7404134" y="0"/>
                </a:lnTo>
                <a:lnTo>
                  <a:pt x="7404134" y="1413516"/>
                </a:lnTo>
                <a:lnTo>
                  <a:pt x="0" y="1413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714;p32"/>
          <p:cNvSpPr/>
          <p:nvPr/>
        </p:nvSpPr>
        <p:spPr>
          <a:xfrm>
            <a:off x="13557240" y="5723280"/>
            <a:ext cx="7402320" cy="1411560"/>
          </a:xfrm>
          <a:custGeom>
            <a:avLst/>
            <a:gdLst>
              <a:gd name="textAreaLeft" fmla="*/ 0 w 7402320"/>
              <a:gd name="textAreaRight" fmla="*/ 7404120 w 7402320"/>
              <a:gd name="textAreaTop" fmla="*/ 0 h 1411560"/>
              <a:gd name="textAreaBottom" fmla="*/ 1413360 h 1411560"/>
            </a:gdLst>
            <a:ahLst/>
            <a:rect l="textAreaLeft" t="textAreaTop" r="textAreaRight" b="textAreaBottom"/>
            <a:pathLst>
              <a:path w="7404134" h="1413516">
                <a:moveTo>
                  <a:pt x="0" y="0"/>
                </a:moveTo>
                <a:lnTo>
                  <a:pt x="7404134" y="0"/>
                </a:lnTo>
                <a:lnTo>
                  <a:pt x="7404134" y="1413516"/>
                </a:lnTo>
                <a:lnTo>
                  <a:pt x="0" y="14135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Google Shape;715;p32"/>
          <p:cNvSpPr/>
          <p:nvPr/>
        </p:nvSpPr>
        <p:spPr>
          <a:xfrm>
            <a:off x="13557240" y="4259880"/>
            <a:ext cx="7402320" cy="1411560"/>
          </a:xfrm>
          <a:custGeom>
            <a:avLst/>
            <a:gdLst>
              <a:gd name="textAreaLeft" fmla="*/ 0 w 7402320"/>
              <a:gd name="textAreaRight" fmla="*/ 7404120 w 7402320"/>
              <a:gd name="textAreaTop" fmla="*/ 0 h 1411560"/>
              <a:gd name="textAreaBottom" fmla="*/ 1413360 h 1411560"/>
            </a:gdLst>
            <a:ahLst/>
            <a:rect l="textAreaLeft" t="textAreaTop" r="textAreaRight" b="textAreaBottom"/>
            <a:pathLst>
              <a:path w="7404134" h="1413516">
                <a:moveTo>
                  <a:pt x="0" y="0"/>
                </a:moveTo>
                <a:lnTo>
                  <a:pt x="7404134" y="0"/>
                </a:lnTo>
                <a:lnTo>
                  <a:pt x="7404134" y="1413517"/>
                </a:lnTo>
                <a:lnTo>
                  <a:pt x="0" y="141351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2026-06-16T04:26:52Z</cp:lastPrinted>
  <dcterms:modified xsi:type="dcterms:W3CDTF">2026-06-16T04:37:06Z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